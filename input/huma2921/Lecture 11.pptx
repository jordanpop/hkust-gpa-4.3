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30"/>
  </p:notesMasterIdLst>
  <p:handoutMasterIdLst>
    <p:handoutMasterId r:id="rId31"/>
  </p:handoutMasterIdLst>
  <p:sldIdLst>
    <p:sldId id="256" r:id="rId2"/>
    <p:sldId id="279" r:id="rId3"/>
    <p:sldId id="280" r:id="rId4"/>
    <p:sldId id="257" r:id="rId5"/>
    <p:sldId id="263" r:id="rId6"/>
    <p:sldId id="281" r:id="rId7"/>
    <p:sldId id="283" r:id="rId8"/>
    <p:sldId id="284" r:id="rId9"/>
    <p:sldId id="306" r:id="rId10"/>
    <p:sldId id="269" r:id="rId11"/>
    <p:sldId id="267" r:id="rId12"/>
    <p:sldId id="276" r:id="rId13"/>
    <p:sldId id="285" r:id="rId14"/>
    <p:sldId id="278" r:id="rId15"/>
    <p:sldId id="292" r:id="rId16"/>
    <p:sldId id="293" r:id="rId17"/>
    <p:sldId id="307" r:id="rId18"/>
    <p:sldId id="308" r:id="rId19"/>
    <p:sldId id="297" r:id="rId20"/>
    <p:sldId id="298" r:id="rId21"/>
    <p:sldId id="299" r:id="rId22"/>
    <p:sldId id="300" r:id="rId23"/>
    <p:sldId id="301" r:id="rId24"/>
    <p:sldId id="302" r:id="rId25"/>
    <p:sldId id="303" r:id="rId26"/>
    <p:sldId id="304" r:id="rId27"/>
    <p:sldId id="309" r:id="rId28"/>
    <p:sldId id="310" r:id="rId29"/>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E57A53C-1E7D-40C7-8DDA-0203C8F1DF9A}">
          <p14:sldIdLst>
            <p14:sldId id="256"/>
            <p14:sldId id="279"/>
            <p14:sldId id="280"/>
            <p14:sldId id="257"/>
            <p14:sldId id="263"/>
            <p14:sldId id="281"/>
            <p14:sldId id="283"/>
            <p14:sldId id="284"/>
            <p14:sldId id="306"/>
            <p14:sldId id="269"/>
            <p14:sldId id="267"/>
            <p14:sldId id="276"/>
            <p14:sldId id="285"/>
            <p14:sldId id="278"/>
            <p14:sldId id="292"/>
            <p14:sldId id="293"/>
            <p14:sldId id="307"/>
            <p14:sldId id="308"/>
            <p14:sldId id="297"/>
            <p14:sldId id="298"/>
            <p14:sldId id="299"/>
            <p14:sldId id="300"/>
            <p14:sldId id="301"/>
            <p14:sldId id="302"/>
            <p14:sldId id="303"/>
            <p14:sldId id="304"/>
            <p14:sldId id="309"/>
            <p14:sldId id="31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65953" autoAdjust="0"/>
  </p:normalViewPr>
  <p:slideViewPr>
    <p:cSldViewPr snapToGrid="0">
      <p:cViewPr varScale="1">
        <p:scale>
          <a:sx n="56" d="100"/>
          <a:sy n="56" d="100"/>
        </p:scale>
        <p:origin x="48" y="148"/>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lato Tse" userId="7e9150dee13f625a" providerId="LiveId" clId="{53CA260B-C2E1-408F-8FE4-54A315D48C33}"/>
    <pc:docChg chg="undo redo custSel modSld delSection">
      <pc:chgData name="Plato Tse" userId="7e9150dee13f625a" providerId="LiveId" clId="{53CA260B-C2E1-408F-8FE4-54A315D48C33}" dt="2026-05-02T10:35:53.339" v="1860" actId="114"/>
      <pc:docMkLst>
        <pc:docMk/>
      </pc:docMkLst>
      <pc:sldChg chg="modSp mod">
        <pc:chgData name="Plato Tse" userId="7e9150dee13f625a" providerId="LiveId" clId="{53CA260B-C2E1-408F-8FE4-54A315D48C33}" dt="2026-05-02T10:08:17.765" v="954" actId="20577"/>
        <pc:sldMkLst>
          <pc:docMk/>
          <pc:sldMk cId="2394598200" sldId="257"/>
        </pc:sldMkLst>
        <pc:spChg chg="mod">
          <ac:chgData name="Plato Tse" userId="7e9150dee13f625a" providerId="LiveId" clId="{53CA260B-C2E1-408F-8FE4-54A315D48C33}" dt="2026-05-02T10:04:29.524" v="753" actId="404"/>
          <ac:spMkLst>
            <pc:docMk/>
            <pc:sldMk cId="2394598200" sldId="257"/>
            <ac:spMk id="4" creationId="{E98DCA46-603B-4178-8707-30E192CE6B8D}"/>
          </ac:spMkLst>
        </pc:spChg>
        <pc:spChg chg="mod">
          <ac:chgData name="Plato Tse" userId="7e9150dee13f625a" providerId="LiveId" clId="{53CA260B-C2E1-408F-8FE4-54A315D48C33}" dt="2026-05-02T10:08:17.765" v="954" actId="20577"/>
          <ac:spMkLst>
            <pc:docMk/>
            <pc:sldMk cId="2394598200" sldId="257"/>
            <ac:spMk id="8" creationId="{5FC6C278-4035-446A-A94B-030E792FDDF5}"/>
          </ac:spMkLst>
        </pc:spChg>
      </pc:sldChg>
      <pc:sldChg chg="modSp mod">
        <pc:chgData name="Plato Tse" userId="7e9150dee13f625a" providerId="LiveId" clId="{53CA260B-C2E1-408F-8FE4-54A315D48C33}" dt="2026-05-02T10:19:17.417" v="1251" actId="20577"/>
        <pc:sldMkLst>
          <pc:docMk/>
          <pc:sldMk cId="298975433" sldId="263"/>
        </pc:sldMkLst>
        <pc:spChg chg="mod">
          <ac:chgData name="Plato Tse" userId="7e9150dee13f625a" providerId="LiveId" clId="{53CA260B-C2E1-408F-8FE4-54A315D48C33}" dt="2026-05-02T10:12:38.444" v="992" actId="20577"/>
          <ac:spMkLst>
            <pc:docMk/>
            <pc:sldMk cId="298975433" sldId="263"/>
            <ac:spMk id="2" creationId="{58A97F4D-F280-472F-9307-25B3E6BD88B5}"/>
          </ac:spMkLst>
        </pc:spChg>
        <pc:spChg chg="mod">
          <ac:chgData name="Plato Tse" userId="7e9150dee13f625a" providerId="LiveId" clId="{53CA260B-C2E1-408F-8FE4-54A315D48C33}" dt="2026-05-02T10:19:17.417" v="1251" actId="20577"/>
          <ac:spMkLst>
            <pc:docMk/>
            <pc:sldMk cId="298975433" sldId="263"/>
            <ac:spMk id="13" creationId="{B079FE37-E63F-6B83-3B38-614E7772BF5D}"/>
          </ac:spMkLst>
        </pc:spChg>
      </pc:sldChg>
      <pc:sldChg chg="modSp mod">
        <pc:chgData name="Plato Tse" userId="7e9150dee13f625a" providerId="LiveId" clId="{53CA260B-C2E1-408F-8FE4-54A315D48C33}" dt="2026-05-02T10:04:10.558" v="748" actId="20577"/>
        <pc:sldMkLst>
          <pc:docMk/>
          <pc:sldMk cId="3974841653" sldId="279"/>
        </pc:sldMkLst>
        <pc:spChg chg="mod">
          <ac:chgData name="Plato Tse" userId="7e9150dee13f625a" providerId="LiveId" clId="{53CA260B-C2E1-408F-8FE4-54A315D48C33}" dt="2026-05-02T10:04:10.558" v="748" actId="20577"/>
          <ac:spMkLst>
            <pc:docMk/>
            <pc:sldMk cId="3974841653" sldId="279"/>
            <ac:spMk id="4" creationId="{F8065B57-247B-FEF7-35BC-F85D1F59EC80}"/>
          </ac:spMkLst>
        </pc:spChg>
        <pc:spChg chg="mod">
          <ac:chgData name="Plato Tse" userId="7e9150dee13f625a" providerId="LiveId" clId="{53CA260B-C2E1-408F-8FE4-54A315D48C33}" dt="2026-05-02T09:58:23.303" v="466" actId="20577"/>
          <ac:spMkLst>
            <pc:docMk/>
            <pc:sldMk cId="3974841653" sldId="279"/>
            <ac:spMk id="8" creationId="{685B037A-5AD3-86F6-5942-22B3F7E933EF}"/>
          </ac:spMkLst>
        </pc:spChg>
      </pc:sldChg>
      <pc:sldChg chg="modSp mod">
        <pc:chgData name="Plato Tse" userId="7e9150dee13f625a" providerId="LiveId" clId="{53CA260B-C2E1-408F-8FE4-54A315D48C33}" dt="2026-05-02T10:02:55.840" v="679" actId="20577"/>
        <pc:sldMkLst>
          <pc:docMk/>
          <pc:sldMk cId="1270780623" sldId="280"/>
        </pc:sldMkLst>
        <pc:spChg chg="mod">
          <ac:chgData name="Plato Tse" userId="7e9150dee13f625a" providerId="LiveId" clId="{53CA260B-C2E1-408F-8FE4-54A315D48C33}" dt="2026-05-02T09:58:50.694" v="489" actId="20577"/>
          <ac:spMkLst>
            <pc:docMk/>
            <pc:sldMk cId="1270780623" sldId="280"/>
            <ac:spMk id="2" creationId="{1729CFFB-2C33-F99E-4D4B-B23ADBF5AB11}"/>
          </ac:spMkLst>
        </pc:spChg>
        <pc:spChg chg="mod">
          <ac:chgData name="Plato Tse" userId="7e9150dee13f625a" providerId="LiveId" clId="{53CA260B-C2E1-408F-8FE4-54A315D48C33}" dt="2026-05-02T10:02:55.840" v="679" actId="20577"/>
          <ac:spMkLst>
            <pc:docMk/>
            <pc:sldMk cId="1270780623" sldId="280"/>
            <ac:spMk id="13" creationId="{B5C3795E-6FC3-81C9-9A90-042DF215BA4B}"/>
          </ac:spMkLst>
        </pc:spChg>
      </pc:sldChg>
      <pc:sldChg chg="modSp mod">
        <pc:chgData name="Plato Tse" userId="7e9150dee13f625a" providerId="LiveId" clId="{53CA260B-C2E1-408F-8FE4-54A315D48C33}" dt="2026-05-02T10:30:07.428" v="1666" actId="20577"/>
        <pc:sldMkLst>
          <pc:docMk/>
          <pc:sldMk cId="4051672732" sldId="281"/>
        </pc:sldMkLst>
        <pc:spChg chg="mod">
          <ac:chgData name="Plato Tse" userId="7e9150dee13f625a" providerId="LiveId" clId="{53CA260B-C2E1-408F-8FE4-54A315D48C33}" dt="2026-05-02T10:20:44.822" v="1276" actId="20577"/>
          <ac:spMkLst>
            <pc:docMk/>
            <pc:sldMk cId="4051672732" sldId="281"/>
            <ac:spMk id="2" creationId="{95D58094-FAFA-0AF5-4688-6E97661AB9E2}"/>
          </ac:spMkLst>
        </pc:spChg>
        <pc:spChg chg="mod">
          <ac:chgData name="Plato Tse" userId="7e9150dee13f625a" providerId="LiveId" clId="{53CA260B-C2E1-408F-8FE4-54A315D48C33}" dt="2026-05-02T10:30:07.428" v="1666" actId="20577"/>
          <ac:spMkLst>
            <pc:docMk/>
            <pc:sldMk cId="4051672732" sldId="281"/>
            <ac:spMk id="23" creationId="{B3924C4A-5D52-2E83-5910-D093650F9298}"/>
          </ac:spMkLst>
        </pc:spChg>
      </pc:sldChg>
      <pc:sldChg chg="modSp mod">
        <pc:chgData name="Plato Tse" userId="7e9150dee13f625a" providerId="LiveId" clId="{53CA260B-C2E1-408F-8FE4-54A315D48C33}" dt="2026-05-02T10:33:27.438" v="1798" actId="114"/>
        <pc:sldMkLst>
          <pc:docMk/>
          <pc:sldMk cId="1263636935" sldId="283"/>
        </pc:sldMkLst>
        <pc:spChg chg="mod">
          <ac:chgData name="Plato Tse" userId="7e9150dee13f625a" providerId="LiveId" clId="{53CA260B-C2E1-408F-8FE4-54A315D48C33}" dt="2026-05-02T10:30:25.043" v="1667"/>
          <ac:spMkLst>
            <pc:docMk/>
            <pc:sldMk cId="1263636935" sldId="283"/>
            <ac:spMk id="2" creationId="{CFC41727-547D-9591-6845-2AD3D67C7337}"/>
          </ac:spMkLst>
        </pc:spChg>
        <pc:spChg chg="mod">
          <ac:chgData name="Plato Tse" userId="7e9150dee13f625a" providerId="LiveId" clId="{53CA260B-C2E1-408F-8FE4-54A315D48C33}" dt="2026-05-02T10:33:27.438" v="1798" actId="114"/>
          <ac:spMkLst>
            <pc:docMk/>
            <pc:sldMk cId="1263636935" sldId="283"/>
            <ac:spMk id="13" creationId="{2D7C1F4E-2200-708A-B8D1-8631A46C318F}"/>
          </ac:spMkLst>
        </pc:spChg>
      </pc:sldChg>
      <pc:sldChg chg="modSp mod">
        <pc:chgData name="Plato Tse" userId="7e9150dee13f625a" providerId="LiveId" clId="{53CA260B-C2E1-408F-8FE4-54A315D48C33}" dt="2026-05-02T10:35:53.339" v="1860" actId="114"/>
        <pc:sldMkLst>
          <pc:docMk/>
          <pc:sldMk cId="2284613377" sldId="284"/>
        </pc:sldMkLst>
        <pc:spChg chg="mod">
          <ac:chgData name="Plato Tse" userId="7e9150dee13f625a" providerId="LiveId" clId="{53CA260B-C2E1-408F-8FE4-54A315D48C33}" dt="2026-05-02T10:34:10.789" v="1811" actId="27636"/>
          <ac:spMkLst>
            <pc:docMk/>
            <pc:sldMk cId="2284613377" sldId="284"/>
            <ac:spMk id="2" creationId="{2D8200BE-D86B-A4A6-DE70-CA6F3D690F37}"/>
          </ac:spMkLst>
        </pc:spChg>
        <pc:spChg chg="mod">
          <ac:chgData name="Plato Tse" userId="7e9150dee13f625a" providerId="LiveId" clId="{53CA260B-C2E1-408F-8FE4-54A315D48C33}" dt="2026-05-02T10:35:53.339" v="1860" actId="114"/>
          <ac:spMkLst>
            <pc:docMk/>
            <pc:sldMk cId="2284613377" sldId="284"/>
            <ac:spMk id="23" creationId="{3CA1E901-2F79-6974-E428-93399DC0DC0E}"/>
          </ac:spMkLst>
        </pc:spChg>
      </pc:sldChg>
    </pc:docChg>
  </pc:docChgLst>
  <pc:docChgLst>
    <pc:chgData name="Plato Tse" userId="7e9150dee13f625a" providerId="LiveId" clId="{789CCF97-127F-46D5-ABA8-A2B9DA226070}"/>
    <pc:docChg chg="undo custSel addSld delSld modSld modSection">
      <pc:chgData name="Plato Tse" userId="7e9150dee13f625a" providerId="LiveId" clId="{789CCF97-127F-46D5-ABA8-A2B9DA226070}" dt="2026-05-05T03:55:25.055" v="3677" actId="47"/>
      <pc:docMkLst>
        <pc:docMk/>
      </pc:docMkLst>
      <pc:sldChg chg="delSp modSp mod">
        <pc:chgData name="Plato Tse" userId="7e9150dee13f625a" providerId="LiveId" clId="{789CCF97-127F-46D5-ABA8-A2B9DA226070}" dt="2026-05-04T15:50:54.370" v="726" actId="20577"/>
        <pc:sldMkLst>
          <pc:docMk/>
          <pc:sldMk cId="3289796151" sldId="267"/>
        </pc:sldMkLst>
        <pc:spChg chg="mod">
          <ac:chgData name="Plato Tse" userId="7e9150dee13f625a" providerId="LiveId" clId="{789CCF97-127F-46D5-ABA8-A2B9DA226070}" dt="2026-05-04T15:19:43.107" v="515" actId="14100"/>
          <ac:spMkLst>
            <pc:docMk/>
            <pc:sldMk cId="3289796151" sldId="267"/>
            <ac:spMk id="2" creationId="{2654DA9A-F01A-481E-A192-F11CA07CCE35}"/>
          </ac:spMkLst>
        </pc:spChg>
        <pc:spChg chg="mod">
          <ac:chgData name="Plato Tse" userId="7e9150dee13f625a" providerId="LiveId" clId="{789CCF97-127F-46D5-ABA8-A2B9DA226070}" dt="2026-05-04T15:50:54.370" v="726" actId="20577"/>
          <ac:spMkLst>
            <pc:docMk/>
            <pc:sldMk cId="3289796151" sldId="267"/>
            <ac:spMk id="41" creationId="{E70AB508-2913-4EE2-5303-4456A2553371}"/>
          </ac:spMkLst>
        </pc:spChg>
        <pc:picChg chg="del">
          <ac:chgData name="Plato Tse" userId="7e9150dee13f625a" providerId="LiveId" clId="{789CCF97-127F-46D5-ABA8-A2B9DA226070}" dt="2026-05-04T15:19:37.335" v="504" actId="478"/>
          <ac:picMkLst>
            <pc:docMk/>
            <pc:sldMk cId="3289796151" sldId="267"/>
            <ac:picMk id="3" creationId="{898F3774-3DFD-44E1-A3FC-A1116CE0D8DB}"/>
          </ac:picMkLst>
        </pc:picChg>
      </pc:sldChg>
      <pc:sldChg chg="modSp mod">
        <pc:chgData name="Plato Tse" userId="7e9150dee13f625a" providerId="LiveId" clId="{789CCF97-127F-46D5-ABA8-A2B9DA226070}" dt="2026-05-04T15:19:17.105" v="503" actId="207"/>
        <pc:sldMkLst>
          <pc:docMk/>
          <pc:sldMk cId="1707474726" sldId="269"/>
        </pc:sldMkLst>
        <pc:spChg chg="mod">
          <ac:chgData name="Plato Tse" userId="7e9150dee13f625a" providerId="LiveId" clId="{789CCF97-127F-46D5-ABA8-A2B9DA226070}" dt="2026-05-04T14:59:54.780" v="490" actId="14100"/>
          <ac:spMkLst>
            <pc:docMk/>
            <pc:sldMk cId="1707474726" sldId="269"/>
            <ac:spMk id="2" creationId="{B9D1F34B-93F5-46C0-9BEC-B1A8D55008B4}"/>
          </ac:spMkLst>
        </pc:spChg>
        <pc:spChg chg="mod">
          <ac:chgData name="Plato Tse" userId="7e9150dee13f625a" providerId="LiveId" clId="{789CCF97-127F-46D5-ABA8-A2B9DA226070}" dt="2026-05-04T15:19:17.105" v="503" actId="207"/>
          <ac:spMkLst>
            <pc:docMk/>
            <pc:sldMk cId="1707474726" sldId="269"/>
            <ac:spMk id="23" creationId="{764A365B-4C2F-2351-93F8-FD34668116E1}"/>
          </ac:spMkLst>
        </pc:spChg>
      </pc:sldChg>
      <pc:sldChg chg="modSp mod">
        <pc:chgData name="Plato Tse" userId="7e9150dee13f625a" providerId="LiveId" clId="{789CCF97-127F-46D5-ABA8-A2B9DA226070}" dt="2026-05-04T15:57:24.525" v="761" actId="2711"/>
        <pc:sldMkLst>
          <pc:docMk/>
          <pc:sldMk cId="2195168494" sldId="276"/>
        </pc:sldMkLst>
        <pc:spChg chg="mod">
          <ac:chgData name="Plato Tse" userId="7e9150dee13f625a" providerId="LiveId" clId="{789CCF97-127F-46D5-ABA8-A2B9DA226070}" dt="2026-05-04T15:51:28.893" v="737" actId="20577"/>
          <ac:spMkLst>
            <pc:docMk/>
            <pc:sldMk cId="2195168494" sldId="276"/>
            <ac:spMk id="2" creationId="{E72908A0-65FF-2705-D664-4522AA4546BE}"/>
          </ac:spMkLst>
        </pc:spChg>
        <pc:spChg chg="mod">
          <ac:chgData name="Plato Tse" userId="7e9150dee13f625a" providerId="LiveId" clId="{789CCF97-127F-46D5-ABA8-A2B9DA226070}" dt="2026-05-04T15:57:24.525" v="761" actId="2711"/>
          <ac:spMkLst>
            <pc:docMk/>
            <pc:sldMk cId="2195168494" sldId="276"/>
            <ac:spMk id="23" creationId="{44D17366-2D5D-EBCB-C069-47BBF0111A8A}"/>
          </ac:spMkLst>
        </pc:spChg>
      </pc:sldChg>
      <pc:sldChg chg="modSp mod">
        <pc:chgData name="Plato Tse" userId="7e9150dee13f625a" providerId="LiveId" clId="{789CCF97-127F-46D5-ABA8-A2B9DA226070}" dt="2026-05-04T16:08:08.113" v="900" actId="20578"/>
        <pc:sldMkLst>
          <pc:docMk/>
          <pc:sldMk cId="2180084092" sldId="278"/>
        </pc:sldMkLst>
        <pc:spChg chg="mod">
          <ac:chgData name="Plato Tse" userId="7e9150dee13f625a" providerId="LiveId" clId="{789CCF97-127F-46D5-ABA8-A2B9DA226070}" dt="2026-05-04T16:06:10.485" v="825"/>
          <ac:spMkLst>
            <pc:docMk/>
            <pc:sldMk cId="2180084092" sldId="278"/>
            <ac:spMk id="2" creationId="{DCA93335-C8F6-0B4A-66B9-BF39D79CB760}"/>
          </ac:spMkLst>
        </pc:spChg>
        <pc:spChg chg="mod">
          <ac:chgData name="Plato Tse" userId="7e9150dee13f625a" providerId="LiveId" clId="{789CCF97-127F-46D5-ABA8-A2B9DA226070}" dt="2026-05-04T16:08:08.113" v="900" actId="20578"/>
          <ac:spMkLst>
            <pc:docMk/>
            <pc:sldMk cId="2180084092" sldId="278"/>
            <ac:spMk id="23" creationId="{8CF09343-1CC0-6B70-EF46-FD8285E176D3}"/>
          </ac:spMkLst>
        </pc:spChg>
      </pc:sldChg>
      <pc:sldChg chg="modSp mod">
        <pc:chgData name="Plato Tse" userId="7e9150dee13f625a" providerId="LiveId" clId="{789CCF97-127F-46D5-ABA8-A2B9DA226070}" dt="2026-05-04T14:55:13.805" v="365" actId="20577"/>
        <pc:sldMkLst>
          <pc:docMk/>
          <pc:sldMk cId="2284613377" sldId="284"/>
        </pc:sldMkLst>
        <pc:spChg chg="mod">
          <ac:chgData name="Plato Tse" userId="7e9150dee13f625a" providerId="LiveId" clId="{789CCF97-127F-46D5-ABA8-A2B9DA226070}" dt="2026-05-04T14:55:13.805" v="365" actId="20577"/>
          <ac:spMkLst>
            <pc:docMk/>
            <pc:sldMk cId="2284613377" sldId="284"/>
            <ac:spMk id="23" creationId="{3CA1E901-2F79-6974-E428-93399DC0DC0E}"/>
          </ac:spMkLst>
        </pc:spChg>
      </pc:sldChg>
      <pc:sldChg chg="modSp mod">
        <pc:chgData name="Plato Tse" userId="7e9150dee13f625a" providerId="LiveId" clId="{789CCF97-127F-46D5-ABA8-A2B9DA226070}" dt="2026-05-04T16:09:12.923" v="972" actId="20577"/>
        <pc:sldMkLst>
          <pc:docMk/>
          <pc:sldMk cId="323353584" sldId="285"/>
        </pc:sldMkLst>
        <pc:spChg chg="mod">
          <ac:chgData name="Plato Tse" userId="7e9150dee13f625a" providerId="LiveId" clId="{789CCF97-127F-46D5-ABA8-A2B9DA226070}" dt="2026-05-04T16:01:11.297" v="784" actId="20577"/>
          <ac:spMkLst>
            <pc:docMk/>
            <pc:sldMk cId="323353584" sldId="285"/>
            <ac:spMk id="2" creationId="{BCD8C0E1-92E9-F470-195D-C5A870DBDD32}"/>
          </ac:spMkLst>
        </pc:spChg>
        <pc:spChg chg="mod">
          <ac:chgData name="Plato Tse" userId="7e9150dee13f625a" providerId="LiveId" clId="{789CCF97-127F-46D5-ABA8-A2B9DA226070}" dt="2026-05-04T16:09:12.923" v="972" actId="20577"/>
          <ac:spMkLst>
            <pc:docMk/>
            <pc:sldMk cId="323353584" sldId="285"/>
            <ac:spMk id="41" creationId="{E0699548-9BE0-D501-1E59-8D8CC60A2A49}"/>
          </ac:spMkLst>
        </pc:spChg>
      </pc:sldChg>
      <pc:sldChg chg="modSp mod">
        <pc:chgData name="Plato Tse" userId="7e9150dee13f625a" providerId="LiveId" clId="{789CCF97-127F-46D5-ABA8-A2B9DA226070}" dt="2026-05-04T16:34:07.772" v="1267" actId="20577"/>
        <pc:sldMkLst>
          <pc:docMk/>
          <pc:sldMk cId="969508567" sldId="292"/>
        </pc:sldMkLst>
        <pc:spChg chg="mod">
          <ac:chgData name="Plato Tse" userId="7e9150dee13f625a" providerId="LiveId" clId="{789CCF97-127F-46D5-ABA8-A2B9DA226070}" dt="2026-05-04T16:34:07.772" v="1267" actId="20577"/>
          <ac:spMkLst>
            <pc:docMk/>
            <pc:sldMk cId="969508567" sldId="292"/>
            <ac:spMk id="2" creationId="{29A5ACE7-0E15-3196-FDAC-24B9577BF959}"/>
          </ac:spMkLst>
        </pc:spChg>
        <pc:spChg chg="mod">
          <ac:chgData name="Plato Tse" userId="7e9150dee13f625a" providerId="LiveId" clId="{789CCF97-127F-46D5-ABA8-A2B9DA226070}" dt="2026-05-04T16:21:23.530" v="1107" actId="20577"/>
          <ac:spMkLst>
            <pc:docMk/>
            <pc:sldMk cId="969508567" sldId="292"/>
            <ac:spMk id="41" creationId="{945F29C5-5612-1AB7-BD6D-24E5E05CB034}"/>
          </ac:spMkLst>
        </pc:spChg>
      </pc:sldChg>
      <pc:sldChg chg="modSp mod">
        <pc:chgData name="Plato Tse" userId="7e9150dee13f625a" providerId="LiveId" clId="{789CCF97-127F-46D5-ABA8-A2B9DA226070}" dt="2026-05-04T16:32:47.167" v="1225" actId="404"/>
        <pc:sldMkLst>
          <pc:docMk/>
          <pc:sldMk cId="3415641280" sldId="293"/>
        </pc:sldMkLst>
        <pc:spChg chg="mod">
          <ac:chgData name="Plato Tse" userId="7e9150dee13f625a" providerId="LiveId" clId="{789CCF97-127F-46D5-ABA8-A2B9DA226070}" dt="2026-05-04T16:22:15.224" v="1128" actId="20577"/>
          <ac:spMkLst>
            <pc:docMk/>
            <pc:sldMk cId="3415641280" sldId="293"/>
            <ac:spMk id="2" creationId="{8A5FA522-67F3-2C81-9E3B-3F81F5AF57CC}"/>
          </ac:spMkLst>
        </pc:spChg>
        <pc:spChg chg="mod">
          <ac:chgData name="Plato Tse" userId="7e9150dee13f625a" providerId="LiveId" clId="{789CCF97-127F-46D5-ABA8-A2B9DA226070}" dt="2026-05-04T16:32:47.167" v="1225" actId="404"/>
          <ac:spMkLst>
            <pc:docMk/>
            <pc:sldMk cId="3415641280" sldId="293"/>
            <ac:spMk id="8" creationId="{C7FF3659-2CD3-6A5A-BE31-5D2E04EF2111}"/>
          </ac:spMkLst>
        </pc:spChg>
      </pc:sldChg>
      <pc:sldChg chg="modSp mod">
        <pc:chgData name="Plato Tse" userId="7e9150dee13f625a" providerId="LiveId" clId="{789CCF97-127F-46D5-ABA8-A2B9DA226070}" dt="2026-05-05T02:30:20.317" v="1878" actId="20577"/>
        <pc:sldMkLst>
          <pc:docMk/>
          <pc:sldMk cId="1755375073" sldId="297"/>
        </pc:sldMkLst>
        <pc:spChg chg="mod">
          <ac:chgData name="Plato Tse" userId="7e9150dee13f625a" providerId="LiveId" clId="{789CCF97-127F-46D5-ABA8-A2B9DA226070}" dt="2026-05-04T17:01:27.611" v="1675"/>
          <ac:spMkLst>
            <pc:docMk/>
            <pc:sldMk cId="1755375073" sldId="297"/>
            <ac:spMk id="2" creationId="{AEE991F1-942D-9F12-B970-7EA1C12AE200}"/>
          </ac:spMkLst>
        </pc:spChg>
        <pc:spChg chg="mod">
          <ac:chgData name="Plato Tse" userId="7e9150dee13f625a" providerId="LiveId" clId="{789CCF97-127F-46D5-ABA8-A2B9DA226070}" dt="2026-05-05T02:30:20.317" v="1878" actId="20577"/>
          <ac:spMkLst>
            <pc:docMk/>
            <pc:sldMk cId="1755375073" sldId="297"/>
            <ac:spMk id="8" creationId="{FB882E51-487D-263E-0AA2-EA5F356A5F11}"/>
          </ac:spMkLst>
        </pc:spChg>
      </pc:sldChg>
      <pc:sldChg chg="modSp mod">
        <pc:chgData name="Plato Tse" userId="7e9150dee13f625a" providerId="LiveId" clId="{789CCF97-127F-46D5-ABA8-A2B9DA226070}" dt="2026-05-05T02:43:12.902" v="2162" actId="14100"/>
        <pc:sldMkLst>
          <pc:docMk/>
          <pc:sldMk cId="2048634527" sldId="298"/>
        </pc:sldMkLst>
        <pc:spChg chg="mod">
          <ac:chgData name="Plato Tse" userId="7e9150dee13f625a" providerId="LiveId" clId="{789CCF97-127F-46D5-ABA8-A2B9DA226070}" dt="2026-05-05T02:31:31.670" v="1913" actId="20577"/>
          <ac:spMkLst>
            <pc:docMk/>
            <pc:sldMk cId="2048634527" sldId="298"/>
            <ac:spMk id="2" creationId="{FEE5E812-5B2E-3EBF-6CD1-6FC29E78F111}"/>
          </ac:spMkLst>
        </pc:spChg>
        <pc:spChg chg="mod">
          <ac:chgData name="Plato Tse" userId="7e9150dee13f625a" providerId="LiveId" clId="{789CCF97-127F-46D5-ABA8-A2B9DA226070}" dt="2026-05-05T02:43:12.902" v="2162" actId="14100"/>
          <ac:spMkLst>
            <pc:docMk/>
            <pc:sldMk cId="2048634527" sldId="298"/>
            <ac:spMk id="41" creationId="{BA09B85E-C631-0292-4A98-8F636F22155D}"/>
          </ac:spMkLst>
        </pc:spChg>
      </pc:sldChg>
      <pc:sldChg chg="modSp mod">
        <pc:chgData name="Plato Tse" userId="7e9150dee13f625a" providerId="LiveId" clId="{789CCF97-127F-46D5-ABA8-A2B9DA226070}" dt="2026-05-05T02:46:25.651" v="2383" actId="114"/>
        <pc:sldMkLst>
          <pc:docMk/>
          <pc:sldMk cId="172242684" sldId="299"/>
        </pc:sldMkLst>
        <pc:spChg chg="mod">
          <ac:chgData name="Plato Tse" userId="7e9150dee13f625a" providerId="LiveId" clId="{789CCF97-127F-46D5-ABA8-A2B9DA226070}" dt="2026-05-05T02:38:20.691" v="2036"/>
          <ac:spMkLst>
            <pc:docMk/>
            <pc:sldMk cId="172242684" sldId="299"/>
            <ac:spMk id="2" creationId="{C175F018-B928-4DB2-780C-C4B23669F106}"/>
          </ac:spMkLst>
        </pc:spChg>
        <pc:spChg chg="mod">
          <ac:chgData name="Plato Tse" userId="7e9150dee13f625a" providerId="LiveId" clId="{789CCF97-127F-46D5-ABA8-A2B9DA226070}" dt="2026-05-05T02:46:25.651" v="2383" actId="114"/>
          <ac:spMkLst>
            <pc:docMk/>
            <pc:sldMk cId="172242684" sldId="299"/>
            <ac:spMk id="8" creationId="{BB200257-6B5A-C064-D738-D67283D68249}"/>
          </ac:spMkLst>
        </pc:spChg>
      </pc:sldChg>
      <pc:sldChg chg="modSp mod">
        <pc:chgData name="Plato Tse" userId="7e9150dee13f625a" providerId="LiveId" clId="{789CCF97-127F-46D5-ABA8-A2B9DA226070}" dt="2026-05-05T03:05:29.570" v="2630" actId="114"/>
        <pc:sldMkLst>
          <pc:docMk/>
          <pc:sldMk cId="526700657" sldId="300"/>
        </pc:sldMkLst>
        <pc:spChg chg="mod">
          <ac:chgData name="Plato Tse" userId="7e9150dee13f625a" providerId="LiveId" clId="{789CCF97-127F-46D5-ABA8-A2B9DA226070}" dt="2026-05-05T02:47:28.208" v="2384"/>
          <ac:spMkLst>
            <pc:docMk/>
            <pc:sldMk cId="526700657" sldId="300"/>
            <ac:spMk id="2" creationId="{4646A713-D3E8-7324-7275-B0002F681F63}"/>
          </ac:spMkLst>
        </pc:spChg>
        <pc:spChg chg="mod">
          <ac:chgData name="Plato Tse" userId="7e9150dee13f625a" providerId="LiveId" clId="{789CCF97-127F-46D5-ABA8-A2B9DA226070}" dt="2026-05-05T03:05:29.570" v="2630" actId="114"/>
          <ac:spMkLst>
            <pc:docMk/>
            <pc:sldMk cId="526700657" sldId="300"/>
            <ac:spMk id="41" creationId="{4BC1FA5A-6028-034D-88BC-672E625D92A8}"/>
          </ac:spMkLst>
        </pc:spChg>
      </pc:sldChg>
      <pc:sldChg chg="modSp mod">
        <pc:chgData name="Plato Tse" userId="7e9150dee13f625a" providerId="LiveId" clId="{789CCF97-127F-46D5-ABA8-A2B9DA226070}" dt="2026-05-05T03:15:14.821" v="2789" actId="114"/>
        <pc:sldMkLst>
          <pc:docMk/>
          <pc:sldMk cId="1991936833" sldId="301"/>
        </pc:sldMkLst>
        <pc:spChg chg="mod">
          <ac:chgData name="Plato Tse" userId="7e9150dee13f625a" providerId="LiveId" clId="{789CCF97-127F-46D5-ABA8-A2B9DA226070}" dt="2026-05-05T03:11:27.947" v="2674" actId="20577"/>
          <ac:spMkLst>
            <pc:docMk/>
            <pc:sldMk cId="1991936833" sldId="301"/>
            <ac:spMk id="2" creationId="{93E3809B-CDAE-1D18-CDA3-3F698A2930FB}"/>
          </ac:spMkLst>
        </pc:spChg>
        <pc:spChg chg="mod">
          <ac:chgData name="Plato Tse" userId="7e9150dee13f625a" providerId="LiveId" clId="{789CCF97-127F-46D5-ABA8-A2B9DA226070}" dt="2026-05-05T03:15:14.821" v="2789" actId="114"/>
          <ac:spMkLst>
            <pc:docMk/>
            <pc:sldMk cId="1991936833" sldId="301"/>
            <ac:spMk id="8" creationId="{81415C95-6DF2-7F59-AE2C-91C7B2111771}"/>
          </ac:spMkLst>
        </pc:spChg>
      </pc:sldChg>
      <pc:sldChg chg="modSp mod">
        <pc:chgData name="Plato Tse" userId="7e9150dee13f625a" providerId="LiveId" clId="{789CCF97-127F-46D5-ABA8-A2B9DA226070}" dt="2026-05-05T03:29:41.174" v="3092" actId="20577"/>
        <pc:sldMkLst>
          <pc:docMk/>
          <pc:sldMk cId="1205634326" sldId="302"/>
        </pc:sldMkLst>
        <pc:spChg chg="mod">
          <ac:chgData name="Plato Tse" userId="7e9150dee13f625a" providerId="LiveId" clId="{789CCF97-127F-46D5-ABA8-A2B9DA226070}" dt="2026-05-05T03:15:24.859" v="2790"/>
          <ac:spMkLst>
            <pc:docMk/>
            <pc:sldMk cId="1205634326" sldId="302"/>
            <ac:spMk id="2" creationId="{252DD216-1E01-A39E-5852-C5D66B6B19E3}"/>
          </ac:spMkLst>
        </pc:spChg>
        <pc:spChg chg="mod">
          <ac:chgData name="Plato Tse" userId="7e9150dee13f625a" providerId="LiveId" clId="{789CCF97-127F-46D5-ABA8-A2B9DA226070}" dt="2026-05-05T03:29:41.174" v="3092" actId="20577"/>
          <ac:spMkLst>
            <pc:docMk/>
            <pc:sldMk cId="1205634326" sldId="302"/>
            <ac:spMk id="41" creationId="{4DDA981B-F1F8-D6CC-6E8A-EDB0FDA8FAE1}"/>
          </ac:spMkLst>
        </pc:spChg>
      </pc:sldChg>
      <pc:sldChg chg="modSp mod">
        <pc:chgData name="Plato Tse" userId="7e9150dee13f625a" providerId="LiveId" clId="{789CCF97-127F-46D5-ABA8-A2B9DA226070}" dt="2026-05-05T03:41:18.436" v="3329" actId="114"/>
        <pc:sldMkLst>
          <pc:docMk/>
          <pc:sldMk cId="2159137567" sldId="303"/>
        </pc:sldMkLst>
        <pc:spChg chg="mod">
          <ac:chgData name="Plato Tse" userId="7e9150dee13f625a" providerId="LiveId" clId="{789CCF97-127F-46D5-ABA8-A2B9DA226070}" dt="2026-05-05T03:28:02.977" v="3076"/>
          <ac:spMkLst>
            <pc:docMk/>
            <pc:sldMk cId="2159137567" sldId="303"/>
            <ac:spMk id="2" creationId="{1D446761-010A-D7FF-0050-18DF2BD68B28}"/>
          </ac:spMkLst>
        </pc:spChg>
        <pc:spChg chg="mod">
          <ac:chgData name="Plato Tse" userId="7e9150dee13f625a" providerId="LiveId" clId="{789CCF97-127F-46D5-ABA8-A2B9DA226070}" dt="2026-05-05T03:41:18.436" v="3329" actId="114"/>
          <ac:spMkLst>
            <pc:docMk/>
            <pc:sldMk cId="2159137567" sldId="303"/>
            <ac:spMk id="8" creationId="{CC894652-CDCB-4CD6-B47F-E700A6805800}"/>
          </ac:spMkLst>
        </pc:spChg>
      </pc:sldChg>
      <pc:sldChg chg="modSp mod">
        <pc:chgData name="Plato Tse" userId="7e9150dee13f625a" providerId="LiveId" clId="{789CCF97-127F-46D5-ABA8-A2B9DA226070}" dt="2026-05-05T03:45:41.423" v="3391" actId="20577"/>
        <pc:sldMkLst>
          <pc:docMk/>
          <pc:sldMk cId="1962417299" sldId="304"/>
        </pc:sldMkLst>
        <pc:spChg chg="mod">
          <ac:chgData name="Plato Tse" userId="7e9150dee13f625a" providerId="LiveId" clId="{789CCF97-127F-46D5-ABA8-A2B9DA226070}" dt="2026-05-05T03:41:25.686" v="3330"/>
          <ac:spMkLst>
            <pc:docMk/>
            <pc:sldMk cId="1962417299" sldId="304"/>
            <ac:spMk id="2" creationId="{8B9F2C35-2C37-52D2-03E5-97E16894F68A}"/>
          </ac:spMkLst>
        </pc:spChg>
        <pc:spChg chg="mod">
          <ac:chgData name="Plato Tse" userId="7e9150dee13f625a" providerId="LiveId" clId="{789CCF97-127F-46D5-ABA8-A2B9DA226070}" dt="2026-05-05T03:45:41.423" v="3391" actId="20577"/>
          <ac:spMkLst>
            <pc:docMk/>
            <pc:sldMk cId="1962417299" sldId="304"/>
            <ac:spMk id="41" creationId="{7C8E0873-D925-7E66-BDEC-D55B614BCD7B}"/>
          </ac:spMkLst>
        </pc:spChg>
      </pc:sldChg>
      <pc:sldChg chg="del">
        <pc:chgData name="Plato Tse" userId="7e9150dee13f625a" providerId="LiveId" clId="{789CCF97-127F-46D5-ABA8-A2B9DA226070}" dt="2026-05-05T03:55:25.055" v="3677" actId="47"/>
        <pc:sldMkLst>
          <pc:docMk/>
          <pc:sldMk cId="2020057975" sldId="305"/>
        </pc:sldMkLst>
      </pc:sldChg>
      <pc:sldChg chg="modSp mod">
        <pc:chgData name="Plato Tse" userId="7e9150dee13f625a" providerId="LiveId" clId="{789CCF97-127F-46D5-ABA8-A2B9DA226070}" dt="2026-05-04T15:56:56.337" v="756" actId="27636"/>
        <pc:sldMkLst>
          <pc:docMk/>
          <pc:sldMk cId="1013806373" sldId="306"/>
        </pc:sldMkLst>
        <pc:spChg chg="mod">
          <ac:chgData name="Plato Tse" userId="7e9150dee13f625a" providerId="LiveId" clId="{789CCF97-127F-46D5-ABA8-A2B9DA226070}" dt="2026-05-04T15:56:56.337" v="756" actId="27636"/>
          <ac:spMkLst>
            <pc:docMk/>
            <pc:sldMk cId="1013806373" sldId="306"/>
            <ac:spMk id="2" creationId="{CFC41727-547D-9591-6845-2AD3D67C7337}"/>
          </ac:spMkLst>
        </pc:spChg>
        <pc:spChg chg="mod">
          <ac:chgData name="Plato Tse" userId="7e9150dee13f625a" providerId="LiveId" clId="{789CCF97-127F-46D5-ABA8-A2B9DA226070}" dt="2026-05-04T14:58:25.565" v="478" actId="114"/>
          <ac:spMkLst>
            <pc:docMk/>
            <pc:sldMk cId="1013806373" sldId="306"/>
            <ac:spMk id="13" creationId="{2D7C1F4E-2200-708A-B8D1-8631A46C318F}"/>
          </ac:spMkLst>
        </pc:spChg>
      </pc:sldChg>
      <pc:sldChg chg="modSp mod">
        <pc:chgData name="Plato Tse" userId="7e9150dee13f625a" providerId="LiveId" clId="{789CCF97-127F-46D5-ABA8-A2B9DA226070}" dt="2026-05-04T16:44:49.520" v="1600" actId="14100"/>
        <pc:sldMkLst>
          <pc:docMk/>
          <pc:sldMk cId="3588845181" sldId="307"/>
        </pc:sldMkLst>
        <pc:spChg chg="mod">
          <ac:chgData name="Plato Tse" userId="7e9150dee13f625a" providerId="LiveId" clId="{789CCF97-127F-46D5-ABA8-A2B9DA226070}" dt="2026-05-04T16:34:12.466" v="1268" actId="20577"/>
          <ac:spMkLst>
            <pc:docMk/>
            <pc:sldMk cId="3588845181" sldId="307"/>
            <ac:spMk id="2" creationId="{DB2BBA82-7C89-0CD8-03B8-0C9A803C0566}"/>
          </ac:spMkLst>
        </pc:spChg>
        <pc:spChg chg="mod">
          <ac:chgData name="Plato Tse" userId="7e9150dee13f625a" providerId="LiveId" clId="{789CCF97-127F-46D5-ABA8-A2B9DA226070}" dt="2026-05-04T16:44:49.520" v="1600" actId="14100"/>
          <ac:spMkLst>
            <pc:docMk/>
            <pc:sldMk cId="3588845181" sldId="307"/>
            <ac:spMk id="41" creationId="{F2C950AF-0AC8-E143-D1B1-76506A358FFE}"/>
          </ac:spMkLst>
        </pc:spChg>
      </pc:sldChg>
      <pc:sldChg chg="modSp mod">
        <pc:chgData name="Plato Tse" userId="7e9150dee13f625a" providerId="LiveId" clId="{789CCF97-127F-46D5-ABA8-A2B9DA226070}" dt="2026-05-04T16:57:09.687" v="1673" actId="20577"/>
        <pc:sldMkLst>
          <pc:docMk/>
          <pc:sldMk cId="4042176016" sldId="308"/>
        </pc:sldMkLst>
        <pc:spChg chg="mod">
          <ac:chgData name="Plato Tse" userId="7e9150dee13f625a" providerId="LiveId" clId="{789CCF97-127F-46D5-ABA8-A2B9DA226070}" dt="2026-05-04T16:46:50.313" v="1601"/>
          <ac:spMkLst>
            <pc:docMk/>
            <pc:sldMk cId="4042176016" sldId="308"/>
            <ac:spMk id="2" creationId="{99DF9405-A3DC-A9B3-EC6B-5FF2CF48625E}"/>
          </ac:spMkLst>
        </pc:spChg>
        <pc:spChg chg="mod">
          <ac:chgData name="Plato Tse" userId="7e9150dee13f625a" providerId="LiveId" clId="{789CCF97-127F-46D5-ABA8-A2B9DA226070}" dt="2026-05-04T16:57:09.687" v="1673" actId="20577"/>
          <ac:spMkLst>
            <pc:docMk/>
            <pc:sldMk cId="4042176016" sldId="308"/>
            <ac:spMk id="8" creationId="{0B938555-7366-C047-CD55-58D2608F6A2C}"/>
          </ac:spMkLst>
        </pc:spChg>
      </pc:sldChg>
      <pc:sldChg chg="modSp add mod">
        <pc:chgData name="Plato Tse" userId="7e9150dee13f625a" providerId="LiveId" clId="{789CCF97-127F-46D5-ABA8-A2B9DA226070}" dt="2026-05-05T03:51:05.779" v="3635" actId="20577"/>
        <pc:sldMkLst>
          <pc:docMk/>
          <pc:sldMk cId="1101106021" sldId="309"/>
        </pc:sldMkLst>
        <pc:spChg chg="mod">
          <ac:chgData name="Plato Tse" userId="7e9150dee13f625a" providerId="LiveId" clId="{789CCF97-127F-46D5-ABA8-A2B9DA226070}" dt="2026-05-05T03:51:05.779" v="3635" actId="20577"/>
          <ac:spMkLst>
            <pc:docMk/>
            <pc:sldMk cId="1101106021" sldId="309"/>
            <ac:spMk id="8" creationId="{2563C60A-CA9A-1ABC-1DBB-5F9FB8B5D67A}"/>
          </ac:spMkLst>
        </pc:spChg>
      </pc:sldChg>
      <pc:sldChg chg="modSp add mod">
        <pc:chgData name="Plato Tse" userId="7e9150dee13f625a" providerId="LiveId" clId="{789CCF97-127F-46D5-ABA8-A2B9DA226070}" dt="2026-05-05T03:55:21.142" v="3676"/>
        <pc:sldMkLst>
          <pc:docMk/>
          <pc:sldMk cId="1814542261" sldId="310"/>
        </pc:sldMkLst>
        <pc:spChg chg="mod">
          <ac:chgData name="Plato Tse" userId="7e9150dee13f625a" providerId="LiveId" clId="{789CCF97-127F-46D5-ABA8-A2B9DA226070}" dt="2026-05-05T03:55:21.142" v="3676"/>
          <ac:spMkLst>
            <pc:docMk/>
            <pc:sldMk cId="1814542261" sldId="310"/>
            <ac:spMk id="41" creationId="{5FE99161-E85E-7582-563F-273D1E67FA9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04/05/2026</a:t>
            </a:fld>
            <a:endParaRPr lang="en-GB" dirty="0"/>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dirty="0"/>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04/05/2026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dirty="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dirty="0"/>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dirty="0"/>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dirty="0"/>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dirty="0"/>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dirty="0"/>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dirty="0"/>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dirty="0"/>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dirty="0"/>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9</a:t>
            </a:fld>
            <a:endParaRPr lang="en-GB" dirty="0"/>
          </a:p>
        </p:txBody>
      </p:sp>
    </p:spTree>
    <p:extLst>
      <p:ext uri="{BB962C8B-B14F-4D97-AF65-F5344CB8AC3E}">
        <p14:creationId xmlns:p14="http://schemas.microsoft.com/office/powerpoint/2010/main" val="2129227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dirty="0"/>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dirty="0"/>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dirty="0"/>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dirty="0"/>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dirty="0"/>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7173D-D430-88AC-79D6-FC440669C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2B2A6-34B5-682A-1E6E-0ED8B26BB70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2460C0A-A947-D529-FD9B-40EE47F4AD1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79B314D-4817-C096-1798-14C52EB14962}"/>
              </a:ext>
            </a:extLst>
          </p:cNvPr>
          <p:cNvSpPr>
            <a:spLocks noGrp="1"/>
          </p:cNvSpPr>
          <p:nvPr>
            <p:ph type="sldNum" sz="quarter" idx="5"/>
          </p:nvPr>
        </p:nvSpPr>
        <p:spPr/>
        <p:txBody>
          <a:bodyPr rtlCol="0"/>
          <a:lstStyle/>
          <a:p>
            <a:pPr rtl="0"/>
            <a:fld id="{68B68C18-1BF1-F447-95ED-60EAAE35426E}" type="slidenum">
              <a:rPr lang="en-GB" smtClean="0"/>
              <a:t>15</a:t>
            </a:fld>
            <a:endParaRPr lang="en-GB"/>
          </a:p>
        </p:txBody>
      </p:sp>
    </p:spTree>
    <p:extLst>
      <p:ext uri="{BB962C8B-B14F-4D97-AF65-F5344CB8AC3E}">
        <p14:creationId xmlns:p14="http://schemas.microsoft.com/office/powerpoint/2010/main" val="3929647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A03D-FAFF-A2D0-CBC1-0FB9B6CDB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48450-60EB-0A0B-AF37-6969B0024C4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56CB37-A0F6-51E0-E23A-922E3CDA0A1B}"/>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48C792A-AFF1-3292-71B3-52BBB36443F7}"/>
              </a:ext>
            </a:extLst>
          </p:cNvPr>
          <p:cNvSpPr>
            <a:spLocks noGrp="1"/>
          </p:cNvSpPr>
          <p:nvPr>
            <p:ph type="sldNum" sz="quarter" idx="5"/>
          </p:nvPr>
        </p:nvSpPr>
        <p:spPr/>
        <p:txBody>
          <a:bodyPr rtlCol="0"/>
          <a:lstStyle/>
          <a:p>
            <a:pPr rtl="0"/>
            <a:fld id="{68B68C18-1BF1-F447-95ED-60EAAE35426E}" type="slidenum">
              <a:rPr lang="en-GB" smtClean="0"/>
              <a:t>16</a:t>
            </a:fld>
            <a:endParaRPr lang="en-GB"/>
          </a:p>
        </p:txBody>
      </p:sp>
    </p:spTree>
    <p:extLst>
      <p:ext uri="{BB962C8B-B14F-4D97-AF65-F5344CB8AC3E}">
        <p14:creationId xmlns:p14="http://schemas.microsoft.com/office/powerpoint/2010/main" val="3504562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88A81-A64F-8856-0D4B-2103F4829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9BF0E-FCC7-4F06-3E19-F83F9D5ADBD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95DE695-4942-9CF0-62B1-F9AD9B584ED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787687F-8251-9A16-3A76-DE6D47676B05}"/>
              </a:ext>
            </a:extLst>
          </p:cNvPr>
          <p:cNvSpPr>
            <a:spLocks noGrp="1"/>
          </p:cNvSpPr>
          <p:nvPr>
            <p:ph type="sldNum" sz="quarter" idx="5"/>
          </p:nvPr>
        </p:nvSpPr>
        <p:spPr/>
        <p:txBody>
          <a:bodyPr rtlCol="0"/>
          <a:lstStyle/>
          <a:p>
            <a:pPr rtl="0"/>
            <a:fld id="{68B68C18-1BF1-F447-95ED-60EAAE35426E}" type="slidenum">
              <a:rPr lang="en-GB" smtClean="0"/>
              <a:t>17</a:t>
            </a:fld>
            <a:endParaRPr lang="en-GB"/>
          </a:p>
        </p:txBody>
      </p:sp>
    </p:spTree>
    <p:extLst>
      <p:ext uri="{BB962C8B-B14F-4D97-AF65-F5344CB8AC3E}">
        <p14:creationId xmlns:p14="http://schemas.microsoft.com/office/powerpoint/2010/main" val="1031336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EF6B5-C787-AB73-FAEB-193034FF6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D9F57-700F-82B5-FE3A-273613CFE4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F648C43-6CE2-0A8C-F699-DD446D4E042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47E1B89B-7A7F-787E-FD93-A578256FB5D5}"/>
              </a:ext>
            </a:extLst>
          </p:cNvPr>
          <p:cNvSpPr>
            <a:spLocks noGrp="1"/>
          </p:cNvSpPr>
          <p:nvPr>
            <p:ph type="sldNum" sz="quarter" idx="5"/>
          </p:nvPr>
        </p:nvSpPr>
        <p:spPr/>
        <p:txBody>
          <a:bodyPr rtlCol="0"/>
          <a:lstStyle/>
          <a:p>
            <a:pPr rtl="0"/>
            <a:fld id="{68B68C18-1BF1-F447-95ED-60EAAE35426E}" type="slidenum">
              <a:rPr lang="en-GB" smtClean="0"/>
              <a:t>18</a:t>
            </a:fld>
            <a:endParaRPr lang="en-GB"/>
          </a:p>
        </p:txBody>
      </p:sp>
    </p:spTree>
    <p:extLst>
      <p:ext uri="{BB962C8B-B14F-4D97-AF65-F5344CB8AC3E}">
        <p14:creationId xmlns:p14="http://schemas.microsoft.com/office/powerpoint/2010/main" val="2841671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7446-2EA8-37BF-33AF-BF9D927AE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CE908-EFD6-1E17-4070-E0C1483E68A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B52CB71-A5AB-42D4-4E46-4C2D37459D43}"/>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3B56DA9-61FA-DAAF-ED6D-647AAB928C0F}"/>
              </a:ext>
            </a:extLst>
          </p:cNvPr>
          <p:cNvSpPr>
            <a:spLocks noGrp="1"/>
          </p:cNvSpPr>
          <p:nvPr>
            <p:ph type="sldNum" sz="quarter" idx="5"/>
          </p:nvPr>
        </p:nvSpPr>
        <p:spPr/>
        <p:txBody>
          <a:bodyPr rtlCol="0"/>
          <a:lstStyle/>
          <a:p>
            <a:pPr rtl="0"/>
            <a:fld id="{68B68C18-1BF1-F447-95ED-60EAAE35426E}" type="slidenum">
              <a:rPr lang="en-GB" smtClean="0"/>
              <a:t>19</a:t>
            </a:fld>
            <a:endParaRPr lang="en-GB"/>
          </a:p>
        </p:txBody>
      </p:sp>
    </p:spTree>
    <p:extLst>
      <p:ext uri="{BB962C8B-B14F-4D97-AF65-F5344CB8AC3E}">
        <p14:creationId xmlns:p14="http://schemas.microsoft.com/office/powerpoint/2010/main" val="3121842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CA05C-3218-165E-6369-BF6A531ED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3D69D-BAF1-457F-FBDA-B50DF4D2203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89507E8-7247-7DF8-C651-A5A0F595BA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0AF23A9-6C46-E02F-6053-9323D9F288DA}"/>
              </a:ext>
            </a:extLst>
          </p:cNvPr>
          <p:cNvSpPr>
            <a:spLocks noGrp="1"/>
          </p:cNvSpPr>
          <p:nvPr>
            <p:ph type="sldNum" sz="quarter" idx="5"/>
          </p:nvPr>
        </p:nvSpPr>
        <p:spPr/>
        <p:txBody>
          <a:bodyPr rtlCol="0"/>
          <a:lstStyle/>
          <a:p>
            <a:pPr rtl="0"/>
            <a:fld id="{68B68C18-1BF1-F447-95ED-60EAAE35426E}" type="slidenum">
              <a:rPr lang="en-GB" smtClean="0"/>
              <a:t>20</a:t>
            </a:fld>
            <a:endParaRPr lang="en-GB" dirty="0"/>
          </a:p>
        </p:txBody>
      </p:sp>
    </p:spTree>
    <p:extLst>
      <p:ext uri="{BB962C8B-B14F-4D97-AF65-F5344CB8AC3E}">
        <p14:creationId xmlns:p14="http://schemas.microsoft.com/office/powerpoint/2010/main" val="2761049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8531-4D47-FF0C-DD44-FACC9404E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A883C-020D-9D89-E5DC-0F66172D3F4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685F20-6655-F436-A1D7-BAE94DA5660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9D6C434-8CC9-D61A-A101-9B757B9B5F8B}"/>
              </a:ext>
            </a:extLst>
          </p:cNvPr>
          <p:cNvSpPr>
            <a:spLocks noGrp="1"/>
          </p:cNvSpPr>
          <p:nvPr>
            <p:ph type="sldNum" sz="quarter" idx="5"/>
          </p:nvPr>
        </p:nvSpPr>
        <p:spPr/>
        <p:txBody>
          <a:bodyPr rtlCol="0"/>
          <a:lstStyle/>
          <a:p>
            <a:pPr rtl="0"/>
            <a:fld id="{68B68C18-1BF1-F447-95ED-60EAAE35426E}" type="slidenum">
              <a:rPr lang="en-GB" smtClean="0"/>
              <a:t>21</a:t>
            </a:fld>
            <a:endParaRPr lang="en-GB" dirty="0"/>
          </a:p>
        </p:txBody>
      </p:sp>
    </p:spTree>
    <p:extLst>
      <p:ext uri="{BB962C8B-B14F-4D97-AF65-F5344CB8AC3E}">
        <p14:creationId xmlns:p14="http://schemas.microsoft.com/office/powerpoint/2010/main" val="339306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20DC-BF1D-9326-C2AA-56AD65220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6E389-B0E9-5FA8-58A9-6A35ADD3A4C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4964CB3-93E7-6D3A-A104-5EC37EE1D2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63FF2B2-14FC-4D66-96AD-4851F0E8F3FB}"/>
              </a:ext>
            </a:extLst>
          </p:cNvPr>
          <p:cNvSpPr>
            <a:spLocks noGrp="1"/>
          </p:cNvSpPr>
          <p:nvPr>
            <p:ph type="sldNum" sz="quarter" idx="5"/>
          </p:nvPr>
        </p:nvSpPr>
        <p:spPr/>
        <p:txBody>
          <a:bodyPr rtlCol="0"/>
          <a:lstStyle/>
          <a:p>
            <a:pPr rtl="0"/>
            <a:fld id="{68B68C18-1BF1-F447-95ED-60EAAE35426E}" type="slidenum">
              <a:rPr lang="en-GB" smtClean="0"/>
              <a:t>22</a:t>
            </a:fld>
            <a:endParaRPr lang="en-GB" dirty="0"/>
          </a:p>
        </p:txBody>
      </p:sp>
    </p:spTree>
    <p:extLst>
      <p:ext uri="{BB962C8B-B14F-4D97-AF65-F5344CB8AC3E}">
        <p14:creationId xmlns:p14="http://schemas.microsoft.com/office/powerpoint/2010/main" val="2601297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CDF7-92A0-D5D5-C5C2-253721129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AD7DD-E3C2-CB0D-6063-D9D0F1D80C3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24EA48A-9E4F-BBAA-6863-F034BA09335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0BB99B7-CE8F-DE29-F251-0C3B12B7569D}"/>
              </a:ext>
            </a:extLst>
          </p:cNvPr>
          <p:cNvSpPr>
            <a:spLocks noGrp="1"/>
          </p:cNvSpPr>
          <p:nvPr>
            <p:ph type="sldNum" sz="quarter" idx="5"/>
          </p:nvPr>
        </p:nvSpPr>
        <p:spPr/>
        <p:txBody>
          <a:bodyPr rtlCol="0"/>
          <a:lstStyle/>
          <a:p>
            <a:pPr rtl="0"/>
            <a:fld id="{68B68C18-1BF1-F447-95ED-60EAAE35426E}" type="slidenum">
              <a:rPr lang="en-GB" smtClean="0"/>
              <a:t>23</a:t>
            </a:fld>
            <a:endParaRPr lang="en-GB" dirty="0"/>
          </a:p>
        </p:txBody>
      </p:sp>
    </p:spTree>
    <p:extLst>
      <p:ext uri="{BB962C8B-B14F-4D97-AF65-F5344CB8AC3E}">
        <p14:creationId xmlns:p14="http://schemas.microsoft.com/office/powerpoint/2010/main" val="3759176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14275-4A5C-287A-305C-D05983FDF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46E72-BD52-5D64-24F2-02FA0838E7A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5CED6C5-1BB2-13B4-8B69-D9764C0D841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FCCB764-D215-2AD5-6D8D-797127AF987B}"/>
              </a:ext>
            </a:extLst>
          </p:cNvPr>
          <p:cNvSpPr>
            <a:spLocks noGrp="1"/>
          </p:cNvSpPr>
          <p:nvPr>
            <p:ph type="sldNum" sz="quarter" idx="5"/>
          </p:nvPr>
        </p:nvSpPr>
        <p:spPr/>
        <p:txBody>
          <a:bodyPr rtlCol="0"/>
          <a:lstStyle/>
          <a:p>
            <a:pPr rtl="0"/>
            <a:fld id="{68B68C18-1BF1-F447-95ED-60EAAE35426E}" type="slidenum">
              <a:rPr lang="en-GB" smtClean="0"/>
              <a:t>24</a:t>
            </a:fld>
            <a:endParaRPr lang="en-GB" dirty="0"/>
          </a:p>
        </p:txBody>
      </p:sp>
    </p:spTree>
    <p:extLst>
      <p:ext uri="{BB962C8B-B14F-4D97-AF65-F5344CB8AC3E}">
        <p14:creationId xmlns:p14="http://schemas.microsoft.com/office/powerpoint/2010/main" val="339908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020A-34C6-4BCE-BE28-65A6DFA4E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89E72-08CE-B0BB-CE10-95B538B8E4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33BAA91-7F7F-198E-AEAB-6AAEBB871CF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04C86DEA-7901-8EDD-EEF3-49DB7005D91F}"/>
              </a:ext>
            </a:extLst>
          </p:cNvPr>
          <p:cNvSpPr>
            <a:spLocks noGrp="1"/>
          </p:cNvSpPr>
          <p:nvPr>
            <p:ph type="sldNum" sz="quarter" idx="5"/>
          </p:nvPr>
        </p:nvSpPr>
        <p:spPr/>
        <p:txBody>
          <a:bodyPr rtlCol="0"/>
          <a:lstStyle/>
          <a:p>
            <a:pPr rtl="0"/>
            <a:fld id="{68B68C18-1BF1-F447-95ED-60EAAE35426E}" type="slidenum">
              <a:rPr lang="en-GB" smtClean="0"/>
              <a:t>25</a:t>
            </a:fld>
            <a:endParaRPr lang="en-GB" dirty="0"/>
          </a:p>
        </p:txBody>
      </p:sp>
    </p:spTree>
    <p:extLst>
      <p:ext uri="{BB962C8B-B14F-4D97-AF65-F5344CB8AC3E}">
        <p14:creationId xmlns:p14="http://schemas.microsoft.com/office/powerpoint/2010/main" val="2855372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6915-6AAE-9453-BAA3-D6BA6B25F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98A4E-01EA-8318-F207-3429A505944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C3D9CB3-EAA6-FA93-2299-292DC692FC9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36C9E75-77FB-AE01-4199-CC8F7DA14BE8}"/>
              </a:ext>
            </a:extLst>
          </p:cNvPr>
          <p:cNvSpPr>
            <a:spLocks noGrp="1"/>
          </p:cNvSpPr>
          <p:nvPr>
            <p:ph type="sldNum" sz="quarter" idx="5"/>
          </p:nvPr>
        </p:nvSpPr>
        <p:spPr/>
        <p:txBody>
          <a:bodyPr rtlCol="0"/>
          <a:lstStyle/>
          <a:p>
            <a:pPr rtl="0"/>
            <a:fld id="{68B68C18-1BF1-F447-95ED-60EAAE35426E}" type="slidenum">
              <a:rPr lang="en-GB" smtClean="0"/>
              <a:t>26</a:t>
            </a:fld>
            <a:endParaRPr lang="en-GB" dirty="0"/>
          </a:p>
        </p:txBody>
      </p:sp>
    </p:spTree>
    <p:extLst>
      <p:ext uri="{BB962C8B-B14F-4D97-AF65-F5344CB8AC3E}">
        <p14:creationId xmlns:p14="http://schemas.microsoft.com/office/powerpoint/2010/main" val="3044013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A0D4-FEBC-3E1E-B98B-7F785154A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AB0D8-3C0A-4BDB-3117-16F7D2333BB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88B6E2C-0DE0-38D6-09E6-A293F8B930AD}"/>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08C5429-D6EC-A1A7-6CD4-FB29F21C5C73}"/>
              </a:ext>
            </a:extLst>
          </p:cNvPr>
          <p:cNvSpPr>
            <a:spLocks noGrp="1"/>
          </p:cNvSpPr>
          <p:nvPr>
            <p:ph type="sldNum" sz="quarter" idx="5"/>
          </p:nvPr>
        </p:nvSpPr>
        <p:spPr/>
        <p:txBody>
          <a:bodyPr rtlCol="0"/>
          <a:lstStyle/>
          <a:p>
            <a:pPr rtl="0"/>
            <a:fld id="{68B68C18-1BF1-F447-95ED-60EAAE35426E}" type="slidenum">
              <a:rPr lang="en-GB" smtClean="0"/>
              <a:t>27</a:t>
            </a:fld>
            <a:endParaRPr lang="en-GB" dirty="0"/>
          </a:p>
        </p:txBody>
      </p:sp>
    </p:spTree>
    <p:extLst>
      <p:ext uri="{BB962C8B-B14F-4D97-AF65-F5344CB8AC3E}">
        <p14:creationId xmlns:p14="http://schemas.microsoft.com/office/powerpoint/2010/main" val="171473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8E37-C950-0A4C-159C-7E3B8F32E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BF1C9-A438-4528-DF17-EA56DEF31F4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AC4CBAA-7411-2F11-5114-0A5953BE3B03}"/>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BC2B5B5-D573-4F20-C40C-D0B353C41B89}"/>
              </a:ext>
            </a:extLst>
          </p:cNvPr>
          <p:cNvSpPr>
            <a:spLocks noGrp="1"/>
          </p:cNvSpPr>
          <p:nvPr>
            <p:ph type="sldNum" sz="quarter" idx="5"/>
          </p:nvPr>
        </p:nvSpPr>
        <p:spPr/>
        <p:txBody>
          <a:bodyPr rtlCol="0"/>
          <a:lstStyle/>
          <a:p>
            <a:pPr rtl="0"/>
            <a:fld id="{68B68C18-1BF1-F447-95ED-60EAAE35426E}" type="slidenum">
              <a:rPr lang="en-GB" smtClean="0"/>
              <a:t>28</a:t>
            </a:fld>
            <a:endParaRPr lang="en-GB" dirty="0"/>
          </a:p>
        </p:txBody>
      </p:sp>
    </p:spTree>
    <p:extLst>
      <p:ext uri="{BB962C8B-B14F-4D97-AF65-F5344CB8AC3E}">
        <p14:creationId xmlns:p14="http://schemas.microsoft.com/office/powerpoint/2010/main" val="2720582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GB"/>
          </a:p>
        </p:txBody>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dirty="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txBody>
          <a:bodyPr/>
          <a:lstStyle/>
          <a:p>
            <a:endParaRPr lang="en-GB"/>
          </a:p>
        </p:txBody>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dirty="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GB"/>
          </a:p>
        </p:txBody>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en-GB"/>
          </a:p>
        </p:txBody>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04/05/2026</a:t>
            </a:fld>
            <a:endParaRPr lang="en-GB" noProof="0" dirty="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dirty="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dirty="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dirty="0"/>
              <a:t>Click icon to add picture</a:t>
            </a:r>
            <a:endParaRPr lang="en-GB" noProof="0" dirty="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04/05/2026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04/05/2026</a:t>
            </a:fld>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04/05/2026</a:t>
            </a:fld>
            <a:endParaRPr lang="en-GB" noProof="0" dirty="0"/>
          </a:p>
        </p:txBody>
      </p:sp>
      <p:sp>
        <p:nvSpPr>
          <p:cNvPr id="8" name="Footer Placeholder 7"/>
          <p:cNvSpPr>
            <a:spLocks noGrp="1"/>
          </p:cNvSpPr>
          <p:nvPr>
            <p:ph type="ftr" sz="quarter" idx="11"/>
          </p:nvPr>
        </p:nvSpPr>
        <p:spPr/>
        <p:txBody>
          <a:bodyPr rtlCol="0"/>
          <a:lstStyle/>
          <a:p>
            <a:pPr rtl="0"/>
            <a:endParaRPr lang="en-GB" noProof="0" dirty="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04/05/2026</a:t>
            </a:fld>
            <a:endParaRPr lang="en-GB" noProof="0" dirty="0"/>
          </a:p>
        </p:txBody>
      </p:sp>
      <p:sp>
        <p:nvSpPr>
          <p:cNvPr id="4" name="Footer Placeholder 3"/>
          <p:cNvSpPr>
            <a:spLocks noGrp="1"/>
          </p:cNvSpPr>
          <p:nvPr>
            <p:ph type="ftr" sz="quarter" idx="11"/>
          </p:nvPr>
        </p:nvSpPr>
        <p:spPr/>
        <p:txBody>
          <a:bodyPr rtlCol="0"/>
          <a:lstStyle/>
          <a:p>
            <a:pPr rtl="0"/>
            <a:endParaRPr lang="en-GB" noProof="0" dirty="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04/05/2026</a:t>
            </a:fld>
            <a:endParaRPr lang="en-GB" noProof="0" dirty="0"/>
          </a:p>
        </p:txBody>
      </p:sp>
      <p:sp>
        <p:nvSpPr>
          <p:cNvPr id="3" name="Footer Placeholder 2"/>
          <p:cNvSpPr>
            <a:spLocks noGrp="1"/>
          </p:cNvSpPr>
          <p:nvPr>
            <p:ph type="ftr" sz="quarter" idx="11"/>
          </p:nvPr>
        </p:nvSpPr>
        <p:spPr/>
        <p:txBody>
          <a:bodyPr rtlCol="0"/>
          <a:lstStyle/>
          <a:p>
            <a:pPr rtl="0"/>
            <a:endParaRPr lang="en-GB" noProof="0" dirty="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en-GB"/>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04/05/2026</a:t>
            </a:fld>
            <a:endParaRPr lang="en-GB" noProof="0" dirty="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dirty="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dirty="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normAutofit/>
          </a:bodyPr>
          <a:lstStyle/>
          <a:p>
            <a:pPr rtl="0"/>
            <a:r>
              <a:rPr lang="en-US" sz="4400" b="1" dirty="0"/>
              <a:t>Questioning the Need for Principles</a:t>
            </a:r>
            <a:endParaRPr lang="en-GB" sz="4400" b="1"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384313"/>
            <a:ext cx="6602412" cy="5253979"/>
          </a:xfrm>
          <a:prstGeom prst="rect">
            <a:avLst/>
          </a:prstGeom>
          <a:noFill/>
        </p:spPr>
        <p:txBody>
          <a:bodyPr wrap="square" rtlCol="0">
            <a:noAutofit/>
          </a:bodyPr>
          <a:lstStyle/>
          <a:p>
            <a:pPr>
              <a:lnSpc>
                <a:spcPct val="116000"/>
              </a:lnSpc>
            </a:pPr>
            <a:r>
              <a:rPr lang="en-US" altLang="zh-TW" sz="3200" i="1" dirty="0">
                <a:latin typeface="Times New Roman, serif"/>
              </a:rPr>
              <a:t>Do We Need Moral Principles?</a:t>
            </a:r>
          </a:p>
          <a:p>
            <a:pPr marL="457200" indent="-457200">
              <a:lnSpc>
                <a:spcPct val="116000"/>
              </a:lnSpc>
              <a:buFont typeface="Arial" panose="020B0604020202020204" pitchFamily="34" charset="0"/>
              <a:buChar char="•"/>
            </a:pPr>
            <a:r>
              <a:rPr lang="en-US" altLang="zh-TW" sz="3200" dirty="0">
                <a:effectLst/>
                <a:latin typeface="Times New Roman, serif"/>
              </a:rPr>
              <a:t>Many moral theories tried to give us general principles.</a:t>
            </a:r>
          </a:p>
          <a:p>
            <a:pPr marL="914400" lvl="1" indent="-457200">
              <a:lnSpc>
                <a:spcPct val="116000"/>
              </a:lnSpc>
              <a:buFont typeface="Arial" panose="020B0604020202020204" pitchFamily="34" charset="0"/>
              <a:buChar char="•"/>
            </a:pPr>
            <a:r>
              <a:rPr lang="en-US" altLang="zh-TW" sz="2800" dirty="0">
                <a:latin typeface="Times New Roman, serif"/>
              </a:rPr>
              <a:t>Utilitarianism: the Principle of Utility</a:t>
            </a:r>
          </a:p>
          <a:p>
            <a:pPr marL="914400" lvl="1" indent="-457200">
              <a:lnSpc>
                <a:spcPct val="116000"/>
              </a:lnSpc>
              <a:buFont typeface="Arial" panose="020B0604020202020204" pitchFamily="34" charset="0"/>
              <a:buChar char="•"/>
            </a:pPr>
            <a:r>
              <a:rPr lang="en-US" altLang="zh-TW" sz="2800" dirty="0">
                <a:effectLst/>
                <a:latin typeface="Times New Roman, serif"/>
              </a:rPr>
              <a:t>Kantian Ethics: Categorical Imperative</a:t>
            </a:r>
          </a:p>
          <a:p>
            <a:pPr marL="914400" lvl="1" indent="-457200">
              <a:lnSpc>
                <a:spcPct val="116000"/>
              </a:lnSpc>
              <a:buFont typeface="Arial" panose="020B0604020202020204" pitchFamily="34" charset="0"/>
              <a:buChar char="•"/>
            </a:pPr>
            <a:r>
              <a:rPr lang="en-HK" altLang="zh-TW" sz="2800" dirty="0">
                <a:effectLst/>
                <a:latin typeface="Times New Roman" panose="02020603050405020304" pitchFamily="18" charset="0"/>
                <a:cs typeface="Times New Roman" panose="02020603050405020304" pitchFamily="18" charset="0"/>
              </a:rPr>
              <a:t>Natural Law Theory: Basic Human Goods </a:t>
            </a:r>
          </a:p>
          <a:p>
            <a:pPr marL="914400" lvl="1" indent="-457200">
              <a:lnSpc>
                <a:spcPct val="116000"/>
              </a:lnSpc>
              <a:buFont typeface="Arial" panose="020B0604020202020204" pitchFamily="34" charset="0"/>
              <a:buChar char="•"/>
            </a:pPr>
            <a:r>
              <a:rPr lang="en-HK" altLang="zh-TW" sz="2800" dirty="0">
                <a:latin typeface="Times New Roman" panose="02020603050405020304" pitchFamily="18" charset="0"/>
                <a:cs typeface="Times New Roman" panose="02020603050405020304" pitchFamily="18" charset="0"/>
              </a:rPr>
              <a:t>Ethics of Prima Facie Duty: Prima Facie Duties</a:t>
            </a:r>
          </a:p>
          <a:p>
            <a:pPr marL="457200" indent="-457200">
              <a:lnSpc>
                <a:spcPct val="116000"/>
              </a:lnSpc>
              <a:buFont typeface="Arial" panose="020B0604020202020204" pitchFamily="34" charset="0"/>
              <a:buChar char="•"/>
            </a:pPr>
            <a:r>
              <a:rPr lang="en-HK" altLang="zh-TW" sz="3200" dirty="0">
                <a:latin typeface="Times New Roman" panose="02020603050405020304" pitchFamily="18" charset="0"/>
                <a:cs typeface="Times New Roman" panose="02020603050405020304" pitchFamily="18" charset="0"/>
              </a:rPr>
              <a:t>But does moral thought depend on general principles? </a:t>
            </a: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dirty="0"/>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4"/>
            <a:ext cx="4116935" cy="2367808"/>
          </a:xfrm>
        </p:spPr>
        <p:txBody>
          <a:bodyPr rtlCol="0">
            <a:noAutofit/>
          </a:bodyPr>
          <a:lstStyle/>
          <a:p>
            <a:r>
              <a:rPr lang="en-US" b="1" dirty="0"/>
              <a:t>Central Contrast</a:t>
            </a:r>
            <a:endParaRPr lang="en-GB" b="1"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rPr>
              <a:t>Generalism:</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Morality depends on principles.  </a:t>
            </a:r>
          </a:p>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rPr>
              <a:t>Particularism: </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Morality depends on the morally relevant features of particular cases, </a:t>
            </a:r>
            <a:r>
              <a:rPr lang="en-US" sz="3200" dirty="0">
                <a:latin typeface="Times New Roman" panose="02020603050405020304" pitchFamily="18" charset="0"/>
                <a:ea typeface="PMingLiU" panose="02020500000000000000" pitchFamily="18" charset="-120"/>
              </a:rPr>
              <a:t>and these features may not behave in a fixed, principle-like way.</a:t>
            </a:r>
          </a:p>
          <a:p>
            <a:pPr marL="1200150" lvl="1" indent="-7429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 moral judgment is just personal feeling</a:t>
            </a:r>
          </a:p>
          <a:p>
            <a:pPr marL="1200150" lvl="1" indent="-742950" algn="just">
              <a:buFont typeface="Arial" panose="020B0604020202020204" pitchFamily="34" charset="0"/>
              <a:buChar char="•"/>
            </a:pPr>
            <a:r>
              <a:rPr lang="en-US" altLang="zh-TW" sz="3200" dirty="0">
                <a:latin typeface="Times New Roman" panose="02020603050405020304" pitchFamily="18" charset="0"/>
                <a:ea typeface="PMingLiU" panose="02020500000000000000" pitchFamily="18" charset="-120"/>
              </a:rPr>
              <a:t>≠ all moral generalizations must be false</a:t>
            </a: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normAutofit/>
          </a:bodyPr>
          <a:lstStyle/>
          <a:p>
            <a:r>
              <a:rPr lang="en-US" altLang="zh-TW" sz="4400" b="1" dirty="0"/>
              <a:t>What Is Moral Particularism?</a:t>
            </a:r>
            <a:endParaRPr lang="en-GB" sz="4400" b="1" dirty="0"/>
          </a:p>
        </p:txBody>
      </p:sp>
      <p:sp>
        <p:nvSpPr>
          <p:cNvPr id="8" name="TextBox 7">
            <a:extLst>
              <a:ext uri="{FF2B5EF4-FFF2-40B4-BE49-F238E27FC236}">
                <a16:creationId xmlns:a16="http://schemas.microsoft.com/office/drawing/2014/main" id="{5FC6C278-4035-446A-A94B-030E792FDDF5}"/>
              </a:ext>
            </a:extLst>
          </p:cNvPr>
          <p:cNvSpPr txBox="1"/>
          <p:nvPr/>
        </p:nvSpPr>
        <p:spPr>
          <a:xfrm>
            <a:off x="5181599" y="559679"/>
            <a:ext cx="6602412" cy="5413038"/>
          </a:xfrm>
          <a:prstGeom prst="rect">
            <a:avLst/>
          </a:prstGeom>
          <a:noFill/>
        </p:spPr>
        <p:txBody>
          <a:bodyPr wrap="square" rtlCol="0">
            <a:noAutofit/>
          </a:bodyPr>
          <a:lstStyle/>
          <a:p>
            <a:pPr marL="514350" indent="-514350" algn="just">
              <a:buFont typeface="+mj-lt"/>
              <a:buAutoNum type="arabicPeriod"/>
            </a:pPr>
            <a:r>
              <a:rPr lang="en-GB" sz="3200" i="1" dirty="0">
                <a:latin typeface="Times New Roman" panose="02020603050405020304" pitchFamily="18" charset="0"/>
                <a:ea typeface="PMingLiU" panose="02020500000000000000" pitchFamily="18" charset="-120"/>
              </a:rPr>
              <a:t>Principle Eliminativism:</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There are no correct or true moral principles that represent moral criteria and which are needed to explain the deontic status of particular actions.</a:t>
            </a:r>
            <a:endParaRPr lang="en-GB" sz="2800" dirty="0">
              <a:latin typeface="Times New Roman" panose="02020603050405020304" pitchFamily="18" charset="0"/>
              <a:ea typeface="PMingLiU" panose="02020500000000000000" pitchFamily="18" charset="-120"/>
            </a:endParaRPr>
          </a:p>
          <a:p>
            <a:pPr marL="514350" indent="-514350" algn="just">
              <a:buFont typeface="+mj-lt"/>
              <a:buAutoNum type="arabicPeriod"/>
            </a:pPr>
            <a:r>
              <a:rPr lang="en-GB" sz="3200" i="1" dirty="0">
                <a:latin typeface="Times New Roman" panose="02020603050405020304" pitchFamily="18" charset="0"/>
                <a:ea typeface="PMingLiU" panose="02020500000000000000" pitchFamily="18" charset="-120"/>
              </a:rPr>
              <a:t>Principle Abstinence:</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A morally committed agent who wants to come to correct verdicts about particular cases and act accordingly should not just rely on moral principles for guidance.</a:t>
            </a:r>
          </a:p>
          <a:p>
            <a:pPr marL="514350"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Possible to have PE without PA or PA without PE</a:t>
            </a:r>
            <a:endParaRPr lang="en-GB" sz="32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dirty="0"/>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78971" y="559678"/>
            <a:ext cx="4116935" cy="1719696"/>
          </a:xfrm>
        </p:spPr>
        <p:txBody>
          <a:bodyPr rtlCol="0">
            <a:normAutofit fontScale="90000"/>
          </a:bodyPr>
          <a:lstStyle/>
          <a:p>
            <a:r>
              <a:rPr lang="en-US" b="1" dirty="0"/>
              <a:t>What are Moral Principles? </a:t>
            </a:r>
            <a:endParaRPr lang="en-GB" b="1" dirty="0"/>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4982817" y="305054"/>
            <a:ext cx="6801194" cy="4952492"/>
          </a:xfrm>
          <a:prstGeom prst="rect">
            <a:avLst/>
          </a:prstGeom>
          <a:noFill/>
        </p:spPr>
        <p:txBody>
          <a:bodyPr wrap="square" rtlCol="0">
            <a:noAutofit/>
          </a:bodyPr>
          <a:lstStyle/>
          <a:p>
            <a:pPr marL="514350" indent="-514350" algn="just" rtl="0">
              <a:buFont typeface="+mj-lt"/>
              <a:buAutoNum type="arabicPeriod"/>
            </a:pPr>
            <a:r>
              <a:rPr lang="en-US" sz="3200" i="1" dirty="0">
                <a:latin typeface="Times New Roman" panose="02020603050405020304" pitchFamily="18" charset="0"/>
                <a:ea typeface="PMingLiU" panose="02020500000000000000" pitchFamily="18" charset="-120"/>
              </a:rPr>
              <a:t>Absolute Principle</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An AP says a certain kind of action is always right or always wrong, regardless of circumstances.</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Once a certain feature is present, the verdict is fixed. (</a:t>
            </a:r>
            <a:r>
              <a:rPr lang="en-US" sz="2800" i="1" dirty="0">
                <a:latin typeface="Times New Roman" panose="02020603050405020304" pitchFamily="18" charset="0"/>
                <a:ea typeface="PMingLiU" panose="02020500000000000000" pitchFamily="18" charset="-120"/>
              </a:rPr>
              <a:t>decisive</a:t>
            </a:r>
            <a:r>
              <a:rPr lang="en-US" sz="2800" dirty="0">
                <a:latin typeface="Times New Roman" panose="02020603050405020304" pitchFamily="18" charset="0"/>
                <a:ea typeface="PMingLiU" panose="02020500000000000000" pitchFamily="18" charset="-120"/>
              </a:rPr>
              <a:t>)</a:t>
            </a:r>
          </a:p>
          <a:p>
            <a:pPr marL="514350" indent="-514350" algn="just" rtl="0">
              <a:buFont typeface="+mj-lt"/>
              <a:buAutoNum type="arabicPeriod"/>
            </a:pPr>
            <a:r>
              <a:rPr lang="en-US" sz="3200" i="1" dirty="0">
                <a:latin typeface="Times New Roman" panose="02020603050405020304" pitchFamily="18" charset="0"/>
                <a:ea typeface="PMingLiU" panose="02020500000000000000" pitchFamily="18" charset="-120"/>
              </a:rPr>
              <a:t>Contributory Principle</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A CP says only that a feature counts for or against an action.</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The contribution of the feature can be outweighed by other considerations. (</a:t>
            </a:r>
            <a:r>
              <a:rPr lang="en-US" sz="2800" i="1" dirty="0">
                <a:latin typeface="Times New Roman" panose="02020603050405020304" pitchFamily="18" charset="0"/>
                <a:ea typeface="PMingLiU" panose="02020500000000000000" pitchFamily="18" charset="-120"/>
              </a:rPr>
              <a:t>defeasible</a:t>
            </a:r>
            <a:r>
              <a:rPr lang="en-US" sz="2800" dirty="0">
                <a:latin typeface="Times New Roman" panose="02020603050405020304" pitchFamily="18" charset="0"/>
                <a:ea typeface="PMingLiU" panose="02020500000000000000" pitchFamily="18" charset="-120"/>
              </a:rPr>
              <a:t>)</a:t>
            </a:r>
          </a:p>
          <a:p>
            <a:pPr marL="514350" indent="-5143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The particularist can attack both.</a:t>
            </a:r>
          </a:p>
          <a:p>
            <a:pPr marL="971550" lvl="1" indent="-514350" algn="just">
              <a:buFont typeface="Arial" panose="020B0604020202020204" pitchFamily="34" charset="0"/>
              <a:buChar char="•"/>
            </a:pPr>
            <a:endParaRPr lang="en-US" sz="28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530578" y="559678"/>
            <a:ext cx="4065328" cy="2221622"/>
          </a:xfrm>
        </p:spPr>
        <p:txBody>
          <a:bodyPr rtlCol="0">
            <a:normAutofit/>
          </a:bodyPr>
          <a:lstStyle/>
          <a:p>
            <a:r>
              <a:rPr lang="en-US" b="1" dirty="0"/>
              <a:t>The Generalist Picture</a:t>
            </a:r>
            <a:endParaRPr lang="en-GB" b="1" dirty="0"/>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dirty="0"/>
          </a:p>
        </p:txBody>
      </p:sp>
      <p:sp>
        <p:nvSpPr>
          <p:cNvPr id="23" name="TextBox 22">
            <a:extLst>
              <a:ext uri="{FF2B5EF4-FFF2-40B4-BE49-F238E27FC236}">
                <a16:creationId xmlns:a16="http://schemas.microsoft.com/office/drawing/2014/main" id="{B3924C4A-5D52-2E83-5910-D093650F9298}"/>
              </a:ext>
            </a:extLst>
          </p:cNvPr>
          <p:cNvSpPr txBox="1"/>
          <p:nvPr/>
        </p:nvSpPr>
        <p:spPr>
          <a:xfrm>
            <a:off x="5181599" y="559678"/>
            <a:ext cx="6593768" cy="5078614"/>
          </a:xfrm>
          <a:prstGeom prst="rect">
            <a:avLst/>
          </a:prstGeom>
          <a:noFill/>
        </p:spPr>
        <p:txBody>
          <a:bodyPr wrap="square" rtlCol="0">
            <a:noAutofit/>
          </a:bodyPr>
          <a:lstStyle/>
          <a:p>
            <a:pPr>
              <a:lnSpc>
                <a:spcPct val="116000"/>
              </a:lnSpc>
            </a:pPr>
            <a:r>
              <a:rPr lang="en-GB" altLang="zh-TW" sz="3600" i="1" dirty="0">
                <a:effectLst/>
                <a:latin typeface="Times New Roman" panose="02020603050405020304" pitchFamily="18" charset="0"/>
                <a:cs typeface="Times New Roman" panose="02020603050405020304" pitchFamily="18" charset="0"/>
              </a:rPr>
              <a:t>Why do we find MG attractive?</a:t>
            </a:r>
          </a:p>
          <a:p>
            <a:pPr marL="571500" indent="-571500">
              <a:lnSpc>
                <a:spcPct val="116000"/>
              </a:lnSpc>
              <a:buFont typeface="Arial" panose="020B0604020202020204" pitchFamily="34" charset="0"/>
              <a:buChar char="•"/>
            </a:pPr>
            <a:r>
              <a:rPr lang="en-GB" altLang="zh-TW" sz="3600" dirty="0">
                <a:latin typeface="Times New Roman" panose="02020603050405020304" pitchFamily="18" charset="0"/>
                <a:cs typeface="Times New Roman" panose="02020603050405020304" pitchFamily="18" charset="0"/>
              </a:rPr>
              <a:t>We do not just want to know whether a certain action is  wrong, but </a:t>
            </a:r>
            <a:r>
              <a:rPr lang="en-GB" altLang="zh-TW" sz="3600" i="1" dirty="0">
                <a:latin typeface="Times New Roman" panose="02020603050405020304" pitchFamily="18" charset="0"/>
                <a:cs typeface="Times New Roman" panose="02020603050405020304" pitchFamily="18" charset="0"/>
              </a:rPr>
              <a:t>why</a:t>
            </a:r>
            <a:r>
              <a:rPr lang="en-GB" altLang="zh-TW" sz="3600" dirty="0">
                <a:latin typeface="Times New Roman" panose="02020603050405020304" pitchFamily="18" charset="0"/>
                <a:cs typeface="Times New Roman" panose="02020603050405020304" pitchFamily="18" charset="0"/>
              </a:rPr>
              <a:t> it is wrong. </a:t>
            </a:r>
          </a:p>
          <a:p>
            <a:pPr marL="571500" indent="-571500">
              <a:lnSpc>
                <a:spcPct val="116000"/>
              </a:lnSpc>
              <a:buFont typeface="Arial" panose="020B0604020202020204" pitchFamily="34" charset="0"/>
              <a:buChar char="•"/>
            </a:pPr>
            <a:r>
              <a:rPr lang="en-GB" altLang="zh-TW" sz="3600" dirty="0">
                <a:effectLst/>
                <a:latin typeface="Times New Roman" panose="02020603050405020304" pitchFamily="18" charset="0"/>
                <a:cs typeface="Times New Roman" panose="02020603050405020304" pitchFamily="18" charset="0"/>
              </a:rPr>
              <a:t>Principles assume an authority of guidance. </a:t>
            </a:r>
          </a:p>
          <a:p>
            <a:pPr marL="571500" indent="-571500">
              <a:lnSpc>
                <a:spcPct val="116000"/>
              </a:lnSpc>
              <a:buFont typeface="Arial" panose="020B0604020202020204" pitchFamily="34" charset="0"/>
              <a:buChar char="•"/>
            </a:pPr>
            <a:r>
              <a:rPr lang="en-GB" altLang="zh-TW" sz="3600" dirty="0">
                <a:latin typeface="Times New Roman" panose="02020603050405020304" pitchFamily="18" charset="0"/>
                <a:cs typeface="Times New Roman" panose="02020603050405020304" pitchFamily="18" charset="0"/>
              </a:rPr>
              <a:t>Principles appear to serve two roles: </a:t>
            </a:r>
            <a:r>
              <a:rPr lang="en-GB" altLang="zh-TW" sz="3600" i="1" dirty="0">
                <a:latin typeface="Times New Roman" panose="02020603050405020304" pitchFamily="18" charset="0"/>
                <a:cs typeface="Times New Roman" panose="02020603050405020304" pitchFamily="18" charset="0"/>
              </a:rPr>
              <a:t>explanatory</a:t>
            </a:r>
            <a:r>
              <a:rPr lang="en-GB" altLang="zh-TW" sz="3600" dirty="0">
                <a:latin typeface="Times New Roman" panose="02020603050405020304" pitchFamily="18" charset="0"/>
                <a:cs typeface="Times New Roman" panose="02020603050405020304" pitchFamily="18" charset="0"/>
              </a:rPr>
              <a:t> and </a:t>
            </a:r>
            <a:r>
              <a:rPr lang="en-GB" altLang="zh-TW" sz="3600" i="1" dirty="0">
                <a:latin typeface="Times New Roman" panose="02020603050405020304" pitchFamily="18" charset="0"/>
                <a:cs typeface="Times New Roman" panose="02020603050405020304" pitchFamily="18" charset="0"/>
              </a:rPr>
              <a:t>practical</a:t>
            </a:r>
            <a:r>
              <a:rPr lang="en-GB" altLang="zh-TW" sz="3600" dirty="0">
                <a:latin typeface="Times New Roman" panose="02020603050405020304" pitchFamily="18" charset="0"/>
                <a:cs typeface="Times New Roman" panose="02020603050405020304" pitchFamily="18" charset="0"/>
              </a:rPr>
              <a:t>.</a:t>
            </a:r>
            <a:endParaRPr lang="en-GB" altLang="zh-TW" sz="3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281355" y="559677"/>
            <a:ext cx="4314552" cy="2605553"/>
          </a:xfrm>
        </p:spPr>
        <p:txBody>
          <a:bodyPr rtlCol="0">
            <a:normAutofit/>
          </a:bodyPr>
          <a:lstStyle/>
          <a:p>
            <a:pPr rtl="0"/>
            <a:r>
              <a:rPr lang="en-US" altLang="zh-TW" b="1" dirty="0"/>
              <a:t>The Generalist Picture</a:t>
            </a:r>
            <a:endParaRPr lang="en-GB" b="1" dirty="0"/>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3"/>
            <a:ext cx="6602412" cy="5965117"/>
          </a:xfrm>
          <a:prstGeom prst="rect">
            <a:avLst/>
          </a:prstGeom>
          <a:noFill/>
        </p:spPr>
        <p:txBody>
          <a:bodyPr wrap="square" rtlCol="0">
            <a:noAutofit/>
          </a:bodyPr>
          <a:lstStyle/>
          <a:p>
            <a:pPr marL="514350" indent="-514350" algn="just" rtl="0">
              <a:buFont typeface="+mj-lt"/>
              <a:buAutoNum type="arabicPeriod"/>
            </a:pPr>
            <a:r>
              <a:rPr lang="en-US" sz="3200" i="1" dirty="0">
                <a:latin typeface="Times New Roman" panose="02020603050405020304" pitchFamily="18" charset="0"/>
                <a:ea typeface="PMingLiU" panose="02020500000000000000" pitchFamily="18" charset="-120"/>
              </a:rPr>
              <a:t>The Generic Generalist Thesis</a:t>
            </a:r>
          </a:p>
          <a:p>
            <a:pPr marL="971550" lvl="1" indent="-514350" algn="just">
              <a:buFont typeface="+mj-lt"/>
              <a:buAutoNum type="alphaLcPeriod"/>
            </a:pPr>
            <a:r>
              <a:rPr lang="en-US" sz="2800" dirty="0">
                <a:latin typeface="Times New Roman" panose="02020603050405020304" pitchFamily="18" charset="0"/>
                <a:ea typeface="PMingLiU" panose="02020500000000000000" pitchFamily="18" charset="-120"/>
              </a:rPr>
              <a:t>There is a small set of fundamental morally relevant features.</a:t>
            </a:r>
          </a:p>
          <a:p>
            <a:pPr marL="971550" lvl="1" indent="-514350" algn="just">
              <a:buFont typeface="+mj-lt"/>
              <a:buAutoNum type="alphaLcPeriod"/>
            </a:pPr>
            <a:r>
              <a:rPr lang="en-US" sz="2800" dirty="0">
                <a:latin typeface="Times New Roman" panose="02020603050405020304" pitchFamily="18" charset="0"/>
                <a:ea typeface="PMingLiU" panose="02020500000000000000" pitchFamily="18" charset="-120"/>
              </a:rPr>
              <a:t>These features explain the rightness and wrongness of actions.</a:t>
            </a:r>
          </a:p>
          <a:p>
            <a:pPr marL="971550" lvl="1" indent="-514350" algn="just">
              <a:buFont typeface="+mj-lt"/>
              <a:buAutoNum type="alphaLcPeriod"/>
            </a:pPr>
            <a:r>
              <a:rPr lang="en-US" sz="2800" dirty="0">
                <a:latin typeface="Times New Roman" panose="02020603050405020304" pitchFamily="18" charset="0"/>
                <a:ea typeface="PMingLiU" panose="02020500000000000000" pitchFamily="18" charset="-120"/>
              </a:rPr>
              <a:t>Moral principles express these explanatory features.</a:t>
            </a:r>
          </a:p>
          <a:p>
            <a:pPr marL="514350" indent="-514350" algn="just" rtl="0">
              <a:buFont typeface="+mj-lt"/>
              <a:buAutoNum type="arabicPeriod"/>
            </a:pPr>
            <a:r>
              <a:rPr lang="en-US" sz="3200" i="1" dirty="0">
                <a:latin typeface="Times New Roman" panose="02020603050405020304" pitchFamily="18" charset="0"/>
                <a:ea typeface="PMingLiU" panose="02020500000000000000" pitchFamily="18" charset="-120"/>
              </a:rPr>
              <a:t>The Universal Relevance Thesis</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If a feature is morally relevant in one case, it is morally relevant wherever it appears.</a:t>
            </a:r>
          </a:p>
          <a:p>
            <a:pPr marL="514350" indent="-514350" algn="just" rtl="0">
              <a:buFont typeface="+mj-lt"/>
              <a:buAutoNum type="arabicPeriod"/>
            </a:pPr>
            <a:r>
              <a:rPr lang="en-US" sz="3200" i="1" dirty="0">
                <a:latin typeface="Times New Roman" panose="02020603050405020304" pitchFamily="18" charset="0"/>
                <a:ea typeface="PMingLiU" panose="02020500000000000000" pitchFamily="18" charset="-120"/>
              </a:rPr>
              <a:t>The Polarity Thesis</a:t>
            </a:r>
          </a:p>
          <a:p>
            <a:pPr marL="971550" lvl="1" indent="-514350" algn="just">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If a feature counts in </a:t>
            </a:r>
            <a:r>
              <a:rPr lang="en-US" sz="2800" dirty="0" err="1">
                <a:latin typeface="Times New Roman" panose="02020603050405020304" pitchFamily="18" charset="0"/>
                <a:ea typeface="PMingLiU" panose="02020500000000000000" pitchFamily="18" charset="-120"/>
              </a:rPr>
              <a:t>favour</a:t>
            </a:r>
            <a:r>
              <a:rPr lang="en-US" sz="2800" dirty="0">
                <a:latin typeface="Times New Roman" panose="02020603050405020304" pitchFamily="18" charset="0"/>
                <a:ea typeface="PMingLiU" panose="02020500000000000000" pitchFamily="18" charset="-120"/>
              </a:rPr>
              <a:t> in one case, it always counts in </a:t>
            </a:r>
            <a:r>
              <a:rPr lang="en-US" sz="2800" dirty="0" err="1">
                <a:latin typeface="Times New Roman" panose="02020603050405020304" pitchFamily="18" charset="0"/>
                <a:ea typeface="PMingLiU" panose="02020500000000000000" pitchFamily="18" charset="-120"/>
              </a:rPr>
              <a:t>favour</a:t>
            </a:r>
            <a:r>
              <a:rPr lang="en-US" sz="2800" dirty="0">
                <a:latin typeface="Times New Roman" panose="02020603050405020304" pitchFamily="18" charset="0"/>
                <a:ea typeface="PMingLiU" panose="02020500000000000000" pitchFamily="18" charset="-120"/>
              </a:rPr>
              <a:t>.</a:t>
            </a: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530578" y="559678"/>
            <a:ext cx="4065328" cy="2183522"/>
          </a:xfrm>
        </p:spPr>
        <p:txBody>
          <a:bodyPr rtlCol="0">
            <a:normAutofit/>
          </a:bodyPr>
          <a:lstStyle/>
          <a:p>
            <a:r>
              <a:rPr lang="en-US" sz="4400" b="1" dirty="0"/>
              <a:t>The Generalist Picture</a:t>
            </a:r>
            <a:endParaRPr lang="en-GB" sz="4400" dirty="0"/>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dirty="0"/>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684368"/>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Reasons Atomism</a:t>
            </a:r>
          </a:p>
          <a:p>
            <a:pPr marL="571500" indent="-571500">
              <a:buFont typeface="Arial" panose="020B0604020202020204" pitchFamily="34" charset="0"/>
              <a:buChar char="•"/>
            </a:pPr>
            <a:r>
              <a:rPr lang="en-US" sz="3200" i="1" dirty="0">
                <a:latin typeface="Times New Roman" panose="02020603050405020304" pitchFamily="18" charset="0"/>
                <a:ea typeface="PMingLiU" panose="02020500000000000000" pitchFamily="18" charset="-120"/>
              </a:rPr>
              <a:t>The moral contribution of a feature is fixed independently of its context.</a:t>
            </a:r>
          </a:p>
          <a:p>
            <a:pPr marL="571500" indent="-5715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If a feature has a positive (or negative) moral charge, then it has that charge across all contexts.</a:t>
            </a:r>
          </a:p>
          <a:p>
            <a:pPr marL="571500" indent="-5715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If a feature counts against (or for) an action, it counts against (or for) that action across all contexts.</a:t>
            </a:r>
          </a:p>
          <a:p>
            <a:pPr marL="571500" indent="-5715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Atomists can allow reasons to outweigh each other. </a:t>
            </a:r>
          </a:p>
          <a:p>
            <a:pPr marL="571500" indent="-5715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endParaRPr>
          </a:p>
          <a:p>
            <a:pPr marL="571500" indent="-5715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281355" y="559678"/>
            <a:ext cx="4314552" cy="1589162"/>
          </a:xfrm>
        </p:spPr>
        <p:txBody>
          <a:bodyPr rtlCol="0">
            <a:normAutofit/>
          </a:bodyPr>
          <a:lstStyle/>
          <a:p>
            <a:r>
              <a:rPr lang="en-US" sz="4400" b="1" dirty="0"/>
              <a:t>Reasons Holism</a:t>
            </a:r>
            <a:endParaRPr lang="en-GB" sz="4400" b="1" dirty="0"/>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marL="571500" indent="-571500" algn="just" rtl="0">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rPr>
              <a:t>The particularists hold that the moral contribution of a feature may depend on context.</a:t>
            </a:r>
          </a:p>
          <a:p>
            <a:pPr marL="571500" indent="-5715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 feature that is a reason in one case may be no reason in another case.</a:t>
            </a:r>
          </a:p>
          <a:p>
            <a:pPr marL="571500" indent="-5715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 feature that counts in favour in one case may count against in another case.</a:t>
            </a:r>
          </a:p>
          <a:p>
            <a:pPr marL="571500" indent="-5715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This is also called the </a:t>
            </a:r>
            <a:r>
              <a:rPr lang="en-GB" sz="3200" i="1" dirty="0">
                <a:latin typeface="Times New Roman" panose="02020603050405020304" pitchFamily="18" charset="0"/>
                <a:ea typeface="PMingLiU" panose="02020500000000000000" pitchFamily="18" charset="-120"/>
              </a:rPr>
              <a:t>variability of reasons</a:t>
            </a:r>
            <a:r>
              <a:rPr lang="en-GB" sz="3200" dirty="0">
                <a:latin typeface="Times New Roman" panose="02020603050405020304" pitchFamily="18" charset="0"/>
                <a:ea typeface="PMingLiU" panose="02020500000000000000" pitchFamily="18" charset="-120"/>
              </a:rPr>
              <a:t>.</a:t>
            </a:r>
          </a:p>
        </p:txBody>
      </p:sp>
    </p:spTree>
    <p:extLst>
      <p:ext uri="{BB962C8B-B14F-4D97-AF65-F5344CB8AC3E}">
        <p14:creationId xmlns:p14="http://schemas.microsoft.com/office/powerpoint/2010/main" val="1013806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1135307"/>
          </a:xfrm>
        </p:spPr>
        <p:txBody>
          <a:bodyPr rtlCol="0">
            <a:normAutofit/>
          </a:bodyPr>
          <a:lstStyle/>
          <a:p>
            <a:r>
              <a:rPr lang="en-GB" sz="4800" b="1" dirty="0"/>
              <a:t>Reversal</a:t>
            </a:r>
            <a:endParaRPr lang="en-GB" b="1" dirty="0"/>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dirty="0"/>
          </a:p>
        </p:txBody>
      </p:sp>
      <p:sp>
        <p:nvSpPr>
          <p:cNvPr id="23" name="TextBox 22">
            <a:extLst>
              <a:ext uri="{FF2B5EF4-FFF2-40B4-BE49-F238E27FC236}">
                <a16:creationId xmlns:a16="http://schemas.microsoft.com/office/drawing/2014/main" id="{764A365B-4C2F-2351-93F8-FD34668116E1}"/>
              </a:ext>
            </a:extLst>
          </p:cNvPr>
          <p:cNvSpPr txBox="1"/>
          <p:nvPr/>
        </p:nvSpPr>
        <p:spPr>
          <a:xfrm>
            <a:off x="4996070" y="304800"/>
            <a:ext cx="6779297" cy="5333492"/>
          </a:xfrm>
          <a:prstGeom prst="rect">
            <a:avLst/>
          </a:prstGeom>
          <a:noFill/>
        </p:spPr>
        <p:txBody>
          <a:bodyPr wrap="square" rtlCol="0">
            <a:noAutofit/>
          </a:bodyPr>
          <a:lstStyle/>
          <a:p>
            <a:pPr algn="just"/>
            <a:r>
              <a:rPr lang="en-GB" sz="2400" dirty="0">
                <a:latin typeface="Times New Roman" panose="02020603050405020304" pitchFamily="18" charset="0"/>
                <a:ea typeface="PMingLiU" panose="02020500000000000000" pitchFamily="18" charset="-120"/>
              </a:rPr>
              <a:t>“A government is considering reintroducing hanging and drawing and quartering in public for terrorist murders. If reactions to public hangings in the past are anything to go by, a lot of people may enjoy the spectacle. Does that constitute a reason in </a:t>
            </a:r>
            <a:r>
              <a:rPr lang="en-GB" sz="2400" dirty="0" err="1">
                <a:latin typeface="Times New Roman" panose="02020603050405020304" pitchFamily="18" charset="0"/>
                <a:ea typeface="PMingLiU" panose="02020500000000000000" pitchFamily="18" charset="-120"/>
              </a:rPr>
              <a:t>favor</a:t>
            </a:r>
            <a:r>
              <a:rPr lang="en-GB" sz="2400" dirty="0">
                <a:latin typeface="Times New Roman" panose="02020603050405020304" pitchFamily="18" charset="0"/>
                <a:ea typeface="PMingLiU" panose="02020500000000000000" pitchFamily="18" charset="-120"/>
              </a:rPr>
              <a:t> of reintroduction? Is the fact that people would enjoy it here a reason for its being right? It would be perfectly possible to take just the opposite view. </a:t>
            </a:r>
            <a:r>
              <a:rPr lang="en-GB" sz="2400" dirty="0">
                <a:solidFill>
                  <a:srgbClr val="FF0000"/>
                </a:solidFill>
                <a:latin typeface="Times New Roman" panose="02020603050405020304" pitchFamily="18" charset="0"/>
                <a:ea typeface="PMingLiU" panose="02020500000000000000" pitchFamily="18" charset="-120"/>
              </a:rPr>
              <a:t>The fact that spectators might get a sadistic thrill from the brutal spectacle could be thought to constitute an objection to reintroduction. </a:t>
            </a:r>
            <a:r>
              <a:rPr lang="en-GB" sz="2400" dirty="0">
                <a:latin typeface="Times New Roman" panose="02020603050405020304" pitchFamily="18" charset="0"/>
                <a:ea typeface="PMingLiU" panose="02020500000000000000" pitchFamily="18" charset="-120"/>
              </a:rPr>
              <a:t>Whether the fact that an action causes pleasure is a reason for or against doing it is not something that can be settled in isolation from other features of the action. It is only when we know the context in which the pleasure will occur that we are in a position to judge.” (McNaughton 1988, 193) </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490330" y="230820"/>
            <a:ext cx="4105576" cy="1197930"/>
          </a:xfrm>
        </p:spPr>
        <p:txBody>
          <a:bodyPr rtlCol="0">
            <a:normAutofit/>
          </a:bodyPr>
          <a:lstStyle/>
          <a:p>
            <a:r>
              <a:rPr lang="en-GB" sz="4800" b="1" dirty="0"/>
              <a:t>Reversal</a:t>
            </a:r>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dirty="0"/>
          </a:p>
        </p:txBody>
      </p:sp>
      <p:sp>
        <p:nvSpPr>
          <p:cNvPr id="41" name="TextBox 40">
            <a:extLst>
              <a:ext uri="{FF2B5EF4-FFF2-40B4-BE49-F238E27FC236}">
                <a16:creationId xmlns:a16="http://schemas.microsoft.com/office/drawing/2014/main" id="{E70AB508-2913-4EE2-5303-4456A2553371}"/>
              </a:ext>
            </a:extLst>
          </p:cNvPr>
          <p:cNvSpPr txBox="1"/>
          <p:nvPr/>
        </p:nvSpPr>
        <p:spPr>
          <a:xfrm>
            <a:off x="5062331" y="230819"/>
            <a:ext cx="6721680" cy="5407473"/>
          </a:xfrm>
          <a:prstGeom prst="rect">
            <a:avLst/>
          </a:prstGeom>
          <a:noFill/>
        </p:spPr>
        <p:txBody>
          <a:bodyPr wrap="square" rtlCol="0">
            <a:noAutofit/>
          </a:bodyPr>
          <a:lstStyle/>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 feature has reversed when its moral polarity changes.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Reversal ≠ Outweighing</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 </a:t>
            </a:r>
            <a:r>
              <a:rPr lang="en-GB" sz="3200" dirty="0" err="1">
                <a:latin typeface="Times New Roman" panose="02020603050405020304" pitchFamily="18" charset="0"/>
                <a:ea typeface="PMingLiU" panose="02020500000000000000" pitchFamily="18" charset="-120"/>
              </a:rPr>
              <a:t>Rossian</a:t>
            </a:r>
            <a:r>
              <a:rPr lang="en-GB" sz="3200" dirty="0">
                <a:latin typeface="Times New Roman" panose="02020603050405020304" pitchFamily="18" charset="0"/>
                <a:ea typeface="PMingLiU" panose="02020500000000000000" pitchFamily="18" charset="-120"/>
              </a:rPr>
              <a:t> would describe it as a case where pleasure counts positively but is outweighed by cruelty.</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The particularist: The pleasure here does not count positively at all.</a:t>
            </a:r>
          </a:p>
          <a:p>
            <a:pPr marL="457200" indent="-457200">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The point is not that rules have exceptions. The point is that the moral contribution of a feature itself changes.</a:t>
            </a:r>
          </a:p>
          <a:p>
            <a:pPr marL="457200" indent="-457200">
              <a:buFont typeface="Arial" panose="020B0604020202020204" pitchFamily="34" charset="0"/>
              <a:buChar char="•"/>
            </a:pPr>
            <a:endParaRPr lang="en-GB" sz="3200" i="1"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265042" y="559678"/>
            <a:ext cx="4330863" cy="1504253"/>
          </a:xfrm>
        </p:spPr>
        <p:txBody>
          <a:bodyPr rtlCol="0">
            <a:normAutofit/>
          </a:bodyPr>
          <a:lstStyle/>
          <a:p>
            <a:r>
              <a:rPr lang="en-GB" sz="4800" b="1" dirty="0"/>
              <a:t>Silencing</a:t>
            </a:r>
            <a:endParaRPr lang="en-GB" sz="4800" dirty="0"/>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dirty="0"/>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Ordinarily, if I promise to do something, the fact that I promised gives me a reason to do it.</a:t>
            </a:r>
          </a:p>
          <a:p>
            <a:pPr marL="571500" indent="-5715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Suppose I promise someone that I will help them cheat on an exam. Does the fact that I promised give me a reason to help them cheat? No. </a:t>
            </a:r>
          </a:p>
          <a:p>
            <a:pPr marL="571500" indent="-571500" algn="just">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Silencing occurs when a feature that usually matters becomes morally irrelevant in a particular context.</a:t>
            </a:r>
            <a:endParaRPr lang="en-GB" sz="3200" dirty="0">
              <a:latin typeface="Times New Roman" panose="02020603050405020304" pitchFamily="18" charset="0"/>
              <a:ea typeface="PMingLiU"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503582" y="230820"/>
            <a:ext cx="4092323" cy="1875072"/>
          </a:xfrm>
        </p:spPr>
        <p:txBody>
          <a:bodyPr rtlCol="0">
            <a:normAutofit/>
          </a:bodyPr>
          <a:lstStyle/>
          <a:p>
            <a:r>
              <a:rPr lang="en-US" sz="4400" b="1" dirty="0"/>
              <a:t>The Case of Lying</a:t>
            </a:r>
            <a:endParaRPr lang="en-GB" sz="4400" dirty="0"/>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dirty="0"/>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602412" cy="6100708"/>
          </a:xfrm>
          <a:prstGeom prst="rect">
            <a:avLst/>
          </a:prstGeom>
          <a:noFill/>
        </p:spPr>
        <p:txBody>
          <a:bodyPr wrap="square" rtlCol="0">
            <a:noAutofit/>
          </a:bodyPr>
          <a:lstStyle/>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 feature can be:</a:t>
            </a:r>
          </a:p>
          <a:p>
            <a:pPr marL="971550" lvl="1" indent="-514350" algn="just">
              <a:buFont typeface="+mj-lt"/>
              <a:buAutoNum type="arabicPeriod"/>
            </a:pPr>
            <a:r>
              <a:rPr lang="en-GB" sz="3600" dirty="0">
                <a:latin typeface="Times New Roman" panose="02020603050405020304" pitchFamily="18" charset="0"/>
                <a:ea typeface="PMingLiU" panose="02020500000000000000" pitchFamily="18" charset="-120"/>
              </a:rPr>
              <a:t>morally relevant in favour of an action,</a:t>
            </a:r>
          </a:p>
          <a:p>
            <a:pPr marL="971550" lvl="1" indent="-514350" algn="just">
              <a:buFont typeface="+mj-lt"/>
              <a:buAutoNum type="arabicPeriod"/>
            </a:pPr>
            <a:r>
              <a:rPr lang="en-GB" sz="3600" dirty="0">
                <a:latin typeface="Times New Roman" panose="02020603050405020304" pitchFamily="18" charset="0"/>
                <a:ea typeface="PMingLiU" panose="02020500000000000000" pitchFamily="18" charset="-120"/>
              </a:rPr>
              <a:t>morally relevant against an action,</a:t>
            </a:r>
          </a:p>
          <a:p>
            <a:pPr marL="971550" lvl="1" indent="-514350" algn="just">
              <a:buFont typeface="+mj-lt"/>
              <a:buAutoNum type="arabicPeriod"/>
            </a:pPr>
            <a:r>
              <a:rPr lang="en-GB" sz="3600" dirty="0">
                <a:latin typeface="Times New Roman" panose="02020603050405020304" pitchFamily="18" charset="0"/>
                <a:ea typeface="PMingLiU" panose="02020500000000000000" pitchFamily="18" charset="-120"/>
              </a:rPr>
              <a:t>morally irrelevant in this context,</a:t>
            </a:r>
          </a:p>
          <a:p>
            <a:pPr marL="971550" lvl="1" indent="-514350" algn="just">
              <a:buFont typeface="+mj-lt"/>
              <a:buAutoNum type="arabicPeriod"/>
            </a:pPr>
            <a:r>
              <a:rPr lang="en-GB" sz="3600" dirty="0">
                <a:latin typeface="Times New Roman" panose="02020603050405020304" pitchFamily="18" charset="0"/>
                <a:ea typeface="PMingLiU" panose="02020500000000000000" pitchFamily="18" charset="-120"/>
              </a:rPr>
              <a:t>or relevant in a way that depends on other features.</a:t>
            </a:r>
          </a:p>
          <a:p>
            <a:pPr marL="571500" indent="-5715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A feature can be reversed or silenced in various contexts. </a:t>
            </a: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a:bodyPr>
          <a:lstStyle/>
          <a:p>
            <a:r>
              <a:rPr lang="en-US" sz="4400" b="1" dirty="0"/>
              <a:t>The Case of Lying</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dirty="0"/>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559678"/>
            <a:ext cx="6593768" cy="5078614"/>
          </a:xfrm>
          <a:prstGeom prst="rect">
            <a:avLst/>
          </a:prstGeom>
          <a:noFill/>
        </p:spPr>
        <p:txBody>
          <a:bodyPr wrap="square" rtlCol="0">
            <a:noAutofit/>
          </a:bodyPr>
          <a:lstStyle/>
          <a:p>
            <a:pPr marL="457200" indent="-457200" algn="just">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Four cases of lying: </a:t>
            </a:r>
          </a:p>
          <a:p>
            <a:pPr marL="971550" lvl="1" indent="-514350" algn="just">
              <a:buFont typeface="+mj-lt"/>
              <a:buAutoNum type="alphaUcPeriod"/>
            </a:pPr>
            <a:r>
              <a:rPr lang="en-GB" sz="3600" dirty="0">
                <a:latin typeface="Times New Roman" panose="02020603050405020304" pitchFamily="18" charset="0"/>
                <a:ea typeface="PMingLiU" panose="02020500000000000000" pitchFamily="18" charset="-120"/>
              </a:rPr>
              <a:t>A friend lies to protect someone from unjust violence. </a:t>
            </a:r>
          </a:p>
          <a:p>
            <a:pPr marL="971550" lvl="1" indent="-514350" algn="just">
              <a:buFont typeface="+mj-lt"/>
              <a:buAutoNum type="alphaUcPeriod"/>
            </a:pPr>
            <a:r>
              <a:rPr lang="en-GB" sz="3600" dirty="0">
                <a:latin typeface="Times New Roman" panose="02020603050405020304" pitchFamily="18" charset="0"/>
                <a:ea typeface="PMingLiU" panose="02020500000000000000" pitchFamily="18" charset="-120"/>
              </a:rPr>
              <a:t>A student lies on a job application.</a:t>
            </a:r>
          </a:p>
          <a:p>
            <a:pPr marL="971550" lvl="1" indent="-514350" algn="just">
              <a:buFont typeface="+mj-lt"/>
              <a:buAutoNum type="alphaUcPeriod"/>
            </a:pPr>
            <a:r>
              <a:rPr lang="en-GB" sz="3600" dirty="0">
                <a:latin typeface="Times New Roman" panose="02020603050405020304" pitchFamily="18" charset="0"/>
                <a:ea typeface="PMingLiU" panose="02020500000000000000" pitchFamily="18" charset="-120"/>
              </a:rPr>
              <a:t>Someone lies as part of a harmless game.</a:t>
            </a:r>
          </a:p>
          <a:p>
            <a:pPr marL="971550" lvl="1" indent="-514350" algn="just">
              <a:buFont typeface="+mj-lt"/>
              <a:buAutoNum type="alphaUcPeriod"/>
            </a:pPr>
            <a:r>
              <a:rPr lang="en-GB" sz="3600" dirty="0">
                <a:latin typeface="Times New Roman" panose="02020603050405020304" pitchFamily="18" charset="0"/>
                <a:ea typeface="PMingLiU" panose="02020500000000000000" pitchFamily="18" charset="-120"/>
              </a:rPr>
              <a:t>A doctor withholds a harsh truth temporarily to prevent immediate panic. </a:t>
            </a: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13E18-EBC3-2D27-14E6-99E0E4BAA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5ACE7-0E15-3196-FDAC-24B9577BF959}"/>
              </a:ext>
            </a:extLst>
          </p:cNvPr>
          <p:cNvSpPr>
            <a:spLocks noGrp="1"/>
          </p:cNvSpPr>
          <p:nvPr>
            <p:ph type="title"/>
          </p:nvPr>
        </p:nvSpPr>
        <p:spPr>
          <a:xfrm>
            <a:off x="207819" y="559678"/>
            <a:ext cx="4388088" cy="1906431"/>
          </a:xfrm>
        </p:spPr>
        <p:txBody>
          <a:bodyPr rtlCol="0">
            <a:noAutofit/>
          </a:bodyPr>
          <a:lstStyle/>
          <a:p>
            <a:r>
              <a:rPr lang="en-GB" sz="4000" b="1" dirty="0"/>
              <a:t>Generalist Strategy </a:t>
            </a:r>
            <a:endParaRPr lang="en-GB" sz="4000" dirty="0"/>
          </a:p>
        </p:txBody>
      </p:sp>
      <p:sp>
        <p:nvSpPr>
          <p:cNvPr id="10" name="Slide Number Placeholder 9">
            <a:extLst>
              <a:ext uri="{FF2B5EF4-FFF2-40B4-BE49-F238E27FC236}">
                <a16:creationId xmlns:a16="http://schemas.microsoft.com/office/drawing/2014/main" id="{F29414A8-B973-6E1E-0510-28438641B7E4}"/>
              </a:ext>
            </a:extLst>
          </p:cNvPr>
          <p:cNvSpPr>
            <a:spLocks noGrp="1"/>
          </p:cNvSpPr>
          <p:nvPr>
            <p:ph type="sldNum" sz="quarter" idx="12"/>
          </p:nvPr>
        </p:nvSpPr>
        <p:spPr/>
        <p:txBody>
          <a:bodyPr rtlCol="0"/>
          <a:lstStyle/>
          <a:p>
            <a:pPr rtl="0"/>
            <a:fld id="{13D2E340-0663-474B-992C-9192B5C45E57}" type="slidenum">
              <a:rPr lang="en-GB" smtClean="0"/>
              <a:t>15</a:t>
            </a:fld>
            <a:endParaRPr lang="en-GB"/>
          </a:p>
        </p:txBody>
      </p:sp>
      <p:sp>
        <p:nvSpPr>
          <p:cNvPr id="41" name="TextBox 40">
            <a:extLst>
              <a:ext uri="{FF2B5EF4-FFF2-40B4-BE49-F238E27FC236}">
                <a16:creationId xmlns:a16="http://schemas.microsoft.com/office/drawing/2014/main" id="{945F29C5-5612-1AB7-BD6D-24E5E05CB034}"/>
              </a:ext>
            </a:extLst>
          </p:cNvPr>
          <p:cNvSpPr txBox="1"/>
          <p:nvPr/>
        </p:nvSpPr>
        <p:spPr>
          <a:xfrm>
            <a:off x="5098473" y="559678"/>
            <a:ext cx="6685538" cy="5078614"/>
          </a:xfrm>
          <a:prstGeom prst="rect">
            <a:avLst/>
          </a:prstGeom>
          <a:noFill/>
        </p:spPr>
        <p:txBody>
          <a:bodyPr wrap="square" rtlCol="0">
            <a:noAutofit/>
          </a:bodyPr>
          <a:lstStyle/>
          <a:p>
            <a:pPr algn="just"/>
            <a:r>
              <a:rPr lang="en-GB" sz="3200" i="1" dirty="0">
                <a:effectLst/>
                <a:latin typeface="Times New Roman" panose="02020603050405020304" pitchFamily="18" charset="0"/>
                <a:ea typeface="PMingLiU" panose="02020500000000000000" pitchFamily="18" charset="-120"/>
              </a:rPr>
              <a:t>But the consequence of reasons holism seems to be grave: </a:t>
            </a:r>
          </a:p>
          <a:p>
            <a:pPr marL="571500" indent="-5715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If reasons vary by context, do we lose moral theory? Do we lose moral knowledge? Do we lose moral guidance?</a:t>
            </a:r>
          </a:p>
          <a:p>
            <a:pPr marL="571500" indent="-5715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Generalists: The particularist has shown that simple principles are vulnerable to counterexamples. But we can make principles more complex.</a:t>
            </a:r>
          </a:p>
        </p:txBody>
      </p:sp>
    </p:spTree>
    <p:extLst>
      <p:ext uri="{BB962C8B-B14F-4D97-AF65-F5344CB8AC3E}">
        <p14:creationId xmlns:p14="http://schemas.microsoft.com/office/powerpoint/2010/main" val="969508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24D30-4A97-4170-4D76-DA46E13FD2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7FF3659-2CD3-6A5A-BE31-5D2E04EF2111}"/>
              </a:ext>
            </a:extLst>
          </p:cNvPr>
          <p:cNvSpPr txBox="1"/>
          <p:nvPr/>
        </p:nvSpPr>
        <p:spPr>
          <a:xfrm>
            <a:off x="5181599" y="655100"/>
            <a:ext cx="6602412" cy="5575012"/>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cs typeface="Times New Roman" panose="02020603050405020304" pitchFamily="18" charset="0"/>
              </a:rPr>
              <a:t>Atomistic Specification</a:t>
            </a:r>
          </a:p>
          <a:p>
            <a:pPr marL="571500" indent="-5715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When a principle faces a counterexample, add the conditions needed to avoid the counterexample.</a:t>
            </a:r>
          </a:p>
          <a:p>
            <a:pPr marL="571500" indent="-5715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Take promising as example: </a:t>
            </a:r>
          </a:p>
          <a:p>
            <a:pPr marL="571500" indent="-571500" algn="just">
              <a:buFont typeface="Arial" panose="020B0604020202020204" pitchFamily="34" charset="0"/>
              <a:buChar char="•"/>
            </a:pPr>
            <a:r>
              <a:rPr lang="en-GB" sz="2800" dirty="0">
                <a:solidFill>
                  <a:srgbClr val="FF0000"/>
                </a:solidFill>
                <a:latin typeface="Times New Roman" panose="02020603050405020304" pitchFamily="18" charset="0"/>
                <a:ea typeface="PMingLiU" panose="02020500000000000000" pitchFamily="18" charset="-120"/>
                <a:cs typeface="Times New Roman" panose="02020603050405020304" pitchFamily="18" charset="0"/>
              </a:rPr>
              <a:t>If one has promised to do something</a:t>
            </a:r>
            <a:r>
              <a:rPr lang="en-GB" sz="2800" dirty="0">
                <a:latin typeface="Times New Roman" panose="02020603050405020304" pitchFamily="18" charset="0"/>
                <a:ea typeface="PMingLiU" panose="02020500000000000000" pitchFamily="18" charset="-120"/>
                <a:cs typeface="Times New Roman" panose="02020603050405020304" pitchFamily="18" charset="0"/>
              </a:rPr>
              <a:t>, and </a:t>
            </a:r>
            <a:r>
              <a:rPr lang="en-GB" sz="2800" dirty="0">
                <a:solidFill>
                  <a:srgbClr val="0070C0"/>
                </a:solidFill>
                <a:latin typeface="Times New Roman" panose="02020603050405020304" pitchFamily="18" charset="0"/>
                <a:ea typeface="PMingLiU" panose="02020500000000000000" pitchFamily="18" charset="-120"/>
                <a:cs typeface="Times New Roman" panose="02020603050405020304" pitchFamily="18" charset="0"/>
              </a:rPr>
              <a:t>the promise was not coerced</a:t>
            </a:r>
            <a:r>
              <a:rPr lang="en-GB" sz="2800" dirty="0">
                <a:latin typeface="Times New Roman" panose="02020603050405020304" pitchFamily="18" charset="0"/>
                <a:ea typeface="PMingLiU" panose="02020500000000000000" pitchFamily="18" charset="-120"/>
                <a:cs typeface="Times New Roman" panose="02020603050405020304" pitchFamily="18" charset="0"/>
              </a:rPr>
              <a:t>, and </a:t>
            </a:r>
            <a:r>
              <a:rPr lang="en-GB" sz="2800" dirty="0">
                <a:solidFill>
                  <a:srgbClr val="0070C0"/>
                </a:solidFill>
                <a:latin typeface="Times New Roman" panose="02020603050405020304" pitchFamily="18" charset="0"/>
                <a:ea typeface="PMingLiU" panose="02020500000000000000" pitchFamily="18" charset="-120"/>
                <a:cs typeface="Times New Roman" panose="02020603050405020304" pitchFamily="18" charset="0"/>
              </a:rPr>
              <a:t>the promised act is not immoral</a:t>
            </a:r>
            <a:r>
              <a:rPr lang="en-GB" sz="2800" dirty="0">
                <a:latin typeface="Times New Roman" panose="02020603050405020304" pitchFamily="18" charset="0"/>
                <a:ea typeface="PMingLiU" panose="02020500000000000000" pitchFamily="18" charset="-120"/>
                <a:cs typeface="Times New Roman" panose="02020603050405020304" pitchFamily="18" charset="0"/>
              </a:rPr>
              <a:t>, and </a:t>
            </a:r>
            <a:r>
              <a:rPr lang="en-GB" sz="2800" dirty="0">
                <a:solidFill>
                  <a:srgbClr val="0070C0"/>
                </a:solidFill>
                <a:latin typeface="Times New Roman" panose="02020603050405020304" pitchFamily="18" charset="0"/>
                <a:ea typeface="PMingLiU" panose="02020500000000000000" pitchFamily="18" charset="-120"/>
                <a:cs typeface="Times New Roman" panose="02020603050405020304" pitchFamily="18" charset="0"/>
              </a:rPr>
              <a:t>the promise has not been cancelled</a:t>
            </a:r>
            <a:r>
              <a:rPr lang="en-GB" sz="2800" dirty="0">
                <a:latin typeface="Times New Roman" panose="02020603050405020304" pitchFamily="18" charset="0"/>
                <a:ea typeface="PMingLiU" panose="02020500000000000000" pitchFamily="18" charset="-120"/>
                <a:cs typeface="Times New Roman" panose="02020603050405020304" pitchFamily="18" charset="0"/>
              </a:rPr>
              <a:t>, and keeping </a:t>
            </a:r>
            <a:r>
              <a:rPr lang="en-GB" sz="2800" dirty="0">
                <a:solidFill>
                  <a:srgbClr val="0070C0"/>
                </a:solidFill>
                <a:latin typeface="Times New Roman" panose="02020603050405020304" pitchFamily="18" charset="0"/>
                <a:ea typeface="PMingLiU" panose="02020500000000000000" pitchFamily="18" charset="-120"/>
                <a:cs typeface="Times New Roman" panose="02020603050405020304" pitchFamily="18" charset="0"/>
              </a:rPr>
              <a:t>it would not violate anyone’s rights</a:t>
            </a:r>
            <a:r>
              <a:rPr lang="en-GB" sz="2800" dirty="0">
                <a:latin typeface="Times New Roman" panose="02020603050405020304" pitchFamily="18" charset="0"/>
                <a:ea typeface="PMingLiU" panose="02020500000000000000" pitchFamily="18" charset="-120"/>
                <a:cs typeface="Times New Roman" panose="02020603050405020304" pitchFamily="18" charset="0"/>
              </a:rPr>
              <a:t>, </a:t>
            </a:r>
            <a:r>
              <a:rPr lang="en-GB" sz="2800" dirty="0">
                <a:solidFill>
                  <a:srgbClr val="FF0000"/>
                </a:solidFill>
                <a:latin typeface="Times New Roman" panose="02020603050405020304" pitchFamily="18" charset="0"/>
                <a:ea typeface="PMingLiU" panose="02020500000000000000" pitchFamily="18" charset="-120"/>
                <a:cs typeface="Times New Roman" panose="02020603050405020304" pitchFamily="18" charset="0"/>
              </a:rPr>
              <a:t>then one has a moral reason to keep the promise</a:t>
            </a:r>
            <a:r>
              <a:rPr lang="en-GB" sz="2800" dirty="0">
                <a:latin typeface="Times New Roman" panose="02020603050405020304" pitchFamily="18" charset="0"/>
                <a:ea typeface="PMingLiU" panose="02020500000000000000" pitchFamily="18" charset="-120"/>
                <a:cs typeface="Times New Roman" panose="02020603050405020304" pitchFamily="18" charset="0"/>
              </a:rPr>
              <a:t>.</a:t>
            </a:r>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8D6918F-D619-C92B-A73E-18F9946F2AFC}"/>
              </a:ext>
            </a:extLst>
          </p:cNvPr>
          <p:cNvSpPr>
            <a:spLocks noGrp="1"/>
          </p:cNvSpPr>
          <p:nvPr>
            <p:ph type="sldNum" sz="quarter" idx="12"/>
          </p:nvPr>
        </p:nvSpPr>
        <p:spPr/>
        <p:txBody>
          <a:bodyPr rtlCol="0"/>
          <a:lstStyle/>
          <a:p>
            <a:pPr rtl="0"/>
            <a:fld id="{13D2E340-0663-474B-992C-9192B5C45E57}" type="slidenum">
              <a:rPr lang="en-GB" smtClean="0"/>
              <a:t>16</a:t>
            </a:fld>
            <a:endParaRPr lang="en-GB"/>
          </a:p>
        </p:txBody>
      </p:sp>
      <p:sp>
        <p:nvSpPr>
          <p:cNvPr id="2" name="Title 1">
            <a:extLst>
              <a:ext uri="{FF2B5EF4-FFF2-40B4-BE49-F238E27FC236}">
                <a16:creationId xmlns:a16="http://schemas.microsoft.com/office/drawing/2014/main" id="{8A5FA522-67F3-2C81-9E3B-3F81F5AF57CC}"/>
              </a:ext>
            </a:extLst>
          </p:cNvPr>
          <p:cNvSpPr txBox="1">
            <a:spLocks/>
          </p:cNvSpPr>
          <p:nvPr/>
        </p:nvSpPr>
        <p:spPr>
          <a:xfrm>
            <a:off x="110836" y="887896"/>
            <a:ext cx="4362481"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Generalist Strategy</a:t>
            </a:r>
            <a:endParaRPr lang="en-GB" sz="4000" dirty="0"/>
          </a:p>
        </p:txBody>
      </p:sp>
    </p:spTree>
    <p:extLst>
      <p:ext uri="{BB962C8B-B14F-4D97-AF65-F5344CB8AC3E}">
        <p14:creationId xmlns:p14="http://schemas.microsoft.com/office/powerpoint/2010/main" val="3415641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7437-DFC9-C471-E484-6991C7AD0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BBA82-7C89-0CD8-03B8-0C9A803C0566}"/>
              </a:ext>
            </a:extLst>
          </p:cNvPr>
          <p:cNvSpPr>
            <a:spLocks noGrp="1"/>
          </p:cNvSpPr>
          <p:nvPr>
            <p:ph type="title"/>
          </p:nvPr>
        </p:nvSpPr>
        <p:spPr>
          <a:xfrm>
            <a:off x="207819" y="559678"/>
            <a:ext cx="4388088" cy="1906431"/>
          </a:xfrm>
        </p:spPr>
        <p:txBody>
          <a:bodyPr rtlCol="0">
            <a:noAutofit/>
          </a:bodyPr>
          <a:lstStyle/>
          <a:p>
            <a:r>
              <a:rPr lang="en-GB" sz="4000" b="1" dirty="0"/>
              <a:t>Particularist Challenge</a:t>
            </a:r>
            <a:endParaRPr lang="en-GB" sz="4000" dirty="0"/>
          </a:p>
        </p:txBody>
      </p:sp>
      <p:sp>
        <p:nvSpPr>
          <p:cNvPr id="10" name="Slide Number Placeholder 9">
            <a:extLst>
              <a:ext uri="{FF2B5EF4-FFF2-40B4-BE49-F238E27FC236}">
                <a16:creationId xmlns:a16="http://schemas.microsoft.com/office/drawing/2014/main" id="{17B194A6-554D-A3A8-2C92-E9EE1AA81D11}"/>
              </a:ext>
            </a:extLst>
          </p:cNvPr>
          <p:cNvSpPr>
            <a:spLocks noGrp="1"/>
          </p:cNvSpPr>
          <p:nvPr>
            <p:ph type="sldNum" sz="quarter" idx="12"/>
          </p:nvPr>
        </p:nvSpPr>
        <p:spPr/>
        <p:txBody>
          <a:bodyPr rtlCol="0"/>
          <a:lstStyle/>
          <a:p>
            <a:pPr rtl="0"/>
            <a:fld id="{13D2E340-0663-474B-992C-9192B5C45E57}" type="slidenum">
              <a:rPr lang="en-GB" smtClean="0"/>
              <a:t>17</a:t>
            </a:fld>
            <a:endParaRPr lang="en-GB"/>
          </a:p>
        </p:txBody>
      </p:sp>
      <p:sp>
        <p:nvSpPr>
          <p:cNvPr id="41" name="TextBox 40">
            <a:extLst>
              <a:ext uri="{FF2B5EF4-FFF2-40B4-BE49-F238E27FC236}">
                <a16:creationId xmlns:a16="http://schemas.microsoft.com/office/drawing/2014/main" id="{F2C950AF-0AC8-E143-D1B1-76506A358FFE}"/>
              </a:ext>
            </a:extLst>
          </p:cNvPr>
          <p:cNvSpPr txBox="1"/>
          <p:nvPr/>
        </p:nvSpPr>
        <p:spPr>
          <a:xfrm>
            <a:off x="5098473" y="240030"/>
            <a:ext cx="6685538" cy="5398262"/>
          </a:xfrm>
          <a:prstGeom prst="rect">
            <a:avLst/>
          </a:prstGeom>
          <a:noFill/>
        </p:spPr>
        <p:txBody>
          <a:bodyPr wrap="square" rtlCol="0">
            <a:noAutofit/>
          </a:bodyPr>
          <a:lstStyle/>
          <a:p>
            <a:pPr algn="just"/>
            <a:r>
              <a:rPr lang="en-GB" sz="3200" i="1" dirty="0">
                <a:effectLst/>
                <a:latin typeface="Times New Roman" panose="02020603050405020304" pitchFamily="18" charset="0"/>
                <a:ea typeface="PMingLiU" panose="02020500000000000000" pitchFamily="18" charset="-120"/>
              </a:rPr>
              <a:t>When we add all these conditions, are we still identifying a moral reason?</a:t>
            </a:r>
          </a:p>
          <a:p>
            <a:pPr marL="457200" indent="-4572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We are urged to distinguish between</a:t>
            </a:r>
          </a:p>
          <a:p>
            <a:pPr marL="971550" lvl="1" indent="-514350" algn="just">
              <a:buFont typeface="+mj-lt"/>
              <a:buAutoNum type="arabicPeriod"/>
            </a:pPr>
            <a:r>
              <a:rPr lang="en-GB" sz="3200" dirty="0">
                <a:latin typeface="Times New Roman" panose="02020603050405020304" pitchFamily="18" charset="0"/>
                <a:ea typeface="PMingLiU" panose="02020500000000000000" pitchFamily="18" charset="-120"/>
              </a:rPr>
              <a:t>Reasons </a:t>
            </a:r>
          </a:p>
          <a:p>
            <a:pPr marL="1428750" lvl="2" indent="-51435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Considerations that count for or against an action</a:t>
            </a:r>
          </a:p>
          <a:p>
            <a:pPr marL="971550" lvl="1" indent="-514350" algn="just">
              <a:buFont typeface="+mj-lt"/>
              <a:buAutoNum type="arabicPeriod"/>
            </a:pPr>
            <a:r>
              <a:rPr lang="en-GB" sz="3200" dirty="0">
                <a:effectLst/>
                <a:latin typeface="Times New Roman" panose="02020603050405020304" pitchFamily="18" charset="0"/>
                <a:ea typeface="PMingLiU" panose="02020500000000000000" pitchFamily="18" charset="-120"/>
              </a:rPr>
              <a:t>Enablers</a:t>
            </a:r>
          </a:p>
          <a:p>
            <a:pPr marL="1428750" lvl="2" indent="-51435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Conditions that allow a consideration to function as a reason</a:t>
            </a:r>
            <a:endParaRPr lang="en-GB" sz="2800" dirty="0">
              <a:effectLst/>
              <a:latin typeface="Times New Roman" panose="02020603050405020304" pitchFamily="18" charset="0"/>
              <a:ea typeface="PMingLiU" panose="02020500000000000000" pitchFamily="18" charset="-120"/>
            </a:endParaRPr>
          </a:p>
          <a:p>
            <a:pPr marL="971550" lvl="1" indent="-514350" algn="just">
              <a:buFont typeface="+mj-lt"/>
              <a:buAutoNum type="arabicPeriod"/>
            </a:pPr>
            <a:r>
              <a:rPr lang="en-GB" sz="3200" dirty="0">
                <a:latin typeface="Times New Roman" panose="02020603050405020304" pitchFamily="18" charset="0"/>
                <a:ea typeface="PMingLiU" panose="02020500000000000000" pitchFamily="18" charset="-120"/>
              </a:rPr>
              <a:t>Disablers</a:t>
            </a:r>
          </a:p>
          <a:p>
            <a:pPr marL="1428750" lvl="2" indent="-51435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Conditions that prevent a consideration from functioning as a reason</a:t>
            </a:r>
          </a:p>
        </p:txBody>
      </p:sp>
    </p:spTree>
    <p:extLst>
      <p:ext uri="{BB962C8B-B14F-4D97-AF65-F5344CB8AC3E}">
        <p14:creationId xmlns:p14="http://schemas.microsoft.com/office/powerpoint/2010/main" val="358884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DFBC-5DB8-C91D-5915-6FC0C11A2E9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B938555-7366-C047-CD55-58D2608F6A2C}"/>
              </a:ext>
            </a:extLst>
          </p:cNvPr>
          <p:cNvSpPr txBox="1"/>
          <p:nvPr/>
        </p:nvSpPr>
        <p:spPr>
          <a:xfrm>
            <a:off x="5181599" y="655100"/>
            <a:ext cx="6602412" cy="5575012"/>
          </a:xfrm>
          <a:prstGeom prst="rect">
            <a:avLst/>
          </a:prstGeom>
          <a:noFill/>
        </p:spPr>
        <p:txBody>
          <a:bodyPr wrap="square" rtlCol="0">
            <a:noAutofit/>
          </a:bodyPr>
          <a:lstStyle/>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specified principle of promise contains different kinds of things.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reason, if there is one, is simply that I promised.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other conditions are not reasons. They are enablers or disablers. They determine whether the promise functions as a reason at all. </a:t>
            </a:r>
          </a:p>
          <a:p>
            <a:pPr marL="914400" lvl="1"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It would be odd to say: “I should go because my promise was not extracted under duress.”</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1BDBDE3-FB96-0CBE-BCC2-167CCF434650}"/>
              </a:ext>
            </a:extLst>
          </p:cNvPr>
          <p:cNvSpPr>
            <a:spLocks noGrp="1"/>
          </p:cNvSpPr>
          <p:nvPr>
            <p:ph type="sldNum" sz="quarter" idx="12"/>
          </p:nvPr>
        </p:nvSpPr>
        <p:spPr/>
        <p:txBody>
          <a:bodyPr rtlCol="0"/>
          <a:lstStyle/>
          <a:p>
            <a:pPr rtl="0"/>
            <a:fld id="{13D2E340-0663-474B-992C-9192B5C45E57}" type="slidenum">
              <a:rPr lang="en-GB" smtClean="0"/>
              <a:t>18</a:t>
            </a:fld>
            <a:endParaRPr lang="en-GB"/>
          </a:p>
        </p:txBody>
      </p:sp>
      <p:sp>
        <p:nvSpPr>
          <p:cNvPr id="2" name="Title 1">
            <a:extLst>
              <a:ext uri="{FF2B5EF4-FFF2-40B4-BE49-F238E27FC236}">
                <a16:creationId xmlns:a16="http://schemas.microsoft.com/office/drawing/2014/main" id="{99DF9405-A3DC-A9B3-EC6B-5FF2CF48625E}"/>
              </a:ext>
            </a:extLst>
          </p:cNvPr>
          <p:cNvSpPr txBox="1">
            <a:spLocks/>
          </p:cNvSpPr>
          <p:nvPr/>
        </p:nvSpPr>
        <p:spPr>
          <a:xfrm>
            <a:off x="110836" y="887896"/>
            <a:ext cx="4362481"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Particularist Challenge</a:t>
            </a:r>
            <a:endParaRPr lang="en-GB" sz="4000" dirty="0"/>
          </a:p>
        </p:txBody>
      </p:sp>
    </p:spTree>
    <p:extLst>
      <p:ext uri="{BB962C8B-B14F-4D97-AF65-F5344CB8AC3E}">
        <p14:creationId xmlns:p14="http://schemas.microsoft.com/office/powerpoint/2010/main" val="4042176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72589-2F9B-40F3-3772-E6A7AC8E588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B882E51-487D-263E-0AA2-EA5F356A5F11}"/>
              </a:ext>
            </a:extLst>
          </p:cNvPr>
          <p:cNvSpPr txBox="1"/>
          <p:nvPr/>
        </p:nvSpPr>
        <p:spPr>
          <a:xfrm>
            <a:off x="5181599" y="668955"/>
            <a:ext cx="6602412" cy="5575012"/>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cs typeface="Times New Roman" panose="02020603050405020304" pitchFamily="18" charset="0"/>
              </a:rPr>
              <a:t>Holistic Accommodation</a:t>
            </a:r>
          </a:p>
          <a:p>
            <a:pPr marL="571500" indent="-571500">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Accept reasons holism but at the same time insist that </a:t>
            </a:r>
            <a:r>
              <a:rPr lang="en-GB" sz="3600" dirty="0">
                <a:latin typeface="Times New Roman" panose="02020603050405020304" pitchFamily="18" charset="0"/>
                <a:ea typeface="PMingLiU" panose="02020500000000000000" pitchFamily="18" charset="-120"/>
                <a:cs typeface="Times New Roman" panose="02020603050405020304" pitchFamily="18" charset="0"/>
              </a:rPr>
              <a:t>moral principles are possible and useful</a:t>
            </a:r>
          </a:p>
          <a:p>
            <a:pPr marL="742950" indent="-742950">
              <a:buFont typeface="+mj-lt"/>
              <a:buAutoNum type="arabicPeriod"/>
            </a:pPr>
            <a:r>
              <a:rPr lang="en-US" sz="3600" dirty="0">
                <a:latin typeface="Times New Roman" panose="02020603050405020304" pitchFamily="18" charset="0"/>
                <a:ea typeface="PMingLiU" panose="02020500000000000000" pitchFamily="18" charset="-120"/>
                <a:cs typeface="Times New Roman" panose="02020603050405020304" pitchFamily="18" charset="0"/>
              </a:rPr>
              <a:t>Atomistic Generalism</a:t>
            </a:r>
          </a:p>
          <a:p>
            <a:pPr marL="742950" indent="-742950">
              <a:buFont typeface="+mj-lt"/>
              <a:buAutoNum type="arabicPeriod"/>
            </a:pPr>
            <a:r>
              <a:rPr lang="en-US" sz="3600" dirty="0">
                <a:solidFill>
                  <a:srgbClr val="C00000"/>
                </a:solidFill>
                <a:latin typeface="Times New Roman" panose="02020603050405020304" pitchFamily="18" charset="0"/>
                <a:ea typeface="PMingLiU" panose="02020500000000000000" pitchFamily="18" charset="-120"/>
                <a:cs typeface="Times New Roman" panose="02020603050405020304" pitchFamily="18" charset="0"/>
              </a:rPr>
              <a:t>Holistic Generalism</a:t>
            </a:r>
          </a:p>
          <a:p>
            <a:pPr marL="1200150" lvl="1" indent="-742950">
              <a:buFont typeface="Arial" panose="020B0604020202020204" pitchFamily="34" charset="0"/>
              <a:buChar char="•"/>
            </a:pPr>
            <a:r>
              <a:rPr lang="en-US" sz="3600" dirty="0">
                <a:solidFill>
                  <a:srgbClr val="C00000"/>
                </a:solidFill>
                <a:latin typeface="Times New Roman" panose="02020603050405020304" pitchFamily="18" charset="0"/>
                <a:ea typeface="PMingLiU" panose="02020500000000000000" pitchFamily="18" charset="-120"/>
                <a:cs typeface="Times New Roman" panose="02020603050405020304" pitchFamily="18" charset="0"/>
              </a:rPr>
              <a:t>Generic </a:t>
            </a:r>
            <a:r>
              <a:rPr lang="en-US" sz="3600" dirty="0" err="1">
                <a:solidFill>
                  <a:srgbClr val="C00000"/>
                </a:solidFill>
                <a:latin typeface="Times New Roman" panose="02020603050405020304" pitchFamily="18" charset="0"/>
                <a:ea typeface="PMingLiU" panose="02020500000000000000" pitchFamily="18" charset="-120"/>
                <a:cs typeface="Times New Roman" panose="02020603050405020304" pitchFamily="18" charset="0"/>
              </a:rPr>
              <a:t>generalism</a:t>
            </a:r>
            <a:r>
              <a:rPr lang="en-US" sz="3600" dirty="0">
                <a:solidFill>
                  <a:srgbClr val="C00000"/>
                </a:solidFill>
                <a:latin typeface="Times New Roman" panose="02020603050405020304" pitchFamily="18" charset="0"/>
                <a:ea typeface="PMingLiU" panose="02020500000000000000" pitchFamily="18" charset="-120"/>
                <a:cs typeface="Times New Roman" panose="02020603050405020304" pitchFamily="18" charset="0"/>
              </a:rPr>
              <a:t> + Reasons holism</a:t>
            </a:r>
          </a:p>
          <a:p>
            <a:pPr marL="742950" indent="-742950">
              <a:buFont typeface="+mj-lt"/>
              <a:buAutoNum type="arabicPeriod"/>
            </a:pPr>
            <a:r>
              <a:rPr lang="en-US" sz="3600" dirty="0">
                <a:latin typeface="Times New Roman" panose="02020603050405020304" pitchFamily="18" charset="0"/>
                <a:ea typeface="PMingLiU" panose="02020500000000000000" pitchFamily="18" charset="-120"/>
                <a:cs typeface="Times New Roman" panose="02020603050405020304" pitchFamily="18" charset="0"/>
              </a:rPr>
              <a:t>Particularism</a:t>
            </a:r>
          </a:p>
        </p:txBody>
      </p:sp>
      <p:sp>
        <p:nvSpPr>
          <p:cNvPr id="5" name="Slide Number Placeholder 4">
            <a:extLst>
              <a:ext uri="{FF2B5EF4-FFF2-40B4-BE49-F238E27FC236}">
                <a16:creationId xmlns:a16="http://schemas.microsoft.com/office/drawing/2014/main" id="{3E3B391A-84E8-56FB-374B-F504927FD53B}"/>
              </a:ext>
            </a:extLst>
          </p:cNvPr>
          <p:cNvSpPr>
            <a:spLocks noGrp="1"/>
          </p:cNvSpPr>
          <p:nvPr>
            <p:ph type="sldNum" sz="quarter" idx="12"/>
          </p:nvPr>
        </p:nvSpPr>
        <p:spPr/>
        <p:txBody>
          <a:bodyPr rtlCol="0"/>
          <a:lstStyle/>
          <a:p>
            <a:pPr rtl="0"/>
            <a:fld id="{13D2E340-0663-474B-992C-9192B5C45E57}" type="slidenum">
              <a:rPr lang="en-GB" smtClean="0"/>
              <a:t>19</a:t>
            </a:fld>
            <a:endParaRPr lang="en-GB"/>
          </a:p>
        </p:txBody>
      </p:sp>
      <p:sp>
        <p:nvSpPr>
          <p:cNvPr id="2" name="Title 1">
            <a:extLst>
              <a:ext uri="{FF2B5EF4-FFF2-40B4-BE49-F238E27FC236}">
                <a16:creationId xmlns:a16="http://schemas.microsoft.com/office/drawing/2014/main" id="{AEE991F1-942D-9F12-B970-7EA1C12AE200}"/>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Generalist Strategy</a:t>
            </a:r>
          </a:p>
        </p:txBody>
      </p:sp>
    </p:spTree>
    <p:extLst>
      <p:ext uri="{BB962C8B-B14F-4D97-AF65-F5344CB8AC3E}">
        <p14:creationId xmlns:p14="http://schemas.microsoft.com/office/powerpoint/2010/main" val="1755375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24719-513F-4BB9-07DB-974BFC83F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5E812-5B2E-3EBF-6CD1-6FC29E78F111}"/>
              </a:ext>
            </a:extLst>
          </p:cNvPr>
          <p:cNvSpPr>
            <a:spLocks noGrp="1"/>
          </p:cNvSpPr>
          <p:nvPr>
            <p:ph type="title"/>
          </p:nvPr>
        </p:nvSpPr>
        <p:spPr>
          <a:xfrm>
            <a:off x="407989" y="559677"/>
            <a:ext cx="4187917" cy="1918479"/>
          </a:xfrm>
        </p:spPr>
        <p:txBody>
          <a:bodyPr rtlCol="0">
            <a:noAutofit/>
          </a:bodyPr>
          <a:lstStyle/>
          <a:p>
            <a:r>
              <a:rPr lang="en-GB" sz="4400" b="1" dirty="0"/>
              <a:t>Holistic Generalism</a:t>
            </a:r>
            <a:endParaRPr lang="en-GB" sz="4400" dirty="0"/>
          </a:p>
        </p:txBody>
      </p:sp>
      <p:sp>
        <p:nvSpPr>
          <p:cNvPr id="10" name="Slide Number Placeholder 9">
            <a:extLst>
              <a:ext uri="{FF2B5EF4-FFF2-40B4-BE49-F238E27FC236}">
                <a16:creationId xmlns:a16="http://schemas.microsoft.com/office/drawing/2014/main" id="{4368AAD4-CAC2-B65B-CF2D-0AE6E51B5244}"/>
              </a:ext>
            </a:extLst>
          </p:cNvPr>
          <p:cNvSpPr>
            <a:spLocks noGrp="1"/>
          </p:cNvSpPr>
          <p:nvPr>
            <p:ph type="sldNum" sz="quarter" idx="12"/>
          </p:nvPr>
        </p:nvSpPr>
        <p:spPr/>
        <p:txBody>
          <a:bodyPr rtlCol="0"/>
          <a:lstStyle/>
          <a:p>
            <a:pPr rtl="0"/>
            <a:fld id="{13D2E340-0663-474B-992C-9192B5C45E57}" type="slidenum">
              <a:rPr lang="en-GB" smtClean="0"/>
              <a:t>20</a:t>
            </a:fld>
            <a:endParaRPr lang="en-GB" dirty="0"/>
          </a:p>
        </p:txBody>
      </p:sp>
      <p:sp>
        <p:nvSpPr>
          <p:cNvPr id="41" name="TextBox 40">
            <a:extLst>
              <a:ext uri="{FF2B5EF4-FFF2-40B4-BE49-F238E27FC236}">
                <a16:creationId xmlns:a16="http://schemas.microsoft.com/office/drawing/2014/main" id="{BA09B85E-C631-0292-4A98-8F636F22155D}"/>
              </a:ext>
            </a:extLst>
          </p:cNvPr>
          <p:cNvSpPr txBox="1"/>
          <p:nvPr/>
        </p:nvSpPr>
        <p:spPr>
          <a:xfrm>
            <a:off x="5086350" y="182880"/>
            <a:ext cx="6697661" cy="5455412"/>
          </a:xfrm>
          <a:prstGeom prst="rect">
            <a:avLst/>
          </a:prstGeom>
          <a:noFill/>
        </p:spPr>
        <p:txBody>
          <a:bodyPr wrap="square" rtlCol="0">
            <a:noAutofit/>
          </a:bodyPr>
          <a:lstStyle/>
          <a:p>
            <a:pPr algn="just"/>
            <a:r>
              <a:rPr lang="en-US" sz="3600" i="1" dirty="0">
                <a:latin typeface="Times New Roman" panose="02020603050405020304" pitchFamily="18" charset="0"/>
                <a:ea typeface="PMingLiU" panose="02020500000000000000" pitchFamily="18" charset="-120"/>
              </a:rPr>
              <a:t>A holist principle has the following form: </a:t>
            </a:r>
          </a:p>
          <a:p>
            <a:pPr marL="457200"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Feature F counts in a certain way </a:t>
            </a:r>
            <a:r>
              <a:rPr lang="en-GB" sz="2800" dirty="0">
                <a:solidFill>
                  <a:srgbClr val="0070C0"/>
                </a:solidFill>
                <a:effectLst/>
                <a:latin typeface="Times New Roman" panose="02020603050405020304" pitchFamily="18" charset="0"/>
                <a:ea typeface="PMingLiU" panose="02020500000000000000" pitchFamily="18" charset="-120"/>
              </a:rPr>
              <a:t>when the surrounding context allows it to do so, and when no contextual factor silences, reverses, disables, or outweighs it</a:t>
            </a:r>
            <a:r>
              <a:rPr lang="en-GB" sz="2800" dirty="0">
                <a:effectLst/>
                <a:latin typeface="Times New Roman" panose="02020603050405020304" pitchFamily="18" charset="0"/>
                <a:ea typeface="PMingLiU" panose="02020500000000000000" pitchFamily="18" charset="-120"/>
              </a:rPr>
              <a:t>.</a:t>
            </a:r>
          </a:p>
          <a:p>
            <a:pPr marL="457200" indent="-457200" algn="just">
              <a:buFont typeface="Arial" panose="020B0604020202020204" pitchFamily="34" charset="0"/>
              <a:buChar char="•"/>
            </a:pPr>
            <a:r>
              <a:rPr lang="en-GB" sz="2800" dirty="0">
                <a:solidFill>
                  <a:srgbClr val="C00000"/>
                </a:solidFill>
                <a:effectLst/>
                <a:latin typeface="Times New Roman" panose="02020603050405020304" pitchFamily="18" charset="0"/>
                <a:ea typeface="PMingLiU" panose="02020500000000000000" pitchFamily="18" charset="-120"/>
              </a:rPr>
              <a:t>If an action is an instance of killing a rational agent</a:t>
            </a:r>
            <a:r>
              <a:rPr lang="en-GB" sz="2800" dirty="0">
                <a:effectLst/>
                <a:latin typeface="Times New Roman" panose="02020603050405020304" pitchFamily="18" charset="0"/>
                <a:ea typeface="PMingLiU" panose="02020500000000000000" pitchFamily="18" charset="-120"/>
              </a:rPr>
              <a:t>, and </a:t>
            </a:r>
            <a:r>
              <a:rPr lang="en-GB" sz="2800" dirty="0">
                <a:solidFill>
                  <a:srgbClr val="0070C0"/>
                </a:solidFill>
                <a:effectLst/>
                <a:latin typeface="Times New Roman" panose="02020603050405020304" pitchFamily="18" charset="0"/>
                <a:ea typeface="PMingLiU" panose="02020500000000000000" pitchFamily="18" charset="-120"/>
              </a:rPr>
              <a:t>no other feature of the situation explains why this fact fails to be a reason against the action, and no opposing reasons collectively outweigh this reason</a:t>
            </a:r>
            <a:r>
              <a:rPr lang="en-GB" sz="2800" dirty="0">
                <a:effectLst/>
                <a:latin typeface="Times New Roman" panose="02020603050405020304" pitchFamily="18" charset="0"/>
                <a:ea typeface="PMingLiU" panose="02020500000000000000" pitchFamily="18" charset="-120"/>
              </a:rPr>
              <a:t>, </a:t>
            </a:r>
            <a:r>
              <a:rPr lang="en-GB" sz="2800" dirty="0">
                <a:solidFill>
                  <a:srgbClr val="C00000"/>
                </a:solidFill>
                <a:effectLst/>
                <a:latin typeface="Times New Roman" panose="02020603050405020304" pitchFamily="18" charset="0"/>
                <a:ea typeface="PMingLiU" panose="02020500000000000000" pitchFamily="18" charset="-120"/>
              </a:rPr>
              <a:t>then the action is wrong in virtue of being an instance of killing a rational agent</a:t>
            </a:r>
            <a:r>
              <a:rPr lang="en-GB" sz="2800" dirty="0">
                <a:effectLst/>
                <a:latin typeface="Times New Roman" panose="02020603050405020304" pitchFamily="18" charset="0"/>
                <a:ea typeface="PMingLiU" panose="02020500000000000000" pitchFamily="18" charset="-120"/>
              </a:rPr>
              <a:t>.</a:t>
            </a:r>
            <a:endParaRPr lang="en-US" sz="28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048634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98BE-B794-319F-205D-9AD553B1BA9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B200257-6B5A-C064-D738-D67283D68249}"/>
              </a:ext>
            </a:extLst>
          </p:cNvPr>
          <p:cNvSpPr txBox="1"/>
          <p:nvPr/>
        </p:nvSpPr>
        <p:spPr>
          <a:xfrm>
            <a:off x="5181599" y="655100"/>
            <a:ext cx="6602412" cy="5575012"/>
          </a:xfrm>
          <a:prstGeom prst="rect">
            <a:avLst/>
          </a:prstGeom>
          <a:noFill/>
        </p:spPr>
        <p:txBody>
          <a:bodyPr wrap="square" rtlCol="0">
            <a:noAutofit/>
          </a:bodyPr>
          <a:lstStyle/>
          <a:p>
            <a:pPr algn="just"/>
            <a:r>
              <a:rPr lang="en-US" sz="3600" dirty="0">
                <a:latin typeface="Times New Roman" panose="02020603050405020304" pitchFamily="18" charset="0"/>
                <a:ea typeface="PMingLiU" panose="02020500000000000000" pitchFamily="18" charset="-120"/>
                <a:cs typeface="Times New Roman" panose="02020603050405020304" pitchFamily="18" charset="0"/>
              </a:rPr>
              <a:t>Three components: </a:t>
            </a:r>
          </a:p>
          <a:p>
            <a:pPr marL="742950" indent="-742950" algn="just">
              <a:buFont typeface="+mj-lt"/>
              <a:buAutoNum type="arabicPeriod"/>
            </a:pPr>
            <a:r>
              <a:rPr lang="en-US" sz="3200" dirty="0">
                <a:latin typeface="Times New Roman" panose="02020603050405020304" pitchFamily="18" charset="0"/>
                <a:ea typeface="PMingLiU" panose="02020500000000000000" pitchFamily="18" charset="-120"/>
                <a:cs typeface="Times New Roman" panose="02020603050405020304" pitchFamily="18" charset="0"/>
              </a:rPr>
              <a:t>A morally significant feature</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E.g. the action is an instance of killing a rational agent.</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742950" indent="-742950" algn="just">
              <a:buFont typeface="+mj-lt"/>
              <a:buAutoNum type="arabicPeriod"/>
            </a:pPr>
            <a:r>
              <a:rPr lang="en-US" sz="3200" i="1" dirty="0">
                <a:latin typeface="Times New Roman" panose="02020603050405020304" pitchFamily="18" charset="0"/>
                <a:ea typeface="PMingLiU" panose="02020500000000000000" pitchFamily="18" charset="-120"/>
                <a:cs typeface="Times New Roman" panose="02020603050405020304" pitchFamily="18" charset="0"/>
              </a:rPr>
              <a:t>Holism clause</a:t>
            </a:r>
          </a:p>
          <a:p>
            <a:pPr marL="1200150" lvl="1" indent="-7429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Takes potential silencing or reversal into consideration</a:t>
            </a:r>
          </a:p>
          <a:p>
            <a:pPr marL="742950" indent="-742950" algn="just">
              <a:buFont typeface="+mj-lt"/>
              <a:buAutoNum type="arabicPeriod"/>
            </a:pPr>
            <a:r>
              <a:rPr lang="en-US" sz="3200" i="1" dirty="0">
                <a:latin typeface="Times New Roman" panose="02020603050405020304" pitchFamily="18" charset="0"/>
                <a:ea typeface="PMingLiU" panose="02020500000000000000" pitchFamily="18" charset="-120"/>
                <a:cs typeface="Times New Roman" panose="02020603050405020304" pitchFamily="18" charset="0"/>
              </a:rPr>
              <a:t>Overriding clause</a:t>
            </a:r>
          </a:p>
          <a:p>
            <a:pPr marL="1200150" lvl="1" indent="-7429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Allows for ordinary moral conflict</a:t>
            </a:r>
          </a:p>
          <a:p>
            <a:pPr marL="742950" indent="-742950" algn="just">
              <a:buFont typeface="Arial" panose="020B0604020202020204" pitchFamily="34" charset="0"/>
              <a:buChar char="•"/>
            </a:pPr>
            <a:r>
              <a:rPr lang="en-US" sz="3200" i="1" dirty="0">
                <a:latin typeface="Times New Roman" panose="02020603050405020304" pitchFamily="18" charset="0"/>
                <a:ea typeface="PMingLiU" panose="02020500000000000000" pitchFamily="18" charset="-120"/>
                <a:cs typeface="Times New Roman" panose="02020603050405020304" pitchFamily="18" charset="0"/>
              </a:rPr>
              <a:t>Double Defeasibility</a:t>
            </a:r>
          </a:p>
        </p:txBody>
      </p:sp>
      <p:sp>
        <p:nvSpPr>
          <p:cNvPr id="5" name="Slide Number Placeholder 4">
            <a:extLst>
              <a:ext uri="{FF2B5EF4-FFF2-40B4-BE49-F238E27FC236}">
                <a16:creationId xmlns:a16="http://schemas.microsoft.com/office/drawing/2014/main" id="{88369E58-58A3-E899-5489-A7CA537A56CE}"/>
              </a:ext>
            </a:extLst>
          </p:cNvPr>
          <p:cNvSpPr>
            <a:spLocks noGrp="1"/>
          </p:cNvSpPr>
          <p:nvPr>
            <p:ph type="sldNum" sz="quarter" idx="12"/>
          </p:nvPr>
        </p:nvSpPr>
        <p:spPr/>
        <p:txBody>
          <a:bodyPr rtlCol="0"/>
          <a:lstStyle/>
          <a:p>
            <a:pPr rtl="0"/>
            <a:fld id="{13D2E340-0663-474B-992C-9192B5C45E57}" type="slidenum">
              <a:rPr lang="en-GB" smtClean="0"/>
              <a:t>21</a:t>
            </a:fld>
            <a:endParaRPr lang="en-GB" dirty="0"/>
          </a:p>
        </p:txBody>
      </p:sp>
      <p:sp>
        <p:nvSpPr>
          <p:cNvPr id="2" name="Title 1">
            <a:extLst>
              <a:ext uri="{FF2B5EF4-FFF2-40B4-BE49-F238E27FC236}">
                <a16:creationId xmlns:a16="http://schemas.microsoft.com/office/drawing/2014/main" id="{C175F018-B928-4DB2-780C-C4B23669F106}"/>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Holistic Generalism</a:t>
            </a:r>
            <a:endParaRPr lang="en-GB" sz="4000" dirty="0"/>
          </a:p>
        </p:txBody>
      </p:sp>
    </p:spTree>
    <p:extLst>
      <p:ext uri="{BB962C8B-B14F-4D97-AF65-F5344CB8AC3E}">
        <p14:creationId xmlns:p14="http://schemas.microsoft.com/office/powerpoint/2010/main" val="172242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414D-715C-E56A-ACE1-04FCDA24E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6A713-D3E8-7324-7275-B0002F681F63}"/>
              </a:ext>
            </a:extLst>
          </p:cNvPr>
          <p:cNvSpPr>
            <a:spLocks noGrp="1"/>
          </p:cNvSpPr>
          <p:nvPr>
            <p:ph type="title"/>
          </p:nvPr>
        </p:nvSpPr>
        <p:spPr>
          <a:xfrm>
            <a:off x="407989" y="559677"/>
            <a:ext cx="4187917" cy="1918479"/>
          </a:xfrm>
        </p:spPr>
        <p:txBody>
          <a:bodyPr rtlCol="0">
            <a:noAutofit/>
          </a:bodyPr>
          <a:lstStyle/>
          <a:p>
            <a:r>
              <a:rPr lang="en-GB" sz="4000" b="1" dirty="0"/>
              <a:t>Holistic Generalism</a:t>
            </a:r>
            <a:endParaRPr lang="en-GB" sz="4000" dirty="0"/>
          </a:p>
        </p:txBody>
      </p:sp>
      <p:sp>
        <p:nvSpPr>
          <p:cNvPr id="10" name="Slide Number Placeholder 9">
            <a:extLst>
              <a:ext uri="{FF2B5EF4-FFF2-40B4-BE49-F238E27FC236}">
                <a16:creationId xmlns:a16="http://schemas.microsoft.com/office/drawing/2014/main" id="{17F62A4A-BFF2-83E9-47C7-B9057F6CCDB4}"/>
              </a:ext>
            </a:extLst>
          </p:cNvPr>
          <p:cNvSpPr>
            <a:spLocks noGrp="1"/>
          </p:cNvSpPr>
          <p:nvPr>
            <p:ph type="sldNum" sz="quarter" idx="12"/>
          </p:nvPr>
        </p:nvSpPr>
        <p:spPr/>
        <p:txBody>
          <a:bodyPr rtlCol="0"/>
          <a:lstStyle/>
          <a:p>
            <a:pPr rtl="0"/>
            <a:fld id="{13D2E340-0663-474B-992C-9192B5C45E57}" type="slidenum">
              <a:rPr lang="en-GB" smtClean="0"/>
              <a:t>22</a:t>
            </a:fld>
            <a:endParaRPr lang="en-GB" dirty="0"/>
          </a:p>
        </p:txBody>
      </p:sp>
      <p:sp>
        <p:nvSpPr>
          <p:cNvPr id="41" name="TextBox 40">
            <a:extLst>
              <a:ext uri="{FF2B5EF4-FFF2-40B4-BE49-F238E27FC236}">
                <a16:creationId xmlns:a16="http://schemas.microsoft.com/office/drawing/2014/main" id="{4BC1FA5A-6028-034D-88BC-672E625D92A8}"/>
              </a:ext>
            </a:extLst>
          </p:cNvPr>
          <p:cNvSpPr txBox="1"/>
          <p:nvPr/>
        </p:nvSpPr>
        <p:spPr>
          <a:xfrm>
            <a:off x="5181599" y="559678"/>
            <a:ext cx="6602412" cy="5841122"/>
          </a:xfrm>
          <a:prstGeom prst="rect">
            <a:avLst/>
          </a:prstGeom>
          <a:noFill/>
        </p:spPr>
        <p:txBody>
          <a:bodyPr wrap="square" rtlCol="0">
            <a:noAutofit/>
          </a:bodyPr>
          <a:lstStyle/>
          <a:p>
            <a:pPr algn="just"/>
            <a:r>
              <a:rPr lang="en-GB" sz="3600" i="1" dirty="0">
                <a:latin typeface="Times New Roman" panose="02020603050405020304" pitchFamily="18" charset="0"/>
                <a:ea typeface="PMingLiU" panose="02020500000000000000" pitchFamily="18" charset="-120"/>
              </a:rPr>
              <a:t>W</a:t>
            </a:r>
            <a:r>
              <a:rPr lang="en-GB" sz="3600" i="1" dirty="0">
                <a:effectLst/>
                <a:latin typeface="Times New Roman" panose="02020603050405020304" pitchFamily="18" charset="0"/>
                <a:ea typeface="PMingLiU" panose="02020500000000000000" pitchFamily="18" charset="-120"/>
              </a:rPr>
              <a:t>hy is it not just particularism?</a:t>
            </a:r>
          </a:p>
          <a:p>
            <a:pPr marL="571500" indent="-57150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Principles still play an explanatory role. </a:t>
            </a:r>
          </a:p>
          <a:p>
            <a:pPr marL="571500" indent="-5715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The principle-based explanation works by </a:t>
            </a:r>
            <a:r>
              <a:rPr lang="en-US" sz="3200" i="1" dirty="0">
                <a:latin typeface="Times New Roman" panose="02020603050405020304" pitchFamily="18" charset="0"/>
                <a:ea typeface="PMingLiU" panose="02020500000000000000" pitchFamily="18" charset="-120"/>
              </a:rPr>
              <a:t>subsumption</a:t>
            </a:r>
            <a:r>
              <a:rPr lang="en-US" sz="3200" dirty="0">
                <a:latin typeface="Times New Roman" panose="02020603050405020304" pitchFamily="18" charset="0"/>
                <a:ea typeface="PMingLiU" panose="02020500000000000000" pitchFamily="18" charset="-120"/>
              </a:rPr>
              <a:t>. </a:t>
            </a:r>
          </a:p>
          <a:p>
            <a:pPr marL="571500" indent="-57150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For the particularist, </a:t>
            </a:r>
            <a:r>
              <a:rPr lang="en-GB" sz="3200" dirty="0">
                <a:latin typeface="Times New Roman" panose="02020603050405020304" pitchFamily="18" charset="0"/>
                <a:ea typeface="PMingLiU" panose="02020500000000000000" pitchFamily="18" charset="-120"/>
              </a:rPr>
              <a:t>t</a:t>
            </a:r>
            <a:r>
              <a:rPr lang="en-GB" sz="3200" dirty="0">
                <a:effectLst/>
                <a:latin typeface="Times New Roman" panose="02020603050405020304" pitchFamily="18" charset="0"/>
                <a:ea typeface="PMingLiU" panose="02020500000000000000" pitchFamily="18" charset="-120"/>
              </a:rPr>
              <a:t>o explain why an action is wrong is to show how the morally relevant features of this concrete situation add up here – the explanation works by </a:t>
            </a:r>
            <a:r>
              <a:rPr lang="en-GB" sz="3200" i="1" dirty="0">
                <a:effectLst/>
                <a:latin typeface="Times New Roman" panose="02020603050405020304" pitchFamily="18" charset="0"/>
                <a:ea typeface="PMingLiU" panose="02020500000000000000" pitchFamily="18" charset="-120"/>
              </a:rPr>
              <a:t>narration</a:t>
            </a:r>
            <a:r>
              <a:rPr lang="en-GB" sz="3200" dirty="0">
                <a:effectLst/>
                <a:latin typeface="Times New Roman" panose="02020603050405020304" pitchFamily="18" charset="0"/>
                <a:ea typeface="PMingLiU" panose="02020500000000000000" pitchFamily="18" charset="-120"/>
              </a:rPr>
              <a:t>. </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526700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00AA8-BE57-621D-57E0-D2E964E3CB8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1415C95-6DF2-7F59-AE2C-91C7B2111771}"/>
              </a:ext>
            </a:extLst>
          </p:cNvPr>
          <p:cNvSpPr txBox="1"/>
          <p:nvPr/>
        </p:nvSpPr>
        <p:spPr>
          <a:xfrm>
            <a:off x="5181599" y="540327"/>
            <a:ext cx="6602412" cy="5689785"/>
          </a:xfrm>
          <a:prstGeom prst="rect">
            <a:avLst/>
          </a:prstGeom>
          <a:noFill/>
        </p:spPr>
        <p:txBody>
          <a:bodyPr wrap="square" rtlCol="0">
            <a:noAutofit/>
          </a:bodyPr>
          <a:lstStyle/>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HG suggests an important consequence: </a:t>
            </a:r>
            <a:r>
              <a:rPr lang="en-US" sz="3200" i="1" dirty="0">
                <a:latin typeface="Times New Roman" panose="02020603050405020304" pitchFamily="18" charset="0"/>
                <a:ea typeface="PMingLiU" panose="02020500000000000000" pitchFamily="18" charset="-120"/>
                <a:cs typeface="Times New Roman" panose="02020603050405020304" pitchFamily="18" charset="0"/>
              </a:rPr>
              <a:t>RH does not entail PE.  </a:t>
            </a:r>
          </a:p>
          <a:p>
            <a:pPr marL="457200" indent="-457200" algn="just">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The particularist needs a stronger argument to show that</a:t>
            </a:r>
          </a:p>
          <a:p>
            <a:pPr marL="914400" lvl="1" indent="-457200" algn="just">
              <a:buFont typeface="Arial" panose="020B0604020202020204" pitchFamily="34" charset="0"/>
              <a:buChar char="•"/>
            </a:pPr>
            <a:r>
              <a:rPr lang="en-GB" sz="3200" i="1" dirty="0">
                <a:latin typeface="Times New Roman" panose="02020603050405020304" pitchFamily="18" charset="0"/>
                <a:cs typeface="Times New Roman" panose="02020603050405020304" pitchFamily="18" charset="0"/>
              </a:rPr>
              <a:t>Moral explanation does not need principles even when principles are made holistic.</a:t>
            </a:r>
          </a:p>
          <a:p>
            <a:pPr marL="457200" indent="-457200" algn="just">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Principle eliminativism does not necessarily mean that no moral generalization is ever true.</a:t>
            </a:r>
          </a:p>
          <a:p>
            <a:pPr marL="914400" lvl="1" indent="-457200" algn="just">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4A0F1AB-AEFE-B751-9452-882C92B9FE4A}"/>
              </a:ext>
            </a:extLst>
          </p:cNvPr>
          <p:cNvSpPr>
            <a:spLocks noGrp="1"/>
          </p:cNvSpPr>
          <p:nvPr>
            <p:ph type="sldNum" sz="quarter" idx="12"/>
          </p:nvPr>
        </p:nvSpPr>
        <p:spPr/>
        <p:txBody>
          <a:bodyPr rtlCol="0"/>
          <a:lstStyle/>
          <a:p>
            <a:pPr rtl="0"/>
            <a:fld id="{13D2E340-0663-474B-992C-9192B5C45E57}" type="slidenum">
              <a:rPr lang="en-GB" smtClean="0"/>
              <a:t>23</a:t>
            </a:fld>
            <a:endParaRPr lang="en-GB" dirty="0"/>
          </a:p>
        </p:txBody>
      </p:sp>
      <p:sp>
        <p:nvSpPr>
          <p:cNvPr id="2" name="Title 1">
            <a:extLst>
              <a:ext uri="{FF2B5EF4-FFF2-40B4-BE49-F238E27FC236}">
                <a16:creationId xmlns:a16="http://schemas.microsoft.com/office/drawing/2014/main" id="{93E3809B-CDAE-1D18-CDA3-3F698A2930FB}"/>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The Particularist Claim</a:t>
            </a:r>
            <a:endParaRPr lang="en-GB" sz="4000" dirty="0"/>
          </a:p>
        </p:txBody>
      </p:sp>
    </p:spTree>
    <p:extLst>
      <p:ext uri="{BB962C8B-B14F-4D97-AF65-F5344CB8AC3E}">
        <p14:creationId xmlns:p14="http://schemas.microsoft.com/office/powerpoint/2010/main" val="1991936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A174-2880-6B73-54AD-11C5FE367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DD216-1E01-A39E-5852-C5D66B6B19E3}"/>
              </a:ext>
            </a:extLst>
          </p:cNvPr>
          <p:cNvSpPr>
            <a:spLocks noGrp="1"/>
          </p:cNvSpPr>
          <p:nvPr>
            <p:ph type="title"/>
          </p:nvPr>
        </p:nvSpPr>
        <p:spPr>
          <a:xfrm>
            <a:off x="407989" y="559677"/>
            <a:ext cx="4187917" cy="1892578"/>
          </a:xfrm>
        </p:spPr>
        <p:txBody>
          <a:bodyPr rtlCol="0">
            <a:noAutofit/>
          </a:bodyPr>
          <a:lstStyle/>
          <a:p>
            <a:r>
              <a:rPr lang="en-GB" sz="4400" b="1" dirty="0"/>
              <a:t>The Particularist Claim</a:t>
            </a:r>
            <a:endParaRPr lang="en-GB" sz="4400" dirty="0"/>
          </a:p>
        </p:txBody>
      </p:sp>
      <p:sp>
        <p:nvSpPr>
          <p:cNvPr id="10" name="Slide Number Placeholder 9">
            <a:extLst>
              <a:ext uri="{FF2B5EF4-FFF2-40B4-BE49-F238E27FC236}">
                <a16:creationId xmlns:a16="http://schemas.microsoft.com/office/drawing/2014/main" id="{9C156B6D-1AF2-6CDC-2D05-6001E1DE7597}"/>
              </a:ext>
            </a:extLst>
          </p:cNvPr>
          <p:cNvSpPr>
            <a:spLocks noGrp="1"/>
          </p:cNvSpPr>
          <p:nvPr>
            <p:ph type="sldNum" sz="quarter" idx="12"/>
          </p:nvPr>
        </p:nvSpPr>
        <p:spPr/>
        <p:txBody>
          <a:bodyPr rtlCol="0"/>
          <a:lstStyle/>
          <a:p>
            <a:pPr rtl="0"/>
            <a:fld id="{13D2E340-0663-474B-992C-9192B5C45E57}" type="slidenum">
              <a:rPr lang="en-GB" smtClean="0"/>
              <a:t>24</a:t>
            </a:fld>
            <a:endParaRPr lang="en-GB" dirty="0"/>
          </a:p>
        </p:txBody>
      </p:sp>
      <p:sp>
        <p:nvSpPr>
          <p:cNvPr id="41" name="TextBox 40">
            <a:extLst>
              <a:ext uri="{FF2B5EF4-FFF2-40B4-BE49-F238E27FC236}">
                <a16:creationId xmlns:a16="http://schemas.microsoft.com/office/drawing/2014/main" id="{4DDA981B-F1F8-D6CC-6E8A-EDB0FDA8FAE1}"/>
              </a:ext>
            </a:extLst>
          </p:cNvPr>
          <p:cNvSpPr txBox="1"/>
          <p:nvPr/>
        </p:nvSpPr>
        <p:spPr>
          <a:xfrm>
            <a:off x="5074920" y="331470"/>
            <a:ext cx="6709091" cy="5306822"/>
          </a:xfrm>
          <a:prstGeom prst="rect">
            <a:avLst/>
          </a:prstGeom>
          <a:noFill/>
        </p:spPr>
        <p:txBody>
          <a:bodyPr wrap="square" rtlCol="0">
            <a:noAutofit/>
          </a:bodyPr>
          <a:lstStyle/>
          <a:p>
            <a:pPr marL="514350" indent="-51435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The particularist need not deny the truth of moral generalizations. </a:t>
            </a:r>
          </a:p>
          <a:p>
            <a:pPr marL="514350" indent="-51435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But they are not the foundation of moral explanation. The practical consequence </a:t>
            </a:r>
            <a:r>
              <a:rPr lang="en-GB" sz="3200" dirty="0">
                <a:latin typeface="Times New Roman" panose="02020603050405020304" pitchFamily="18" charset="0"/>
                <a:ea typeface="PMingLiU" panose="02020500000000000000" pitchFamily="18" charset="-120"/>
              </a:rPr>
              <a:t>of this thesis is </a:t>
            </a:r>
            <a:r>
              <a:rPr lang="en-GB" sz="3200" i="1" dirty="0">
                <a:latin typeface="Times New Roman" panose="02020603050405020304" pitchFamily="18" charset="0"/>
                <a:ea typeface="PMingLiU" panose="02020500000000000000" pitchFamily="18" charset="-120"/>
              </a:rPr>
              <a:t>Principle Abstinence</a:t>
            </a:r>
            <a:r>
              <a:rPr lang="en-GB" sz="3200" dirty="0">
                <a:latin typeface="Times New Roman" panose="02020603050405020304" pitchFamily="18" charset="0"/>
                <a:ea typeface="PMingLiU" panose="02020500000000000000" pitchFamily="18" charset="-120"/>
              </a:rPr>
              <a:t>.</a:t>
            </a:r>
          </a:p>
          <a:p>
            <a:pPr marL="514350" indent="-514350" algn="just">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The reason for PA is that principles can distort attention and cause premature closure. </a:t>
            </a:r>
          </a:p>
          <a:p>
            <a:pPr marL="514350" indent="-514350" algn="just">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Moral deliberation requires sustained attention to the particulars.</a:t>
            </a:r>
          </a:p>
          <a:p>
            <a:pPr marL="514350" indent="-514350" algn="just">
              <a:buFont typeface="Arial" panose="020B0604020202020204" pitchFamily="34" charset="0"/>
              <a:buChar char="•"/>
            </a:pPr>
            <a:endParaRPr lang="en-GB"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05634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6D0D-600A-0112-F7A0-4CF90E6F977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894652-CDCB-4CD6-B47F-E700A6805800}"/>
              </a:ext>
            </a:extLst>
          </p:cNvPr>
          <p:cNvSpPr txBox="1"/>
          <p:nvPr/>
        </p:nvSpPr>
        <p:spPr>
          <a:xfrm>
            <a:off x="5181599" y="320040"/>
            <a:ext cx="6602412" cy="5910072"/>
          </a:xfrm>
          <a:prstGeom prst="rect">
            <a:avLst/>
          </a:prstGeom>
          <a:noFill/>
        </p:spPr>
        <p:txBody>
          <a:bodyPr wrap="square" rtlCol="0">
            <a:noAutofit/>
          </a:bodyPr>
          <a:lstStyle/>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Principles can be useful in offering guidance. </a:t>
            </a:r>
          </a:p>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In professional ethics, they may even be (practically) necessary: </a:t>
            </a:r>
          </a:p>
          <a:p>
            <a:pPr marL="914400" lvl="1"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Medical ethics: </a:t>
            </a:r>
            <a:r>
              <a:rPr lang="en-GB" sz="3200" dirty="0">
                <a:latin typeface="Times New Roman" panose="02020603050405020304" pitchFamily="18" charset="0"/>
                <a:ea typeface="PMingLiU" panose="02020500000000000000" pitchFamily="18" charset="-120"/>
                <a:cs typeface="Times New Roman" panose="02020603050405020304" pitchFamily="18" charset="0"/>
              </a:rPr>
              <a:t>informed consent, non-maleficence, confidentiality, and respect for patient autonomy</a:t>
            </a:r>
          </a:p>
          <a:p>
            <a:pPr marL="914400" lvl="1"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Public servants: fairness, accountability, transparency, and integrity</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But they should not replace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discernment</a:t>
            </a:r>
            <a:r>
              <a:rPr lang="en-GB" sz="3200" dirty="0">
                <a:latin typeface="Times New Roman" panose="02020603050405020304" pitchFamily="18" charset="0"/>
                <a:ea typeface="PMingLiU" panose="02020500000000000000" pitchFamily="18" charset="-120"/>
                <a:cs typeface="Times New Roman" panose="02020603050405020304" pitchFamily="18" charset="0"/>
              </a:rPr>
              <a:t>.</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6148F84-2FF2-CCEA-DAEC-AF2EB71019EF}"/>
              </a:ext>
            </a:extLst>
          </p:cNvPr>
          <p:cNvSpPr>
            <a:spLocks noGrp="1"/>
          </p:cNvSpPr>
          <p:nvPr>
            <p:ph type="sldNum" sz="quarter" idx="12"/>
          </p:nvPr>
        </p:nvSpPr>
        <p:spPr/>
        <p:txBody>
          <a:bodyPr rtlCol="0"/>
          <a:lstStyle/>
          <a:p>
            <a:pPr rtl="0"/>
            <a:fld id="{13D2E340-0663-474B-992C-9192B5C45E57}" type="slidenum">
              <a:rPr lang="en-GB" smtClean="0"/>
              <a:t>25</a:t>
            </a:fld>
            <a:endParaRPr lang="en-GB" dirty="0"/>
          </a:p>
        </p:txBody>
      </p:sp>
      <p:sp>
        <p:nvSpPr>
          <p:cNvPr id="2" name="Title 1">
            <a:extLst>
              <a:ext uri="{FF2B5EF4-FFF2-40B4-BE49-F238E27FC236}">
                <a16:creationId xmlns:a16="http://schemas.microsoft.com/office/drawing/2014/main" id="{1D446761-010A-D7FF-0050-18DF2BD68B28}"/>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The Particularist Claim</a:t>
            </a:r>
            <a:endParaRPr lang="en-GB" sz="4000" dirty="0"/>
          </a:p>
        </p:txBody>
      </p:sp>
    </p:spTree>
    <p:extLst>
      <p:ext uri="{BB962C8B-B14F-4D97-AF65-F5344CB8AC3E}">
        <p14:creationId xmlns:p14="http://schemas.microsoft.com/office/powerpoint/2010/main" val="2159137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AF69-EF92-A989-D249-BD0ADAFA3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F2C35-2C37-52D2-03E5-97E16894F68A}"/>
              </a:ext>
            </a:extLst>
          </p:cNvPr>
          <p:cNvSpPr>
            <a:spLocks noGrp="1"/>
          </p:cNvSpPr>
          <p:nvPr>
            <p:ph type="title"/>
          </p:nvPr>
        </p:nvSpPr>
        <p:spPr>
          <a:xfrm>
            <a:off x="407989" y="559677"/>
            <a:ext cx="4187917" cy="1706445"/>
          </a:xfrm>
        </p:spPr>
        <p:txBody>
          <a:bodyPr rtlCol="0">
            <a:noAutofit/>
          </a:bodyPr>
          <a:lstStyle/>
          <a:p>
            <a:r>
              <a:rPr lang="en-GB" sz="4000" b="1" dirty="0"/>
              <a:t>The Particularist Claim</a:t>
            </a:r>
            <a:endParaRPr lang="en-GB" sz="4000" dirty="0"/>
          </a:p>
        </p:txBody>
      </p:sp>
      <p:sp>
        <p:nvSpPr>
          <p:cNvPr id="10" name="Slide Number Placeholder 9">
            <a:extLst>
              <a:ext uri="{FF2B5EF4-FFF2-40B4-BE49-F238E27FC236}">
                <a16:creationId xmlns:a16="http://schemas.microsoft.com/office/drawing/2014/main" id="{95A66023-CED3-7CCB-6816-AA7915488567}"/>
              </a:ext>
            </a:extLst>
          </p:cNvPr>
          <p:cNvSpPr>
            <a:spLocks noGrp="1"/>
          </p:cNvSpPr>
          <p:nvPr>
            <p:ph type="sldNum" sz="quarter" idx="12"/>
          </p:nvPr>
        </p:nvSpPr>
        <p:spPr/>
        <p:txBody>
          <a:bodyPr rtlCol="0"/>
          <a:lstStyle/>
          <a:p>
            <a:pPr rtl="0"/>
            <a:fld id="{13D2E340-0663-474B-992C-9192B5C45E57}" type="slidenum">
              <a:rPr lang="en-GB" smtClean="0"/>
              <a:t>26</a:t>
            </a:fld>
            <a:endParaRPr lang="en-GB" dirty="0"/>
          </a:p>
        </p:txBody>
      </p:sp>
      <p:sp>
        <p:nvSpPr>
          <p:cNvPr id="41" name="TextBox 40">
            <a:extLst>
              <a:ext uri="{FF2B5EF4-FFF2-40B4-BE49-F238E27FC236}">
                <a16:creationId xmlns:a16="http://schemas.microsoft.com/office/drawing/2014/main" id="{7C8E0873-D925-7E66-BDEC-D55B614BCD7B}"/>
              </a:ext>
            </a:extLst>
          </p:cNvPr>
          <p:cNvSpPr txBox="1"/>
          <p:nvPr/>
        </p:nvSpPr>
        <p:spPr>
          <a:xfrm>
            <a:off x="5181599" y="559678"/>
            <a:ext cx="6602412" cy="5078614"/>
          </a:xfrm>
          <a:prstGeom prst="rect">
            <a:avLst/>
          </a:prstGeom>
          <a:noFill/>
        </p:spPr>
        <p:txBody>
          <a:bodyPr wrap="square" rtlCol="0">
            <a:noAutofit/>
          </a:bodyPr>
          <a:lstStyle/>
          <a:p>
            <a:pPr algn="just"/>
            <a:r>
              <a:rPr lang="en-US" sz="3200" i="1" dirty="0">
                <a:effectLst/>
                <a:latin typeface="Times New Roman" panose="02020603050405020304" pitchFamily="18" charset="0"/>
                <a:ea typeface="PMingLiU" panose="02020500000000000000" pitchFamily="18" charset="-120"/>
              </a:rPr>
              <a:t>Moral Discernment</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a:t>
            </a:r>
            <a:r>
              <a:rPr lang="en-GB" sz="3200" dirty="0">
                <a:effectLst/>
                <a:latin typeface="Times New Roman" panose="02020603050405020304" pitchFamily="18" charset="0"/>
                <a:ea typeface="PMingLiU" panose="02020500000000000000" pitchFamily="18" charset="-120"/>
              </a:rPr>
              <a:t> trained capacity to notice morally relevant features and understand their relations</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D</a:t>
            </a:r>
            <a:r>
              <a:rPr lang="en-GB" sz="3200" dirty="0">
                <a:effectLst/>
                <a:latin typeface="Times New Roman" panose="02020603050405020304" pitchFamily="18" charset="0"/>
                <a:ea typeface="PMingLiU" panose="02020500000000000000" pitchFamily="18" charset="-120"/>
              </a:rPr>
              <a:t>eveloped through experience, comparison, reflection, and moral education</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M</a:t>
            </a:r>
            <a:r>
              <a:rPr lang="en-GB" sz="3200" dirty="0">
                <a:effectLst/>
                <a:latin typeface="Times New Roman" panose="02020603050405020304" pitchFamily="18" charset="0"/>
                <a:ea typeface="PMingLiU" panose="02020500000000000000" pitchFamily="18" charset="-120"/>
              </a:rPr>
              <a:t>oral particularism does not reject moral learning.</a:t>
            </a:r>
          </a:p>
          <a:p>
            <a:pPr marL="457200" indent="-4572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Particularist model: learn patterns of relevance from cases</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962417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7816-E0AB-E870-B44F-543D422C7D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563C60A-CA9A-1ABC-1DBB-5F9FB8B5D67A}"/>
              </a:ext>
            </a:extLst>
          </p:cNvPr>
          <p:cNvSpPr txBox="1"/>
          <p:nvPr/>
        </p:nvSpPr>
        <p:spPr>
          <a:xfrm>
            <a:off x="5181599" y="320040"/>
            <a:ext cx="6602412" cy="5910072"/>
          </a:xfrm>
          <a:prstGeom prst="rect">
            <a:avLst/>
          </a:prstGeom>
          <a:noFill/>
        </p:spPr>
        <p:txBody>
          <a:bodyPr wrap="square" rtlCol="0">
            <a:noAutofit/>
          </a:bodyPr>
          <a:lstStyle/>
          <a:p>
            <a:pPr algn="just"/>
            <a:r>
              <a:rPr lang="en-US" sz="3200" i="1" dirty="0">
                <a:latin typeface="Times New Roman" panose="02020603050405020304" pitchFamily="18" charset="0"/>
                <a:ea typeface="PMingLiU" panose="02020500000000000000" pitchFamily="18" charset="-120"/>
                <a:cs typeface="Times New Roman" panose="02020603050405020304" pitchFamily="18" charset="0"/>
              </a:rPr>
              <a:t>Practical Grammar</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In learning a language, we do not always learn a single definition that can be applied mechanically.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We learn how the word is used across contexts. We learn its grammar, tone, boundaries, and flexibility etc.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Moral concepts may work similarly.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We recognize obvious cruelty, subtle cruelty, justified harshness that is not cruelty, apparent kindness that is actually cruel, and so on.</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195CC8E-3EEC-A88F-297D-A5FD35B4DA5F}"/>
              </a:ext>
            </a:extLst>
          </p:cNvPr>
          <p:cNvSpPr>
            <a:spLocks noGrp="1"/>
          </p:cNvSpPr>
          <p:nvPr>
            <p:ph type="sldNum" sz="quarter" idx="12"/>
          </p:nvPr>
        </p:nvSpPr>
        <p:spPr/>
        <p:txBody>
          <a:bodyPr rtlCol="0"/>
          <a:lstStyle/>
          <a:p>
            <a:pPr rtl="0"/>
            <a:fld id="{13D2E340-0663-474B-992C-9192B5C45E57}" type="slidenum">
              <a:rPr lang="en-GB" smtClean="0"/>
              <a:t>27</a:t>
            </a:fld>
            <a:endParaRPr lang="en-GB" dirty="0"/>
          </a:p>
        </p:txBody>
      </p:sp>
      <p:sp>
        <p:nvSpPr>
          <p:cNvPr id="2" name="Title 1">
            <a:extLst>
              <a:ext uri="{FF2B5EF4-FFF2-40B4-BE49-F238E27FC236}">
                <a16:creationId xmlns:a16="http://schemas.microsoft.com/office/drawing/2014/main" id="{F67192FC-D4B8-2745-DFB9-E0AC60EE0F04}"/>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The Particularist Claim</a:t>
            </a:r>
            <a:endParaRPr lang="en-GB" sz="4000" dirty="0"/>
          </a:p>
        </p:txBody>
      </p:sp>
    </p:spTree>
    <p:extLst>
      <p:ext uri="{BB962C8B-B14F-4D97-AF65-F5344CB8AC3E}">
        <p14:creationId xmlns:p14="http://schemas.microsoft.com/office/powerpoint/2010/main" val="1101106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2682-C774-B0AE-9811-53ABEC8EA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3B464-C9FA-ED0B-5B9E-678B59964BDB}"/>
              </a:ext>
            </a:extLst>
          </p:cNvPr>
          <p:cNvSpPr>
            <a:spLocks noGrp="1"/>
          </p:cNvSpPr>
          <p:nvPr>
            <p:ph type="title"/>
          </p:nvPr>
        </p:nvSpPr>
        <p:spPr>
          <a:xfrm>
            <a:off x="407989" y="559677"/>
            <a:ext cx="4187917" cy="1706445"/>
          </a:xfrm>
        </p:spPr>
        <p:txBody>
          <a:bodyPr rtlCol="0">
            <a:noAutofit/>
          </a:bodyPr>
          <a:lstStyle/>
          <a:p>
            <a:r>
              <a:rPr lang="en-GB" sz="4000" b="1" dirty="0"/>
              <a:t>The Particularist Claim</a:t>
            </a:r>
            <a:endParaRPr lang="en-GB" sz="4000" dirty="0"/>
          </a:p>
        </p:txBody>
      </p:sp>
      <p:sp>
        <p:nvSpPr>
          <p:cNvPr id="10" name="Slide Number Placeholder 9">
            <a:extLst>
              <a:ext uri="{FF2B5EF4-FFF2-40B4-BE49-F238E27FC236}">
                <a16:creationId xmlns:a16="http://schemas.microsoft.com/office/drawing/2014/main" id="{9F3D3D0A-B9B8-8685-0CB0-1524060CFFAE}"/>
              </a:ext>
            </a:extLst>
          </p:cNvPr>
          <p:cNvSpPr>
            <a:spLocks noGrp="1"/>
          </p:cNvSpPr>
          <p:nvPr>
            <p:ph type="sldNum" sz="quarter" idx="12"/>
          </p:nvPr>
        </p:nvSpPr>
        <p:spPr/>
        <p:txBody>
          <a:bodyPr rtlCol="0"/>
          <a:lstStyle/>
          <a:p>
            <a:pPr rtl="0"/>
            <a:fld id="{13D2E340-0663-474B-992C-9192B5C45E57}" type="slidenum">
              <a:rPr lang="en-GB" smtClean="0"/>
              <a:t>28</a:t>
            </a:fld>
            <a:endParaRPr lang="en-GB" dirty="0"/>
          </a:p>
        </p:txBody>
      </p:sp>
      <p:sp>
        <p:nvSpPr>
          <p:cNvPr id="41" name="TextBox 40">
            <a:extLst>
              <a:ext uri="{FF2B5EF4-FFF2-40B4-BE49-F238E27FC236}">
                <a16:creationId xmlns:a16="http://schemas.microsoft.com/office/drawing/2014/main" id="{5FE99161-E85E-7582-563F-273D1E67FA9B}"/>
              </a:ext>
            </a:extLst>
          </p:cNvPr>
          <p:cNvSpPr txBox="1"/>
          <p:nvPr/>
        </p:nvSpPr>
        <p:spPr>
          <a:xfrm>
            <a:off x="5181599" y="559678"/>
            <a:ext cx="6602412" cy="5078614"/>
          </a:xfrm>
          <a:prstGeom prst="rect">
            <a:avLst/>
          </a:prstGeom>
          <a:noFill/>
        </p:spPr>
        <p:txBody>
          <a:bodyPr wrap="square" rtlCol="0">
            <a:noAutofit/>
          </a:bodyPr>
          <a:lstStyle/>
          <a:p>
            <a:pPr algn="just"/>
            <a:r>
              <a:rPr lang="en-US" sz="3200" i="1" dirty="0">
                <a:effectLst/>
                <a:latin typeface="Times New Roman" panose="02020603050405020304" pitchFamily="18" charset="0"/>
                <a:ea typeface="PMingLiU" panose="02020500000000000000" pitchFamily="18" charset="-120"/>
              </a:rPr>
              <a:t>Case Comparison</a:t>
            </a:r>
          </a:p>
          <a:p>
            <a:pPr marL="457200" indent="-4572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Suppose we are considering whether a certain disclosure of confidential information is justified. We might compare it with other cases:</a:t>
            </a:r>
          </a:p>
          <a:p>
            <a:pPr marL="914400" lvl="1"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a malicious leak</a:t>
            </a:r>
          </a:p>
          <a:p>
            <a:pPr marL="914400" lvl="1"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a whistleblowing case</a:t>
            </a:r>
          </a:p>
          <a:p>
            <a:pPr marL="914400" lvl="1"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a medical emergency</a:t>
            </a:r>
          </a:p>
          <a:p>
            <a:pPr marL="914400" lvl="1"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a betrayal of a friend</a:t>
            </a:r>
          </a:p>
          <a:p>
            <a:pPr marL="914400" lvl="1"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a legal duty to report harm</a:t>
            </a:r>
          </a:p>
          <a:p>
            <a:pPr marL="457200" indent="-45720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They do not mechanically determine later judgments.</a:t>
            </a:r>
          </a:p>
          <a:p>
            <a:pPr marL="457200" indent="-457200" algn="just">
              <a:buFont typeface="Arial" panose="020B0604020202020204" pitchFamily="34" charset="0"/>
              <a:buChar char="•"/>
            </a:pPr>
            <a:endParaRPr lang="en-GB" sz="2800" dirty="0">
              <a:effectLst/>
              <a:latin typeface="Times New Roman" panose="02020603050405020304" pitchFamily="18" charset="0"/>
              <a:ea typeface="PMingLiU" panose="02020500000000000000" pitchFamily="18" charset="-120"/>
            </a:endParaRPr>
          </a:p>
          <a:p>
            <a:pPr marL="457200" indent="-457200" algn="just">
              <a:buFont typeface="Arial" panose="020B0604020202020204" pitchFamily="34" charset="0"/>
              <a:buChar char="•"/>
            </a:pPr>
            <a:endParaRPr lang="en-US" sz="28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814542261"/>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7894</TotalTime>
  <Words>1816</Words>
  <Application>Microsoft Office PowerPoint</Application>
  <PresentationFormat>Widescreen</PresentationFormat>
  <Paragraphs>222</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Times New Roman, serif</vt:lpstr>
      <vt:lpstr>Arial</vt:lpstr>
      <vt:lpstr>Calibri</vt:lpstr>
      <vt:lpstr>Century Schoolbook</vt:lpstr>
      <vt:lpstr>Corbel</vt:lpstr>
      <vt:lpstr>Times New Roman</vt:lpstr>
      <vt:lpstr>Headlines</vt:lpstr>
      <vt:lpstr>HUMA2921 Ethical Theories and Contemporary Issues</vt:lpstr>
      <vt:lpstr>Questioning the Need for Principles</vt:lpstr>
      <vt:lpstr>Central Contrast</vt:lpstr>
      <vt:lpstr>What Is Moral Particularism?</vt:lpstr>
      <vt:lpstr>What are Moral Principles? </vt:lpstr>
      <vt:lpstr>The Generalist Picture</vt:lpstr>
      <vt:lpstr>The Generalist Picture</vt:lpstr>
      <vt:lpstr>The Generalist Picture</vt:lpstr>
      <vt:lpstr>Reasons Holism</vt:lpstr>
      <vt:lpstr>Reversal</vt:lpstr>
      <vt:lpstr>Reversal</vt:lpstr>
      <vt:lpstr>Silencing</vt:lpstr>
      <vt:lpstr>The Case of Lying</vt:lpstr>
      <vt:lpstr>The Case of Lying</vt:lpstr>
      <vt:lpstr>Generalist Strategy </vt:lpstr>
      <vt:lpstr>PowerPoint Presentation</vt:lpstr>
      <vt:lpstr>Particularist Challenge</vt:lpstr>
      <vt:lpstr>PowerPoint Presentation</vt:lpstr>
      <vt:lpstr>PowerPoint Presentation</vt:lpstr>
      <vt:lpstr>Holistic Generalism</vt:lpstr>
      <vt:lpstr>PowerPoint Presentation</vt:lpstr>
      <vt:lpstr>Holistic Generalism</vt:lpstr>
      <vt:lpstr>PowerPoint Presentation</vt:lpstr>
      <vt:lpstr>The Particularist Claim</vt:lpstr>
      <vt:lpstr>PowerPoint Presentation</vt:lpstr>
      <vt:lpstr>The Particularist Claim</vt:lpstr>
      <vt:lpstr>PowerPoint Presentation</vt:lpstr>
      <vt:lpstr>The Particularist Claim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49</cp:revision>
  <dcterms:created xsi:type="dcterms:W3CDTF">2024-11-29T15:39:14Z</dcterms:created>
  <dcterms:modified xsi:type="dcterms:W3CDTF">2026-05-05T03:55:36Z</dcterms:modified>
</cp:coreProperties>
</file>