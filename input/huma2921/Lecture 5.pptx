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8" r:id="rId1"/>
  </p:sldMasterIdLst>
  <p:notesMasterIdLst>
    <p:notesMasterId r:id="rId34"/>
  </p:notesMasterIdLst>
  <p:handoutMasterIdLst>
    <p:handoutMasterId r:id="rId35"/>
  </p:handoutMasterIdLst>
  <p:sldIdLst>
    <p:sldId id="256" r:id="rId2"/>
    <p:sldId id="279" r:id="rId3"/>
    <p:sldId id="280" r:id="rId4"/>
    <p:sldId id="257" r:id="rId5"/>
    <p:sldId id="263" r:id="rId6"/>
    <p:sldId id="281" r:id="rId7"/>
    <p:sldId id="283" r:id="rId8"/>
    <p:sldId id="284" r:id="rId9"/>
    <p:sldId id="282" r:id="rId10"/>
    <p:sldId id="269" r:id="rId11"/>
    <p:sldId id="267" r:id="rId12"/>
    <p:sldId id="276" r:id="rId13"/>
    <p:sldId id="285" r:id="rId14"/>
    <p:sldId id="278" r:id="rId15"/>
    <p:sldId id="271" r:id="rId16"/>
    <p:sldId id="270" r:id="rId17"/>
    <p:sldId id="287"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84F31A-E916-402D-9232-0E83CE7A1135}" v="49" dt="2025-09-04T06:37:53.3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7352" autoAdjust="0"/>
  </p:normalViewPr>
  <p:slideViewPr>
    <p:cSldViewPr snapToGrid="0">
      <p:cViewPr varScale="1">
        <p:scale>
          <a:sx n="73" d="100"/>
          <a:sy n="73" d="100"/>
        </p:scale>
        <p:origin x="680" y="48"/>
      </p:cViewPr>
      <p:guideLst/>
    </p:cSldViewPr>
  </p:slideViewPr>
  <p:outlineViewPr>
    <p:cViewPr>
      <p:scale>
        <a:sx n="33" d="100"/>
        <a:sy n="33" d="100"/>
      </p:scale>
      <p:origin x="0" y="-474"/>
    </p:cViewPr>
  </p:outlineViewPr>
  <p:notesTextViewPr>
    <p:cViewPr>
      <p:scale>
        <a:sx n="1" d="1"/>
        <a:sy n="1" d="1"/>
      </p:scale>
      <p:origin x="0" y="0"/>
    </p:cViewPr>
  </p:notesTextViewPr>
  <p:notesViewPr>
    <p:cSldViewPr snapToGrid="0">
      <p:cViewPr varScale="1">
        <p:scale>
          <a:sx n="86" d="100"/>
          <a:sy n="86" d="100"/>
        </p:scale>
        <p:origin x="3114"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1174202-076D-4FCC-BB1F-880F8A848A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5FAD0C0A-72EF-4EA2-8D6C-4938445A108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C6063AB-68DD-4467-B9F3-CFD39EF31317}" type="datetime1">
              <a:rPr lang="en-GB" smtClean="0"/>
              <a:t>17/03/2026</a:t>
            </a:fld>
            <a:endParaRPr lang="en-GB"/>
          </a:p>
        </p:txBody>
      </p:sp>
      <p:sp>
        <p:nvSpPr>
          <p:cNvPr id="4" name="Footer Placeholder 3">
            <a:extLst>
              <a:ext uri="{FF2B5EF4-FFF2-40B4-BE49-F238E27FC236}">
                <a16:creationId xmlns:a16="http://schemas.microsoft.com/office/drawing/2014/main" id="{58AB2131-4249-4045-A9F7-9BE0F73F06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72180F18-DB0C-473D-93EA-5E50BE9DE5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5F20474-88D6-46C9-AFA3-1C3CCC241887}" type="slidenum">
              <a:rPr lang="en-GB" smtClean="0"/>
              <a:t>‹#›</a:t>
            </a:fld>
            <a:endParaRPr lang="en-GB"/>
          </a:p>
        </p:txBody>
      </p:sp>
    </p:spTree>
    <p:extLst>
      <p:ext uri="{BB962C8B-B14F-4D97-AF65-F5344CB8AC3E}">
        <p14:creationId xmlns:p14="http://schemas.microsoft.com/office/powerpoint/2010/main" val="4821917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917B0F02-3072-4C07-8D39-FB97D9D5FCA2}" type="datetime1">
              <a:rPr lang="en-GB" noProof="0" smtClean="0"/>
              <a:t>17/03/2026</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B68C18-1BF1-F447-95ED-60EAAE35426E}" type="slidenum">
              <a:rPr lang="en-GB" noProof="0" smtClean="0"/>
              <a:t>‹#›</a:t>
            </a:fld>
            <a:endParaRPr lang="en-GB" noProof="0"/>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a:t>
            </a:fld>
            <a:endParaRPr lang="en-GB"/>
          </a:p>
        </p:txBody>
      </p:sp>
    </p:spTree>
    <p:extLst>
      <p:ext uri="{BB962C8B-B14F-4D97-AF65-F5344CB8AC3E}">
        <p14:creationId xmlns:p14="http://schemas.microsoft.com/office/powerpoint/2010/main" val="423958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37612-D996-620F-D6F2-221667568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B0863-CADD-2793-FE8F-7EFCE8973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4F3615-F3D4-E084-811B-5906A9DBC2A9}"/>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6050B1B-98CF-FBD0-CBD3-89ED031E4A42}"/>
              </a:ext>
            </a:extLst>
          </p:cNvPr>
          <p:cNvSpPr>
            <a:spLocks noGrp="1"/>
          </p:cNvSpPr>
          <p:nvPr>
            <p:ph type="sldNum" sz="quarter" idx="5"/>
          </p:nvPr>
        </p:nvSpPr>
        <p:spPr/>
        <p:txBody>
          <a:bodyPr rtlCol="0"/>
          <a:lstStyle/>
          <a:p>
            <a:pPr rtl="0"/>
            <a:fld id="{68B68C18-1BF1-F447-95ED-60EAAE35426E}" type="slidenum">
              <a:rPr lang="en-GB" smtClean="0"/>
              <a:t>2</a:t>
            </a:fld>
            <a:endParaRPr lang="en-GB"/>
          </a:p>
        </p:txBody>
      </p:sp>
    </p:spTree>
    <p:extLst>
      <p:ext uri="{BB962C8B-B14F-4D97-AF65-F5344CB8AC3E}">
        <p14:creationId xmlns:p14="http://schemas.microsoft.com/office/powerpoint/2010/main" val="103427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C4814-724B-ACCB-9AEF-3DCE9EFC7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1E334-FAD2-5B2D-5964-C53593EE4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1417E-FDEA-EC2A-E135-4BF7E4C13454}"/>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D15ECA9C-4B42-097B-8782-3AF0768558B2}"/>
              </a:ext>
            </a:extLst>
          </p:cNvPr>
          <p:cNvSpPr>
            <a:spLocks noGrp="1"/>
          </p:cNvSpPr>
          <p:nvPr>
            <p:ph type="sldNum" sz="quarter" idx="5"/>
          </p:nvPr>
        </p:nvSpPr>
        <p:spPr/>
        <p:txBody>
          <a:bodyPr rtlCol="0"/>
          <a:lstStyle/>
          <a:p>
            <a:pPr rtl="0"/>
            <a:fld id="{68B68C18-1BF1-F447-95ED-60EAAE35426E}" type="slidenum">
              <a:rPr lang="en-GB" smtClean="0"/>
              <a:t>3</a:t>
            </a:fld>
            <a:endParaRPr lang="en-GB"/>
          </a:p>
        </p:txBody>
      </p:sp>
    </p:spTree>
    <p:extLst>
      <p:ext uri="{BB962C8B-B14F-4D97-AF65-F5344CB8AC3E}">
        <p14:creationId xmlns:p14="http://schemas.microsoft.com/office/powerpoint/2010/main" val="670468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4</a:t>
            </a:fld>
            <a:endParaRPr lang="en-GB"/>
          </a:p>
        </p:txBody>
      </p:sp>
    </p:spTree>
    <p:extLst>
      <p:ext uri="{BB962C8B-B14F-4D97-AF65-F5344CB8AC3E}">
        <p14:creationId xmlns:p14="http://schemas.microsoft.com/office/powerpoint/2010/main" val="816922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5</a:t>
            </a:fld>
            <a:endParaRPr lang="en-GB"/>
          </a:p>
        </p:txBody>
      </p:sp>
    </p:spTree>
    <p:extLst>
      <p:ext uri="{BB962C8B-B14F-4D97-AF65-F5344CB8AC3E}">
        <p14:creationId xmlns:p14="http://schemas.microsoft.com/office/powerpoint/2010/main" val="1811415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5385F-70FF-3FDC-8480-49891B8F1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2B1F4-77AB-6FA1-BE7B-8ED0E4077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6DABE8-2950-A539-718A-59E0D592D1F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770443B-9FD5-A744-8D8F-AFA6BCC6214E}"/>
              </a:ext>
            </a:extLst>
          </p:cNvPr>
          <p:cNvSpPr>
            <a:spLocks noGrp="1"/>
          </p:cNvSpPr>
          <p:nvPr>
            <p:ph type="sldNum" sz="quarter" idx="5"/>
          </p:nvPr>
        </p:nvSpPr>
        <p:spPr/>
        <p:txBody>
          <a:bodyPr rtlCol="0"/>
          <a:lstStyle/>
          <a:p>
            <a:pPr rtl="0"/>
            <a:fld id="{68B68C18-1BF1-F447-95ED-60EAAE35426E}" type="slidenum">
              <a:rPr lang="en-GB" smtClean="0"/>
              <a:t>6</a:t>
            </a:fld>
            <a:endParaRPr lang="en-GB"/>
          </a:p>
        </p:txBody>
      </p:sp>
    </p:spTree>
    <p:extLst>
      <p:ext uri="{BB962C8B-B14F-4D97-AF65-F5344CB8AC3E}">
        <p14:creationId xmlns:p14="http://schemas.microsoft.com/office/powerpoint/2010/main" val="3012668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46CA1-9756-CECE-28DF-4E63087FE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6BEB1-8563-EA73-9F78-6C28907250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94C55-A149-C81C-BFA7-C6F11C5D2A27}"/>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6108221-C1A6-1FBE-379C-DBC889170E34}"/>
              </a:ext>
            </a:extLst>
          </p:cNvPr>
          <p:cNvSpPr>
            <a:spLocks noGrp="1"/>
          </p:cNvSpPr>
          <p:nvPr>
            <p:ph type="sldNum" sz="quarter" idx="5"/>
          </p:nvPr>
        </p:nvSpPr>
        <p:spPr/>
        <p:txBody>
          <a:bodyPr rtlCol="0"/>
          <a:lstStyle/>
          <a:p>
            <a:pPr rtl="0"/>
            <a:fld id="{68B68C18-1BF1-F447-95ED-60EAAE35426E}" type="slidenum">
              <a:rPr lang="en-GB" smtClean="0"/>
              <a:t>7</a:t>
            </a:fld>
            <a:endParaRPr lang="en-GB"/>
          </a:p>
        </p:txBody>
      </p:sp>
    </p:spTree>
    <p:extLst>
      <p:ext uri="{BB962C8B-B14F-4D97-AF65-F5344CB8AC3E}">
        <p14:creationId xmlns:p14="http://schemas.microsoft.com/office/powerpoint/2010/main" val="1337760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8EFB8-4858-5B8A-44E1-036090FF5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FD80D-6709-309F-89C4-21AB33C536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FEF356-9ECC-92E4-4CD1-94338AE784D4}"/>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CF82A8A-A479-741A-9F6B-F5B66A4FC661}"/>
              </a:ext>
            </a:extLst>
          </p:cNvPr>
          <p:cNvSpPr>
            <a:spLocks noGrp="1"/>
          </p:cNvSpPr>
          <p:nvPr>
            <p:ph type="sldNum" sz="quarter" idx="5"/>
          </p:nvPr>
        </p:nvSpPr>
        <p:spPr/>
        <p:txBody>
          <a:bodyPr rtlCol="0"/>
          <a:lstStyle/>
          <a:p>
            <a:pPr rtl="0"/>
            <a:fld id="{68B68C18-1BF1-F447-95ED-60EAAE35426E}" type="slidenum">
              <a:rPr lang="en-GB" smtClean="0"/>
              <a:t>8</a:t>
            </a:fld>
            <a:endParaRPr lang="en-GB"/>
          </a:p>
        </p:txBody>
      </p:sp>
    </p:spTree>
    <p:extLst>
      <p:ext uri="{BB962C8B-B14F-4D97-AF65-F5344CB8AC3E}">
        <p14:creationId xmlns:p14="http://schemas.microsoft.com/office/powerpoint/2010/main" val="921003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B3A63-ED74-CC7F-B332-4F37188A8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5BC19-66F5-B809-4BB5-EAE898237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9E1D3-5F3B-2B2E-8F9E-04A3A68DDA4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B0653B2-1BA0-62D7-F969-C90AD3D00275}"/>
              </a:ext>
            </a:extLst>
          </p:cNvPr>
          <p:cNvSpPr>
            <a:spLocks noGrp="1"/>
          </p:cNvSpPr>
          <p:nvPr>
            <p:ph type="sldNum" sz="quarter" idx="5"/>
          </p:nvPr>
        </p:nvSpPr>
        <p:spPr/>
        <p:txBody>
          <a:bodyPr rtlCol="0"/>
          <a:lstStyle/>
          <a:p>
            <a:pPr rtl="0"/>
            <a:fld id="{68B68C18-1BF1-F447-95ED-60EAAE35426E}" type="slidenum">
              <a:rPr lang="en-GB" smtClean="0"/>
              <a:t>9</a:t>
            </a:fld>
            <a:endParaRPr lang="en-GB"/>
          </a:p>
        </p:txBody>
      </p:sp>
    </p:spTree>
    <p:extLst>
      <p:ext uri="{BB962C8B-B14F-4D97-AF65-F5344CB8AC3E}">
        <p14:creationId xmlns:p14="http://schemas.microsoft.com/office/powerpoint/2010/main" val="4261007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10</a:t>
            </a:fld>
            <a:endParaRPr lang="en-GB"/>
          </a:p>
        </p:txBody>
      </p:sp>
    </p:spTree>
    <p:extLst>
      <p:ext uri="{BB962C8B-B14F-4D97-AF65-F5344CB8AC3E}">
        <p14:creationId xmlns:p14="http://schemas.microsoft.com/office/powerpoint/2010/main" val="1263412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11</a:t>
            </a:fld>
            <a:endParaRPr lang="en-GB"/>
          </a:p>
        </p:txBody>
      </p:sp>
    </p:spTree>
    <p:extLst>
      <p:ext uri="{BB962C8B-B14F-4D97-AF65-F5344CB8AC3E}">
        <p14:creationId xmlns:p14="http://schemas.microsoft.com/office/powerpoint/2010/main" val="2456630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0BE2D-C774-8215-6A35-B346467F0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1F4BC-1B1A-C730-DB0C-D7E62A04F7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E44EDF-6DEC-EA00-F476-E7323E573EFF}"/>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9E4E3EA4-87AD-7070-22C2-0E42169041A8}"/>
              </a:ext>
            </a:extLst>
          </p:cNvPr>
          <p:cNvSpPr>
            <a:spLocks noGrp="1"/>
          </p:cNvSpPr>
          <p:nvPr>
            <p:ph type="sldNum" sz="quarter" idx="5"/>
          </p:nvPr>
        </p:nvSpPr>
        <p:spPr/>
        <p:txBody>
          <a:bodyPr rtlCol="0"/>
          <a:lstStyle/>
          <a:p>
            <a:pPr rtl="0"/>
            <a:fld id="{68B68C18-1BF1-F447-95ED-60EAAE35426E}" type="slidenum">
              <a:rPr lang="en-GB" smtClean="0"/>
              <a:t>12</a:t>
            </a:fld>
            <a:endParaRPr lang="en-GB"/>
          </a:p>
        </p:txBody>
      </p:sp>
    </p:spTree>
    <p:extLst>
      <p:ext uri="{BB962C8B-B14F-4D97-AF65-F5344CB8AC3E}">
        <p14:creationId xmlns:p14="http://schemas.microsoft.com/office/powerpoint/2010/main" val="3884018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D0FB2-32E7-C5FB-949A-83E73F882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5B8FA-315B-66B9-F9A7-E0E7911E6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90DC3-67E5-8129-48D0-A8CDF7D0DF05}"/>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83E071D-CE6F-5E7E-59BD-912865749777}"/>
              </a:ext>
            </a:extLst>
          </p:cNvPr>
          <p:cNvSpPr>
            <a:spLocks noGrp="1"/>
          </p:cNvSpPr>
          <p:nvPr>
            <p:ph type="sldNum" sz="quarter" idx="5"/>
          </p:nvPr>
        </p:nvSpPr>
        <p:spPr/>
        <p:txBody>
          <a:bodyPr rtlCol="0"/>
          <a:lstStyle/>
          <a:p>
            <a:pPr rtl="0"/>
            <a:fld id="{68B68C18-1BF1-F447-95ED-60EAAE35426E}" type="slidenum">
              <a:rPr lang="en-GB" smtClean="0"/>
              <a:t>13</a:t>
            </a:fld>
            <a:endParaRPr lang="en-GB"/>
          </a:p>
        </p:txBody>
      </p:sp>
    </p:spTree>
    <p:extLst>
      <p:ext uri="{BB962C8B-B14F-4D97-AF65-F5344CB8AC3E}">
        <p14:creationId xmlns:p14="http://schemas.microsoft.com/office/powerpoint/2010/main" val="2816678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0EB30-2EFC-D903-5CC4-5B12BB560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28E68-5B4B-1AB7-C987-3929D04E51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49292-1CB6-BD46-6484-38BD6B2BDC11}"/>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14A86759-0037-53B1-2E4B-56CCF080BD24}"/>
              </a:ext>
            </a:extLst>
          </p:cNvPr>
          <p:cNvSpPr>
            <a:spLocks noGrp="1"/>
          </p:cNvSpPr>
          <p:nvPr>
            <p:ph type="sldNum" sz="quarter" idx="5"/>
          </p:nvPr>
        </p:nvSpPr>
        <p:spPr/>
        <p:txBody>
          <a:bodyPr rtlCol="0"/>
          <a:lstStyle/>
          <a:p>
            <a:pPr rtl="0"/>
            <a:fld id="{68B68C18-1BF1-F447-95ED-60EAAE35426E}" type="slidenum">
              <a:rPr lang="en-GB" smtClean="0"/>
              <a:t>14</a:t>
            </a:fld>
            <a:endParaRPr lang="en-GB"/>
          </a:p>
        </p:txBody>
      </p:sp>
    </p:spTree>
    <p:extLst>
      <p:ext uri="{BB962C8B-B14F-4D97-AF65-F5344CB8AC3E}">
        <p14:creationId xmlns:p14="http://schemas.microsoft.com/office/powerpoint/2010/main" val="563245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15</a:t>
            </a:fld>
            <a:endParaRPr lang="en-GB"/>
          </a:p>
        </p:txBody>
      </p:sp>
    </p:spTree>
    <p:extLst>
      <p:ext uri="{BB962C8B-B14F-4D97-AF65-F5344CB8AC3E}">
        <p14:creationId xmlns:p14="http://schemas.microsoft.com/office/powerpoint/2010/main" val="2422605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16</a:t>
            </a:fld>
            <a:endParaRPr lang="en-GB"/>
          </a:p>
        </p:txBody>
      </p:sp>
    </p:spTree>
    <p:extLst>
      <p:ext uri="{BB962C8B-B14F-4D97-AF65-F5344CB8AC3E}">
        <p14:creationId xmlns:p14="http://schemas.microsoft.com/office/powerpoint/2010/main" val="2834362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82476-5AB4-0D42-0723-7CD61BFCC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F12E3-1B42-F8B1-B0B9-08E52E7CCE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4ABF9-863B-3E10-A796-8E6BA23FC36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05800E1-9757-789B-1975-831670101F06}"/>
              </a:ext>
            </a:extLst>
          </p:cNvPr>
          <p:cNvSpPr>
            <a:spLocks noGrp="1"/>
          </p:cNvSpPr>
          <p:nvPr>
            <p:ph type="sldNum" sz="quarter" idx="5"/>
          </p:nvPr>
        </p:nvSpPr>
        <p:spPr/>
        <p:txBody>
          <a:bodyPr rtlCol="0"/>
          <a:lstStyle/>
          <a:p>
            <a:pPr rtl="0"/>
            <a:fld id="{68B68C18-1BF1-F447-95ED-60EAAE35426E}" type="slidenum">
              <a:rPr lang="en-GB" smtClean="0"/>
              <a:t>17</a:t>
            </a:fld>
            <a:endParaRPr lang="en-GB"/>
          </a:p>
        </p:txBody>
      </p:sp>
    </p:spTree>
    <p:extLst>
      <p:ext uri="{BB962C8B-B14F-4D97-AF65-F5344CB8AC3E}">
        <p14:creationId xmlns:p14="http://schemas.microsoft.com/office/powerpoint/2010/main" val="3234279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9EF8F-3B32-9324-51FC-3A917E3D8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FD296-0AB2-829E-2DB2-2F7EB8E84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470744-1B04-56E1-A722-E64553FBD58E}"/>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EE8F8644-A99A-3E73-2B53-E0C958E3183B}"/>
              </a:ext>
            </a:extLst>
          </p:cNvPr>
          <p:cNvSpPr>
            <a:spLocks noGrp="1"/>
          </p:cNvSpPr>
          <p:nvPr>
            <p:ph type="sldNum" sz="quarter" idx="5"/>
          </p:nvPr>
        </p:nvSpPr>
        <p:spPr/>
        <p:txBody>
          <a:bodyPr rtlCol="0"/>
          <a:lstStyle/>
          <a:p>
            <a:pPr rtl="0"/>
            <a:fld id="{68B68C18-1BF1-F447-95ED-60EAAE35426E}" type="slidenum">
              <a:rPr lang="en-GB" smtClean="0"/>
              <a:t>18</a:t>
            </a:fld>
            <a:endParaRPr lang="en-GB"/>
          </a:p>
        </p:txBody>
      </p:sp>
    </p:spTree>
    <p:extLst>
      <p:ext uri="{BB962C8B-B14F-4D97-AF65-F5344CB8AC3E}">
        <p14:creationId xmlns:p14="http://schemas.microsoft.com/office/powerpoint/2010/main" val="982088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6C549-A7F9-04FE-4CCB-DEA305013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42B89-A7E2-8F76-0CA8-70CEA771E1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72183E-DB4A-6971-9A49-F375E0D7B25C}"/>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59876BA-F1E8-1C30-D4F5-90BFE5085401}"/>
              </a:ext>
            </a:extLst>
          </p:cNvPr>
          <p:cNvSpPr>
            <a:spLocks noGrp="1"/>
          </p:cNvSpPr>
          <p:nvPr>
            <p:ph type="sldNum" sz="quarter" idx="5"/>
          </p:nvPr>
        </p:nvSpPr>
        <p:spPr/>
        <p:txBody>
          <a:bodyPr rtlCol="0"/>
          <a:lstStyle/>
          <a:p>
            <a:pPr rtl="0"/>
            <a:fld id="{68B68C18-1BF1-F447-95ED-60EAAE35426E}" type="slidenum">
              <a:rPr lang="en-GB" smtClean="0"/>
              <a:t>19</a:t>
            </a:fld>
            <a:endParaRPr lang="en-GB"/>
          </a:p>
        </p:txBody>
      </p:sp>
    </p:spTree>
    <p:extLst>
      <p:ext uri="{BB962C8B-B14F-4D97-AF65-F5344CB8AC3E}">
        <p14:creationId xmlns:p14="http://schemas.microsoft.com/office/powerpoint/2010/main" val="2275579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24AFA-0E0D-D0CC-57E1-BF6B60A90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63FC6-DB37-2376-B5BF-20DBE35E0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E5C6E-0BEB-B24B-FC11-35B66AD7DE6B}"/>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B45F9747-5F67-6421-B126-29FEEA8F2F16}"/>
              </a:ext>
            </a:extLst>
          </p:cNvPr>
          <p:cNvSpPr>
            <a:spLocks noGrp="1"/>
          </p:cNvSpPr>
          <p:nvPr>
            <p:ph type="sldNum" sz="quarter" idx="5"/>
          </p:nvPr>
        </p:nvSpPr>
        <p:spPr/>
        <p:txBody>
          <a:bodyPr rtlCol="0"/>
          <a:lstStyle/>
          <a:p>
            <a:pPr rtl="0"/>
            <a:fld id="{68B68C18-1BF1-F447-95ED-60EAAE35426E}" type="slidenum">
              <a:rPr lang="en-GB" smtClean="0"/>
              <a:t>20</a:t>
            </a:fld>
            <a:endParaRPr lang="en-GB"/>
          </a:p>
        </p:txBody>
      </p:sp>
    </p:spTree>
    <p:extLst>
      <p:ext uri="{BB962C8B-B14F-4D97-AF65-F5344CB8AC3E}">
        <p14:creationId xmlns:p14="http://schemas.microsoft.com/office/powerpoint/2010/main" val="34382866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F5D3F-BE29-B20C-D9B8-202F4BFB6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EE794-1161-B31E-872A-7B55D9326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9A8E0-0615-6D8C-51B3-10258F1E083E}"/>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0A00325A-3D97-44AC-9360-176F1E20CD56}"/>
              </a:ext>
            </a:extLst>
          </p:cNvPr>
          <p:cNvSpPr>
            <a:spLocks noGrp="1"/>
          </p:cNvSpPr>
          <p:nvPr>
            <p:ph type="sldNum" sz="quarter" idx="5"/>
          </p:nvPr>
        </p:nvSpPr>
        <p:spPr/>
        <p:txBody>
          <a:bodyPr rtlCol="0"/>
          <a:lstStyle/>
          <a:p>
            <a:pPr rtl="0"/>
            <a:fld id="{68B68C18-1BF1-F447-95ED-60EAAE35426E}" type="slidenum">
              <a:rPr lang="en-GB" smtClean="0"/>
              <a:t>21</a:t>
            </a:fld>
            <a:endParaRPr lang="en-GB"/>
          </a:p>
        </p:txBody>
      </p:sp>
    </p:spTree>
    <p:extLst>
      <p:ext uri="{BB962C8B-B14F-4D97-AF65-F5344CB8AC3E}">
        <p14:creationId xmlns:p14="http://schemas.microsoft.com/office/powerpoint/2010/main" val="8694430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E2EC0-516B-4C37-B6D7-D01D6FFE7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1CE033-EE94-D790-C3DC-7F6872A5D5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FE3FC1-8FE1-1340-D239-E0D8B5B73138}"/>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488613A-8D8E-0AAC-A70D-2481905AC65C}"/>
              </a:ext>
            </a:extLst>
          </p:cNvPr>
          <p:cNvSpPr>
            <a:spLocks noGrp="1"/>
          </p:cNvSpPr>
          <p:nvPr>
            <p:ph type="sldNum" sz="quarter" idx="5"/>
          </p:nvPr>
        </p:nvSpPr>
        <p:spPr/>
        <p:txBody>
          <a:bodyPr rtlCol="0"/>
          <a:lstStyle/>
          <a:p>
            <a:pPr rtl="0"/>
            <a:fld id="{68B68C18-1BF1-F447-95ED-60EAAE35426E}" type="slidenum">
              <a:rPr lang="en-GB" smtClean="0"/>
              <a:t>22</a:t>
            </a:fld>
            <a:endParaRPr lang="en-GB"/>
          </a:p>
        </p:txBody>
      </p:sp>
    </p:spTree>
    <p:extLst>
      <p:ext uri="{BB962C8B-B14F-4D97-AF65-F5344CB8AC3E}">
        <p14:creationId xmlns:p14="http://schemas.microsoft.com/office/powerpoint/2010/main" val="7989350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6339F-F931-F712-F45A-9EAF1DB3E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42B90-E4CD-DA34-F67C-616A73DC2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46DD1-841E-7E00-17BD-367C2F21FDA9}"/>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A8604986-368D-99ED-FF39-A2B79943E6D2}"/>
              </a:ext>
            </a:extLst>
          </p:cNvPr>
          <p:cNvSpPr>
            <a:spLocks noGrp="1"/>
          </p:cNvSpPr>
          <p:nvPr>
            <p:ph type="sldNum" sz="quarter" idx="5"/>
          </p:nvPr>
        </p:nvSpPr>
        <p:spPr/>
        <p:txBody>
          <a:bodyPr rtlCol="0"/>
          <a:lstStyle/>
          <a:p>
            <a:pPr rtl="0"/>
            <a:fld id="{68B68C18-1BF1-F447-95ED-60EAAE35426E}" type="slidenum">
              <a:rPr lang="en-GB" smtClean="0"/>
              <a:t>23</a:t>
            </a:fld>
            <a:endParaRPr lang="en-GB"/>
          </a:p>
        </p:txBody>
      </p:sp>
    </p:spTree>
    <p:extLst>
      <p:ext uri="{BB962C8B-B14F-4D97-AF65-F5344CB8AC3E}">
        <p14:creationId xmlns:p14="http://schemas.microsoft.com/office/powerpoint/2010/main" val="14454001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06AE6-4D13-751A-1FE3-1D29CCB892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327196-D085-545D-88E9-9C91F0398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FFCDFA-7545-C70F-7E26-CA2CCB68CCD6}"/>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FFB70F88-3748-9DA8-0260-1960B95B2565}"/>
              </a:ext>
            </a:extLst>
          </p:cNvPr>
          <p:cNvSpPr>
            <a:spLocks noGrp="1"/>
          </p:cNvSpPr>
          <p:nvPr>
            <p:ph type="sldNum" sz="quarter" idx="5"/>
          </p:nvPr>
        </p:nvSpPr>
        <p:spPr/>
        <p:txBody>
          <a:bodyPr rtlCol="0"/>
          <a:lstStyle/>
          <a:p>
            <a:pPr rtl="0"/>
            <a:fld id="{68B68C18-1BF1-F447-95ED-60EAAE35426E}" type="slidenum">
              <a:rPr lang="en-GB" smtClean="0"/>
              <a:t>24</a:t>
            </a:fld>
            <a:endParaRPr lang="en-GB"/>
          </a:p>
        </p:txBody>
      </p:sp>
    </p:spTree>
    <p:extLst>
      <p:ext uri="{BB962C8B-B14F-4D97-AF65-F5344CB8AC3E}">
        <p14:creationId xmlns:p14="http://schemas.microsoft.com/office/powerpoint/2010/main" val="38181787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36254-93FE-4202-B20C-501387E1CF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76000-02AB-A083-DAA9-44130B032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5DCB03-B4A4-881C-FF0E-4C1C00FD54F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80B6AF8C-90FF-DE8A-4FB5-04E0A2870B66}"/>
              </a:ext>
            </a:extLst>
          </p:cNvPr>
          <p:cNvSpPr>
            <a:spLocks noGrp="1"/>
          </p:cNvSpPr>
          <p:nvPr>
            <p:ph type="sldNum" sz="quarter" idx="5"/>
          </p:nvPr>
        </p:nvSpPr>
        <p:spPr/>
        <p:txBody>
          <a:bodyPr rtlCol="0"/>
          <a:lstStyle/>
          <a:p>
            <a:pPr rtl="0"/>
            <a:fld id="{68B68C18-1BF1-F447-95ED-60EAAE35426E}" type="slidenum">
              <a:rPr lang="en-GB" smtClean="0"/>
              <a:t>25</a:t>
            </a:fld>
            <a:endParaRPr lang="en-GB"/>
          </a:p>
        </p:txBody>
      </p:sp>
    </p:spTree>
    <p:extLst>
      <p:ext uri="{BB962C8B-B14F-4D97-AF65-F5344CB8AC3E}">
        <p14:creationId xmlns:p14="http://schemas.microsoft.com/office/powerpoint/2010/main" val="13176600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795BB-A3A2-B2C4-1C65-7C9358256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57527-5FA6-633D-B254-753B5ECBD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13604-BEC5-294A-94F9-ADEA4902955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DE6D53B-C709-4D8B-70E9-E346159B50E1}"/>
              </a:ext>
            </a:extLst>
          </p:cNvPr>
          <p:cNvSpPr>
            <a:spLocks noGrp="1"/>
          </p:cNvSpPr>
          <p:nvPr>
            <p:ph type="sldNum" sz="quarter" idx="5"/>
          </p:nvPr>
        </p:nvSpPr>
        <p:spPr/>
        <p:txBody>
          <a:bodyPr rtlCol="0"/>
          <a:lstStyle/>
          <a:p>
            <a:pPr rtl="0"/>
            <a:fld id="{68B68C18-1BF1-F447-95ED-60EAAE35426E}" type="slidenum">
              <a:rPr lang="en-GB" smtClean="0"/>
              <a:t>26</a:t>
            </a:fld>
            <a:endParaRPr lang="en-GB"/>
          </a:p>
        </p:txBody>
      </p:sp>
    </p:spTree>
    <p:extLst>
      <p:ext uri="{BB962C8B-B14F-4D97-AF65-F5344CB8AC3E}">
        <p14:creationId xmlns:p14="http://schemas.microsoft.com/office/powerpoint/2010/main" val="3306474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DA907-8874-5EEB-BA8A-B72A8E64BB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612DD-18CA-827A-90B8-C769552E6F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F4A8C-BC03-36D5-066B-68A2B63E5E5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741960D-8D62-36B0-9C8F-C18A85FB6990}"/>
              </a:ext>
            </a:extLst>
          </p:cNvPr>
          <p:cNvSpPr>
            <a:spLocks noGrp="1"/>
          </p:cNvSpPr>
          <p:nvPr>
            <p:ph type="sldNum" sz="quarter" idx="5"/>
          </p:nvPr>
        </p:nvSpPr>
        <p:spPr/>
        <p:txBody>
          <a:bodyPr rtlCol="0"/>
          <a:lstStyle/>
          <a:p>
            <a:pPr rtl="0"/>
            <a:fld id="{68B68C18-1BF1-F447-95ED-60EAAE35426E}" type="slidenum">
              <a:rPr lang="en-GB" smtClean="0"/>
              <a:t>27</a:t>
            </a:fld>
            <a:endParaRPr lang="en-GB"/>
          </a:p>
        </p:txBody>
      </p:sp>
    </p:spTree>
    <p:extLst>
      <p:ext uri="{BB962C8B-B14F-4D97-AF65-F5344CB8AC3E}">
        <p14:creationId xmlns:p14="http://schemas.microsoft.com/office/powerpoint/2010/main" val="31532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12C9D-E50E-0E61-E1B2-7EA6A4A44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17ED75-E82D-90A6-8E52-A1AD91B9E5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CE6E84-BD2C-05D0-291F-74CB38D5CE92}"/>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C8EBA88F-D1AC-7015-4EE6-394B48164A98}"/>
              </a:ext>
            </a:extLst>
          </p:cNvPr>
          <p:cNvSpPr>
            <a:spLocks noGrp="1"/>
          </p:cNvSpPr>
          <p:nvPr>
            <p:ph type="sldNum" sz="quarter" idx="5"/>
          </p:nvPr>
        </p:nvSpPr>
        <p:spPr/>
        <p:txBody>
          <a:bodyPr rtlCol="0"/>
          <a:lstStyle/>
          <a:p>
            <a:pPr rtl="0"/>
            <a:fld id="{68B68C18-1BF1-F447-95ED-60EAAE35426E}" type="slidenum">
              <a:rPr lang="en-GB" smtClean="0"/>
              <a:t>28</a:t>
            </a:fld>
            <a:endParaRPr lang="en-GB"/>
          </a:p>
        </p:txBody>
      </p:sp>
    </p:spTree>
    <p:extLst>
      <p:ext uri="{BB962C8B-B14F-4D97-AF65-F5344CB8AC3E}">
        <p14:creationId xmlns:p14="http://schemas.microsoft.com/office/powerpoint/2010/main" val="5160503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22662-553B-12F9-7C28-7D565718D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7E4EE-DF1B-B76F-19DB-357E359F4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4DC85-5236-2F8C-BC74-91E2E8CF65B4}"/>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03D66A00-180C-7582-875E-6708C05852BB}"/>
              </a:ext>
            </a:extLst>
          </p:cNvPr>
          <p:cNvSpPr>
            <a:spLocks noGrp="1"/>
          </p:cNvSpPr>
          <p:nvPr>
            <p:ph type="sldNum" sz="quarter" idx="5"/>
          </p:nvPr>
        </p:nvSpPr>
        <p:spPr/>
        <p:txBody>
          <a:bodyPr rtlCol="0"/>
          <a:lstStyle/>
          <a:p>
            <a:pPr rtl="0"/>
            <a:fld id="{68B68C18-1BF1-F447-95ED-60EAAE35426E}" type="slidenum">
              <a:rPr lang="en-GB" smtClean="0"/>
              <a:t>29</a:t>
            </a:fld>
            <a:endParaRPr lang="en-GB"/>
          </a:p>
        </p:txBody>
      </p:sp>
    </p:spTree>
    <p:extLst>
      <p:ext uri="{BB962C8B-B14F-4D97-AF65-F5344CB8AC3E}">
        <p14:creationId xmlns:p14="http://schemas.microsoft.com/office/powerpoint/2010/main" val="1884538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E1C45-4CF3-38CE-B35B-286812B472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572B4-CB49-2F8D-5C7F-1254420B56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6941C3-55C8-8FD7-7D8F-B9EB02074384}"/>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389B2D4-B7E8-0058-CC4E-A9C4D58EF2FC}"/>
              </a:ext>
            </a:extLst>
          </p:cNvPr>
          <p:cNvSpPr>
            <a:spLocks noGrp="1"/>
          </p:cNvSpPr>
          <p:nvPr>
            <p:ph type="sldNum" sz="quarter" idx="5"/>
          </p:nvPr>
        </p:nvSpPr>
        <p:spPr/>
        <p:txBody>
          <a:bodyPr rtlCol="0"/>
          <a:lstStyle/>
          <a:p>
            <a:pPr rtl="0"/>
            <a:fld id="{68B68C18-1BF1-F447-95ED-60EAAE35426E}" type="slidenum">
              <a:rPr lang="en-GB" smtClean="0"/>
              <a:t>30</a:t>
            </a:fld>
            <a:endParaRPr lang="en-GB"/>
          </a:p>
        </p:txBody>
      </p:sp>
    </p:spTree>
    <p:extLst>
      <p:ext uri="{BB962C8B-B14F-4D97-AF65-F5344CB8AC3E}">
        <p14:creationId xmlns:p14="http://schemas.microsoft.com/office/powerpoint/2010/main" val="33691258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EB2D1-E1FA-7C11-9EA7-CCAA4458A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97260-2A55-ED08-568E-458A78D694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B811D-A846-3E2E-76B3-0E71B6C29A35}"/>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20B2C04A-81AB-49F1-3B77-E121A75DA048}"/>
              </a:ext>
            </a:extLst>
          </p:cNvPr>
          <p:cNvSpPr>
            <a:spLocks noGrp="1"/>
          </p:cNvSpPr>
          <p:nvPr>
            <p:ph type="sldNum" sz="quarter" idx="5"/>
          </p:nvPr>
        </p:nvSpPr>
        <p:spPr/>
        <p:txBody>
          <a:bodyPr rtlCol="0"/>
          <a:lstStyle/>
          <a:p>
            <a:pPr rtl="0"/>
            <a:fld id="{68B68C18-1BF1-F447-95ED-60EAAE35426E}" type="slidenum">
              <a:rPr lang="en-GB" smtClean="0"/>
              <a:t>31</a:t>
            </a:fld>
            <a:endParaRPr lang="en-GB"/>
          </a:p>
        </p:txBody>
      </p:sp>
    </p:spTree>
    <p:extLst>
      <p:ext uri="{BB962C8B-B14F-4D97-AF65-F5344CB8AC3E}">
        <p14:creationId xmlns:p14="http://schemas.microsoft.com/office/powerpoint/2010/main" val="27179320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C1FEB-5CB9-DC66-CB4A-F9A462BDC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AA2B6F-A46E-4E80-6080-205BA30A4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CCC410-18E6-6801-F0DF-84389C207042}"/>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FAFE2BF3-D729-89C9-E373-B4DB2907000C}"/>
              </a:ext>
            </a:extLst>
          </p:cNvPr>
          <p:cNvSpPr>
            <a:spLocks noGrp="1"/>
          </p:cNvSpPr>
          <p:nvPr>
            <p:ph type="sldNum" sz="quarter" idx="5"/>
          </p:nvPr>
        </p:nvSpPr>
        <p:spPr/>
        <p:txBody>
          <a:bodyPr rtlCol="0"/>
          <a:lstStyle/>
          <a:p>
            <a:pPr rtl="0"/>
            <a:fld id="{68B68C18-1BF1-F447-95ED-60EAAE35426E}" type="slidenum">
              <a:rPr lang="en-GB" smtClean="0"/>
              <a:t>32</a:t>
            </a:fld>
            <a:endParaRPr lang="en-GB"/>
          </a:p>
        </p:txBody>
      </p:sp>
    </p:spTree>
    <p:extLst>
      <p:ext uri="{BB962C8B-B14F-4D97-AF65-F5344CB8AC3E}">
        <p14:creationId xmlns:p14="http://schemas.microsoft.com/office/powerpoint/2010/main" val="877014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137A75DA-C6FF-4420-94B9-E3338D1F9A04}"/>
              </a:ext>
            </a:extLst>
          </p:cNvPr>
          <p:cNvSpPr>
            <a:spLocks noGrp="1"/>
          </p:cNvSpPr>
          <p:nvPr>
            <p:ph type="pic" sz="quarter" idx="10" hasCustomPrompt="1"/>
          </p:nvPr>
        </p:nvSpPr>
        <p:spPr>
          <a:xfrm>
            <a:off x="2743615" y="1367500"/>
            <a:ext cx="2397795" cy="2397795"/>
          </a:xfrm>
          <a:prstGeom prst="ellipse">
            <a:avLst/>
          </a:prstGeom>
          <a:solidFill>
            <a:schemeClr val="bg1"/>
          </a:solidFill>
        </p:spPr>
        <p:txBody>
          <a:bodyPr rtlCol="0" anchor="ctr"/>
          <a:lstStyle>
            <a:lvl1pPr marL="0" indent="0" algn="ctr">
              <a:buNone/>
              <a:defRPr i="1"/>
            </a:lvl1pPr>
          </a:lstStyle>
          <a:p>
            <a:pPr rtl="0"/>
            <a:r>
              <a:rPr lang="en-GB" noProof="0"/>
              <a:t>Insert Portrait Photo</a:t>
            </a:r>
          </a:p>
        </p:txBody>
      </p:sp>
    </p:spTree>
    <p:extLst>
      <p:ext uri="{BB962C8B-B14F-4D97-AF65-F5344CB8AC3E}">
        <p14:creationId xmlns:p14="http://schemas.microsoft.com/office/powerpoint/2010/main" val="182742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E2565D1-06D8-4141-9B5F-95C29313C16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Text Placeholder 19">
            <a:extLst>
              <a:ext uri="{FF2B5EF4-FFF2-40B4-BE49-F238E27FC236}">
                <a16:creationId xmlns:a16="http://schemas.microsoft.com/office/drawing/2014/main" id="{04FBD4F5-432F-4C2D-A734-6CC48615FF21}"/>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sp>
        <p:nvSpPr>
          <p:cNvPr id="3" name="Content Placeholder 2"/>
          <p:cNvSpPr>
            <a:spLocks noGrp="1"/>
          </p:cNvSpPr>
          <p:nvPr>
            <p:ph idx="1" hasCustomPrompt="1"/>
          </p:nvPr>
        </p:nvSpPr>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E076178D-3F32-40F0-BDF4-CDEBDAACF6DF}" type="datetime1">
              <a:rPr lang="en-GB" noProof="0" smtClean="0"/>
              <a:t>17/03/2026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11" name="Title 1">
            <a:extLst>
              <a:ext uri="{FF2B5EF4-FFF2-40B4-BE49-F238E27FC236}">
                <a16:creationId xmlns:a16="http://schemas.microsoft.com/office/drawing/2014/main" id="{3837580B-9009-4524-B820-7ACB27BCBEB4}"/>
              </a:ext>
            </a:extLst>
          </p:cNvPr>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cxnSp>
        <p:nvCxnSpPr>
          <p:cNvPr id="12" name="Straight Connector 11" title="Horizontal Rule Line">
            <a:extLst>
              <a:ext uri="{FF2B5EF4-FFF2-40B4-BE49-F238E27FC236}">
                <a16:creationId xmlns:a16="http://schemas.microsoft.com/office/drawing/2014/main" id="{54F1A406-73A8-450C-B21C-AA9616F476C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5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 Image / Icon Bullets Ligh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p>
            <a:pPr rtl="0"/>
            <a:fld id="{77402A71-B2DA-4640-AFBC-A08F749C812D}" type="datetime1">
              <a:rPr lang="en-GB" noProof="0" smtClean="0"/>
              <a:t>17/03/2026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0CF91DE7-F23F-444D-B56E-B059EC98D983}"/>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8">
            <a:extLst>
              <a:ext uri="{FF2B5EF4-FFF2-40B4-BE49-F238E27FC236}">
                <a16:creationId xmlns:a16="http://schemas.microsoft.com/office/drawing/2014/main" id="{DD8B7AFB-040F-4222-BF21-649EEB9B7663}"/>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10">
            <a:extLst>
              <a:ext uri="{FF2B5EF4-FFF2-40B4-BE49-F238E27FC236}">
                <a16:creationId xmlns:a16="http://schemas.microsoft.com/office/drawing/2014/main" id="{36C44B50-DCD8-4661-AE20-1744F5052F2B}"/>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6">
            <a:extLst>
              <a:ext uri="{FF2B5EF4-FFF2-40B4-BE49-F238E27FC236}">
                <a16:creationId xmlns:a16="http://schemas.microsoft.com/office/drawing/2014/main" id="{C0107EA4-5D36-4C90-97D0-F9F14116BDE7}"/>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15">
            <a:extLst>
              <a:ext uri="{FF2B5EF4-FFF2-40B4-BE49-F238E27FC236}">
                <a16:creationId xmlns:a16="http://schemas.microsoft.com/office/drawing/2014/main" id="{CB22D40E-097C-4007-9190-A37498065321}"/>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8">
            <a:extLst>
              <a:ext uri="{FF2B5EF4-FFF2-40B4-BE49-F238E27FC236}">
                <a16:creationId xmlns:a16="http://schemas.microsoft.com/office/drawing/2014/main" id="{D385A57E-D5E6-4E0A-BE4C-C1B40196AB2B}"/>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Picture Placeholder 22">
            <a:extLst>
              <a:ext uri="{FF2B5EF4-FFF2-40B4-BE49-F238E27FC236}">
                <a16:creationId xmlns:a16="http://schemas.microsoft.com/office/drawing/2014/main" id="{3D1BBD84-BA1A-4F7F-BD78-6D42162E33D5}"/>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7" name="Picture Placeholder 24">
            <a:extLst>
              <a:ext uri="{FF2B5EF4-FFF2-40B4-BE49-F238E27FC236}">
                <a16:creationId xmlns:a16="http://schemas.microsoft.com/office/drawing/2014/main" id="{75DDD589-ADD5-491E-B180-F1FCDF9ED6A1}"/>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8" name="Picture Placeholder 26">
            <a:extLst>
              <a:ext uri="{FF2B5EF4-FFF2-40B4-BE49-F238E27FC236}">
                <a16:creationId xmlns:a16="http://schemas.microsoft.com/office/drawing/2014/main" id="{BFFFDD99-5C1A-4C7C-8FA2-BEA3DB4BA884}"/>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9" name="Picture Placeholder 30">
            <a:extLst>
              <a:ext uri="{FF2B5EF4-FFF2-40B4-BE49-F238E27FC236}">
                <a16:creationId xmlns:a16="http://schemas.microsoft.com/office/drawing/2014/main" id="{23C5456C-A352-4CF6-8671-B2572BAD518D}"/>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0" name="Picture Placeholder 32">
            <a:extLst>
              <a:ext uri="{FF2B5EF4-FFF2-40B4-BE49-F238E27FC236}">
                <a16:creationId xmlns:a16="http://schemas.microsoft.com/office/drawing/2014/main" id="{C7C33AAD-B12F-4AA1-80BD-D7D3D1304B98}"/>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1" name="Picture Placeholder 34">
            <a:extLst>
              <a:ext uri="{FF2B5EF4-FFF2-40B4-BE49-F238E27FC236}">
                <a16:creationId xmlns:a16="http://schemas.microsoft.com/office/drawing/2014/main" id="{E2951AF1-2CE3-48B5-9CF3-7488DCDF3299}"/>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Tree>
    <p:extLst>
      <p:ext uri="{BB962C8B-B14F-4D97-AF65-F5344CB8AC3E}">
        <p14:creationId xmlns:p14="http://schemas.microsoft.com/office/powerpoint/2010/main" val="418798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mbered Bullets in a row">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3" name="Content Placeholder 2"/>
          <p:cNvSpPr>
            <a:spLocks noGrp="1"/>
          </p:cNvSpPr>
          <p:nvPr>
            <p:ph idx="1" hasCustomPrompt="1"/>
          </p:nvPr>
        </p:nvSpPr>
        <p:spPr>
          <a:xfrm>
            <a:off x="5162550" y="2019300"/>
            <a:ext cx="1944000" cy="2700000"/>
          </a:xfrm>
          <a:gradFill>
            <a:gsLst>
              <a:gs pos="0">
                <a:schemeClr val="accent1">
                  <a:lumMod val="20000"/>
                  <a:lumOff val="80000"/>
                </a:schemeClr>
              </a:gs>
              <a:gs pos="99000">
                <a:schemeClr val="accent1">
                  <a:lumMod val="20000"/>
                  <a:lumOff val="80000"/>
                </a:schemeClr>
              </a:gs>
              <a:gs pos="100000">
                <a:schemeClr val="accent1"/>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4" name="Date Placeholder 3"/>
          <p:cNvSpPr>
            <a:spLocks noGrp="1"/>
          </p:cNvSpPr>
          <p:nvPr>
            <p:ph type="dt" sz="half" idx="10"/>
          </p:nvPr>
        </p:nvSpPr>
        <p:spPr/>
        <p:txBody>
          <a:bodyPr rtlCol="0"/>
          <a:lstStyle/>
          <a:p>
            <a:pPr rtl="0"/>
            <a:fld id="{03735262-5D60-41D9-A9B6-FF5E468F41DF}" type="datetime1">
              <a:rPr lang="en-GB" noProof="0" smtClean="0"/>
              <a:t>17/03/2026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9" name="Text Placeholder 8">
            <a:extLst>
              <a:ext uri="{FF2B5EF4-FFF2-40B4-BE49-F238E27FC236}">
                <a16:creationId xmlns:a16="http://schemas.microsoft.com/office/drawing/2014/main" id="{617748B7-E5B4-4481-8BBD-FA336F544D66}"/>
              </a:ext>
            </a:extLst>
          </p:cNvPr>
          <p:cNvSpPr>
            <a:spLocks noGrp="1"/>
          </p:cNvSpPr>
          <p:nvPr>
            <p:ph type="body" sz="quarter" idx="13" hasCustomPrompt="1"/>
          </p:nvPr>
        </p:nvSpPr>
        <p:spPr>
          <a:xfrm>
            <a:off x="7295806" y="2019300"/>
            <a:ext cx="1943100" cy="2700000"/>
          </a:xfrm>
          <a:gradFill>
            <a:gsLst>
              <a:gs pos="0">
                <a:schemeClr val="accent3">
                  <a:lumMod val="20000"/>
                  <a:lumOff val="80000"/>
                </a:schemeClr>
              </a:gs>
              <a:gs pos="99000">
                <a:schemeClr val="accent3">
                  <a:lumMod val="20000"/>
                  <a:lumOff val="80000"/>
                </a:schemeClr>
              </a:gs>
              <a:gs pos="100000">
                <a:schemeClr val="accent3"/>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1" name="Text Placeholder 10">
            <a:extLst>
              <a:ext uri="{FF2B5EF4-FFF2-40B4-BE49-F238E27FC236}">
                <a16:creationId xmlns:a16="http://schemas.microsoft.com/office/drawing/2014/main" id="{47DBBB1B-8761-455D-AD09-0A48C1ED27E0}"/>
              </a:ext>
            </a:extLst>
          </p:cNvPr>
          <p:cNvSpPr>
            <a:spLocks noGrp="1"/>
          </p:cNvSpPr>
          <p:nvPr>
            <p:ph type="body" sz="quarter" idx="14" hasCustomPrompt="1"/>
          </p:nvPr>
        </p:nvSpPr>
        <p:spPr>
          <a:xfrm>
            <a:off x="9428163" y="2019300"/>
            <a:ext cx="1943100" cy="2700000"/>
          </a:xfrm>
          <a:gradFill>
            <a:gsLst>
              <a:gs pos="0">
                <a:schemeClr val="accent5">
                  <a:lumMod val="20000"/>
                  <a:lumOff val="80000"/>
                </a:schemeClr>
              </a:gs>
              <a:gs pos="99000">
                <a:schemeClr val="accent5">
                  <a:lumMod val="20000"/>
                  <a:lumOff val="80000"/>
                </a:schemeClr>
              </a:gs>
              <a:gs pos="100000">
                <a:schemeClr val="accent5"/>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3" name="Text Placeholder 12">
            <a:extLst>
              <a:ext uri="{FF2B5EF4-FFF2-40B4-BE49-F238E27FC236}">
                <a16:creationId xmlns:a16="http://schemas.microsoft.com/office/drawing/2014/main" id="{701A7388-8628-470F-82E9-729C86AAFDC5}"/>
              </a:ext>
            </a:extLst>
          </p:cNvPr>
          <p:cNvSpPr>
            <a:spLocks noGrp="1"/>
          </p:cNvSpPr>
          <p:nvPr>
            <p:ph type="body" sz="quarter" idx="15" hasCustomPrompt="1"/>
          </p:nvPr>
        </p:nvSpPr>
        <p:spPr>
          <a:xfrm>
            <a:off x="5720550" y="2324100"/>
            <a:ext cx="828000" cy="828000"/>
          </a:xfrm>
          <a:prstGeom prst="ellipse">
            <a:avLst/>
          </a:prstGeom>
          <a:solidFill>
            <a:schemeClr val="tx1">
              <a:lumMod val="85000"/>
              <a:lumOff val="15000"/>
            </a:schemeClr>
          </a:solidFill>
        </p:spPr>
        <p:txBody>
          <a:bodyPr lIns="0" tIns="0" rIns="0" bIns="0" rtlCol="0" anchor="ctr">
            <a:noAutofit/>
          </a:bodyPr>
          <a:lstStyle>
            <a:lvl1pPr marL="0" indent="0" algn="ctr">
              <a:lnSpc>
                <a:spcPct val="100000"/>
              </a:lnSpc>
              <a:buNone/>
              <a:defRPr sz="2000" i="1">
                <a:solidFill>
                  <a:schemeClr val="bg1"/>
                </a:solidFill>
                <a:latin typeface="+mj-lt"/>
              </a:defRPr>
            </a:lvl1pPr>
          </a:lstStyle>
          <a:p>
            <a:pPr lvl="0" rtl="0"/>
            <a:r>
              <a:rPr lang="en-GB" noProof="0"/>
              <a:t>1</a:t>
            </a:r>
          </a:p>
        </p:txBody>
      </p:sp>
      <p:sp>
        <p:nvSpPr>
          <p:cNvPr id="15" name="Text Placeholder 14">
            <a:extLst>
              <a:ext uri="{FF2B5EF4-FFF2-40B4-BE49-F238E27FC236}">
                <a16:creationId xmlns:a16="http://schemas.microsoft.com/office/drawing/2014/main" id="{CAE5D4FA-2556-4640-8793-063247AA272E}"/>
              </a:ext>
            </a:extLst>
          </p:cNvPr>
          <p:cNvSpPr>
            <a:spLocks noGrp="1"/>
          </p:cNvSpPr>
          <p:nvPr>
            <p:ph type="body" sz="quarter" idx="16" hasCustomPrompt="1"/>
          </p:nvPr>
        </p:nvSpPr>
        <p:spPr>
          <a:xfrm>
            <a:off x="7853356"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2</a:t>
            </a:r>
          </a:p>
        </p:txBody>
      </p:sp>
      <p:sp>
        <p:nvSpPr>
          <p:cNvPr id="17" name="Text Placeholder 16">
            <a:extLst>
              <a:ext uri="{FF2B5EF4-FFF2-40B4-BE49-F238E27FC236}">
                <a16:creationId xmlns:a16="http://schemas.microsoft.com/office/drawing/2014/main" id="{8379251E-EDF2-4AC5-AB5B-C1FD66A9D6F3}"/>
              </a:ext>
            </a:extLst>
          </p:cNvPr>
          <p:cNvSpPr>
            <a:spLocks noGrp="1"/>
          </p:cNvSpPr>
          <p:nvPr>
            <p:ph type="body" sz="quarter" idx="17" hasCustomPrompt="1"/>
          </p:nvPr>
        </p:nvSpPr>
        <p:spPr>
          <a:xfrm>
            <a:off x="9985713"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3</a:t>
            </a:r>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316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ED3A9150-039F-4FB9-B8A2-F8F4040C0201}" type="datetime1">
              <a:rPr lang="en-GB" noProof="0" smtClean="0"/>
              <a:t>17/03/2026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914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Image / Icon Bullets">
    <p:bg>
      <p:bgPr>
        <a:solidFill>
          <a:schemeClr val="bg2"/>
        </a:solidFill>
        <a:effectLst/>
      </p:bgPr>
    </p:bg>
    <p:spTree>
      <p:nvGrpSpPr>
        <p:cNvPr id="1" name=""/>
        <p:cNvGrpSpPr/>
        <p:nvPr/>
      </p:nvGrpSpPr>
      <p:grpSpPr>
        <a:xfrm>
          <a:off x="0" y="0"/>
          <a:ext cx="0" cy="0"/>
          <a:chOff x="0" y="0"/>
          <a:chExt cx="0" cy="0"/>
        </a:xfrm>
      </p:grpSpPr>
      <p:sp>
        <p:nvSpPr>
          <p:cNvPr id="9" name="Freeform 6" title="Page Number Shape">
            <a:extLst>
              <a:ext uri="{FF2B5EF4-FFF2-40B4-BE49-F238E27FC236}">
                <a16:creationId xmlns:a16="http://schemas.microsoft.com/office/drawing/2014/main" id="{4C028BF1-8F7F-4E8E-9D47-05D46323E336}"/>
              </a:ext>
            </a:extLst>
          </p:cNvPr>
          <p:cNvSpPr/>
          <p:nvPr userDrawn="1"/>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solidFill>
          <a:ln w="0">
            <a:noFill/>
            <a:prstDash val="solid"/>
            <a:round/>
            <a:headEnd/>
            <a:tailEnd/>
          </a:ln>
        </p:spPr>
      </p:sp>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72DDA0E7-BF30-41B3-BA7F-0CB648457625}" type="datetime1">
              <a:rPr lang="en-GB" noProof="0" smtClean="0"/>
              <a:t>17/03/2026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5D7203A2-76F7-4D98-BFEB-C48DDC3E5C6C}"/>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1" name="Text Placeholder 8">
            <a:extLst>
              <a:ext uri="{FF2B5EF4-FFF2-40B4-BE49-F238E27FC236}">
                <a16:creationId xmlns:a16="http://schemas.microsoft.com/office/drawing/2014/main" id="{333FF03C-99D8-472E-A74F-87D3B5A5696D}"/>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2" name="Text Placeholder 10">
            <a:extLst>
              <a:ext uri="{FF2B5EF4-FFF2-40B4-BE49-F238E27FC236}">
                <a16:creationId xmlns:a16="http://schemas.microsoft.com/office/drawing/2014/main" id="{982C482D-2EED-4942-A5D4-D8A794C2486A}"/>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7" name="Text Placeholder 6">
            <a:extLst>
              <a:ext uri="{FF2B5EF4-FFF2-40B4-BE49-F238E27FC236}">
                <a16:creationId xmlns:a16="http://schemas.microsoft.com/office/drawing/2014/main" id="{51D4C5CB-E26D-42D3-B242-792D37C5074D}"/>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6" name="Text Placeholder 15">
            <a:extLst>
              <a:ext uri="{FF2B5EF4-FFF2-40B4-BE49-F238E27FC236}">
                <a16:creationId xmlns:a16="http://schemas.microsoft.com/office/drawing/2014/main" id="{8F1F9D8C-5E2A-414E-9E1D-AB7DF4824DB3}"/>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18">
            <a:extLst>
              <a:ext uri="{FF2B5EF4-FFF2-40B4-BE49-F238E27FC236}">
                <a16:creationId xmlns:a16="http://schemas.microsoft.com/office/drawing/2014/main" id="{571AC612-4E8C-42E2-88EB-DB98E2791D0C}"/>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Picture Placeholder 22">
            <a:extLst>
              <a:ext uri="{FF2B5EF4-FFF2-40B4-BE49-F238E27FC236}">
                <a16:creationId xmlns:a16="http://schemas.microsoft.com/office/drawing/2014/main" id="{2AA95DF8-549D-4CA3-8E1A-D2DEB8CF4608}"/>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5" name="Picture Placeholder 24">
            <a:extLst>
              <a:ext uri="{FF2B5EF4-FFF2-40B4-BE49-F238E27FC236}">
                <a16:creationId xmlns:a16="http://schemas.microsoft.com/office/drawing/2014/main" id="{AA78BAAC-8764-4AFE-9AC1-DF47930B46EB}"/>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7" name="Picture Placeholder 26">
            <a:extLst>
              <a:ext uri="{FF2B5EF4-FFF2-40B4-BE49-F238E27FC236}">
                <a16:creationId xmlns:a16="http://schemas.microsoft.com/office/drawing/2014/main" id="{88491EA9-E431-4D48-BD30-3BA8FACC97F2}"/>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1" name="Picture Placeholder 30">
            <a:extLst>
              <a:ext uri="{FF2B5EF4-FFF2-40B4-BE49-F238E27FC236}">
                <a16:creationId xmlns:a16="http://schemas.microsoft.com/office/drawing/2014/main" id="{130F713C-752D-4C1A-89AB-638A7DAF60A8}"/>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3" name="Picture Placeholder 32">
            <a:extLst>
              <a:ext uri="{FF2B5EF4-FFF2-40B4-BE49-F238E27FC236}">
                <a16:creationId xmlns:a16="http://schemas.microsoft.com/office/drawing/2014/main" id="{EDF00299-5001-4927-B344-D4AE0D5F0393}"/>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5" name="Picture Placeholder 34">
            <a:extLst>
              <a:ext uri="{FF2B5EF4-FFF2-40B4-BE49-F238E27FC236}">
                <a16:creationId xmlns:a16="http://schemas.microsoft.com/office/drawing/2014/main" id="{4CBE51A8-3BCA-490E-93CB-B70BBCCD9671}"/>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Tree>
    <p:extLst>
      <p:ext uri="{BB962C8B-B14F-4D97-AF65-F5344CB8AC3E}">
        <p14:creationId xmlns:p14="http://schemas.microsoft.com/office/powerpoint/2010/main" val="123252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Medium Photos with Description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hasCustomPrompt="1"/>
          </p:nvPr>
        </p:nvSpPr>
        <p:spPr>
          <a:xfrm>
            <a:off x="762000" y="2831932"/>
            <a:ext cx="3833906" cy="1562638"/>
          </a:xfrm>
        </p:spPr>
        <p:txBody>
          <a:bodyPr rtlCol="0" anchor="b"/>
          <a:lstStyle>
            <a:lvl1pPr>
              <a:defRPr/>
            </a:lvl1pPr>
          </a:lstStyle>
          <a:p>
            <a:pPr rtl="0"/>
            <a:r>
              <a:rPr lang="en-GB" noProof="0"/>
              <a:t>Click to edit your title</a:t>
            </a:r>
          </a:p>
        </p:txBody>
      </p:sp>
      <p:sp>
        <p:nvSpPr>
          <p:cNvPr id="4" name="Date Placeholder 3"/>
          <p:cNvSpPr>
            <a:spLocks noGrp="1"/>
          </p:cNvSpPr>
          <p:nvPr>
            <p:ph type="dt" sz="half" idx="10"/>
          </p:nvPr>
        </p:nvSpPr>
        <p:spPr/>
        <p:txBody>
          <a:bodyPr rtlCol="0"/>
          <a:lstStyle/>
          <a:p>
            <a:pPr rtl="0"/>
            <a:fld id="{80F5BBF8-60EF-4A58-8AA1-0E5D107F711D}" type="datetime1">
              <a:rPr lang="en-GB" noProof="0" smtClean="0"/>
              <a:t>17/03/2026</a:t>
            </a:fld>
            <a:endParaRPr lang="en-GB" noProof="0"/>
          </a:p>
        </p:txBody>
      </p:sp>
      <p:sp>
        <p:nvSpPr>
          <p:cNvPr id="5" name="Footer Placeholder 4"/>
          <p:cNvSpPr>
            <a:spLocks noGrp="1"/>
          </p:cNvSpPr>
          <p:nvPr>
            <p:ph type="ftr" sz="quarter" idx="11"/>
          </p:nvPr>
        </p:nvSpPr>
        <p:spPr/>
        <p:txBody>
          <a:bodyPr rtlCol="0"/>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4573117"/>
            <a:ext cx="3842550" cy="1178396"/>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Picture Placeholder 10">
            <a:extLst>
              <a:ext uri="{FF2B5EF4-FFF2-40B4-BE49-F238E27FC236}">
                <a16:creationId xmlns:a16="http://schemas.microsoft.com/office/drawing/2014/main" id="{4EDDE9BC-8D20-403B-A5FE-C277A3515DE4}"/>
              </a:ext>
            </a:extLst>
          </p:cNvPr>
          <p:cNvSpPr>
            <a:spLocks noGrp="1"/>
          </p:cNvSpPr>
          <p:nvPr>
            <p:ph type="pic" sz="quarter" idx="19" hasCustomPrompt="1"/>
          </p:nvPr>
        </p:nvSpPr>
        <p:spPr>
          <a:xfrm>
            <a:off x="2424736" y="482857"/>
            <a:ext cx="2179814" cy="2179814"/>
          </a:xfrm>
          <a:prstGeom prst="ellipse">
            <a:avLst/>
          </a:prstGeom>
          <a:solidFill>
            <a:schemeClr val="bg1">
              <a:lumMod val="95000"/>
            </a:schemeClr>
          </a:solidFill>
        </p:spPr>
        <p:txBody>
          <a:bodyPr rtlCol="0" anchor="ctr"/>
          <a:lstStyle>
            <a:lvl1pPr marL="0" indent="0" algn="ctr">
              <a:buNone/>
              <a:defRPr i="1"/>
            </a:lvl1pPr>
          </a:lstStyle>
          <a:p>
            <a:pPr rtl="0"/>
            <a:r>
              <a:rPr lang="en-GB" noProof="0"/>
              <a:t>Insert Portrait Photo</a:t>
            </a:r>
          </a:p>
        </p:txBody>
      </p:sp>
      <p:sp>
        <p:nvSpPr>
          <p:cNvPr id="19" name="Content Placeholder 2">
            <a:extLst>
              <a:ext uri="{FF2B5EF4-FFF2-40B4-BE49-F238E27FC236}">
                <a16:creationId xmlns:a16="http://schemas.microsoft.com/office/drawing/2014/main" id="{2BF5E186-AFA1-42AA-AE51-CF3AC059F0FB}"/>
              </a:ext>
            </a:extLst>
          </p:cNvPr>
          <p:cNvSpPr>
            <a:spLocks noGrp="1"/>
          </p:cNvSpPr>
          <p:nvPr>
            <p:ph idx="1" hasCustomPrompt="1"/>
          </p:nvPr>
        </p:nvSpPr>
        <p:spPr>
          <a:xfrm>
            <a:off x="5162550"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8">
            <a:extLst>
              <a:ext uri="{FF2B5EF4-FFF2-40B4-BE49-F238E27FC236}">
                <a16:creationId xmlns:a16="http://schemas.microsoft.com/office/drawing/2014/main" id="{C860CCD0-F268-4994-9434-F0E0132A4E53}"/>
              </a:ext>
            </a:extLst>
          </p:cNvPr>
          <p:cNvSpPr>
            <a:spLocks noGrp="1"/>
          </p:cNvSpPr>
          <p:nvPr>
            <p:ph type="body" sz="quarter" idx="13" hasCustomPrompt="1"/>
          </p:nvPr>
        </p:nvSpPr>
        <p:spPr>
          <a:xfrm>
            <a:off x="7295581"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10">
            <a:extLst>
              <a:ext uri="{FF2B5EF4-FFF2-40B4-BE49-F238E27FC236}">
                <a16:creationId xmlns:a16="http://schemas.microsoft.com/office/drawing/2014/main" id="{28D5E220-4F6C-4A47-9F47-4CA88EA230DF}"/>
              </a:ext>
            </a:extLst>
          </p:cNvPr>
          <p:cNvSpPr>
            <a:spLocks noGrp="1"/>
          </p:cNvSpPr>
          <p:nvPr>
            <p:ph type="body" sz="quarter" idx="14" hasCustomPrompt="1"/>
          </p:nvPr>
        </p:nvSpPr>
        <p:spPr>
          <a:xfrm>
            <a:off x="9428613"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6">
            <a:extLst>
              <a:ext uri="{FF2B5EF4-FFF2-40B4-BE49-F238E27FC236}">
                <a16:creationId xmlns:a16="http://schemas.microsoft.com/office/drawing/2014/main" id="{1DFEF73A-C0FC-4A4C-8342-991CEFF532E2}"/>
              </a:ext>
            </a:extLst>
          </p:cNvPr>
          <p:cNvSpPr>
            <a:spLocks noGrp="1"/>
          </p:cNvSpPr>
          <p:nvPr>
            <p:ph type="body" sz="quarter" idx="20" hasCustomPrompt="1"/>
          </p:nvPr>
        </p:nvSpPr>
        <p:spPr>
          <a:xfrm>
            <a:off x="5162550" y="3429000"/>
            <a:ext cx="1944000" cy="2700000"/>
          </a:xfrm>
          <a:solidFill>
            <a:schemeClr val="bg1"/>
          </a:solidFill>
        </p:spPr>
        <p:txBody>
          <a:bodyPr lIns="0" tIns="1944000" rIns="0" bIns="72000" rtlCol="0" anchor="ct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5">
            <a:extLst>
              <a:ext uri="{FF2B5EF4-FFF2-40B4-BE49-F238E27FC236}">
                <a16:creationId xmlns:a16="http://schemas.microsoft.com/office/drawing/2014/main" id="{E60572FB-0574-4BE3-9637-7CA7B5ACA8DE}"/>
              </a:ext>
            </a:extLst>
          </p:cNvPr>
          <p:cNvSpPr>
            <a:spLocks noGrp="1"/>
          </p:cNvSpPr>
          <p:nvPr>
            <p:ph type="body" sz="quarter" idx="21" hasCustomPrompt="1"/>
          </p:nvPr>
        </p:nvSpPr>
        <p:spPr>
          <a:xfrm>
            <a:off x="7295356"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Text Placeholder 18">
            <a:extLst>
              <a:ext uri="{FF2B5EF4-FFF2-40B4-BE49-F238E27FC236}">
                <a16:creationId xmlns:a16="http://schemas.microsoft.com/office/drawing/2014/main" id="{155E2FBC-2458-49C4-B75C-CAEAC6D9F10F}"/>
              </a:ext>
            </a:extLst>
          </p:cNvPr>
          <p:cNvSpPr>
            <a:spLocks noGrp="1"/>
          </p:cNvSpPr>
          <p:nvPr>
            <p:ph type="body" sz="quarter" idx="22" hasCustomPrompt="1"/>
          </p:nvPr>
        </p:nvSpPr>
        <p:spPr>
          <a:xfrm>
            <a:off x="9428163"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7" name="Picture Placeholder 22">
            <a:extLst>
              <a:ext uri="{FF2B5EF4-FFF2-40B4-BE49-F238E27FC236}">
                <a16:creationId xmlns:a16="http://schemas.microsoft.com/office/drawing/2014/main" id="{844B1DAB-161E-44A0-9E15-DA816B46A48E}"/>
              </a:ext>
            </a:extLst>
          </p:cNvPr>
          <p:cNvSpPr>
            <a:spLocks noGrp="1"/>
          </p:cNvSpPr>
          <p:nvPr>
            <p:ph type="pic" sz="quarter" idx="23" hasCustomPrompt="1"/>
          </p:nvPr>
        </p:nvSpPr>
        <p:spPr>
          <a:xfrm>
            <a:off x="5234550"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8" name="Picture Placeholder 24">
            <a:extLst>
              <a:ext uri="{FF2B5EF4-FFF2-40B4-BE49-F238E27FC236}">
                <a16:creationId xmlns:a16="http://schemas.microsoft.com/office/drawing/2014/main" id="{8811849A-335B-47C0-980E-357EE8C4BCC2}"/>
              </a:ext>
            </a:extLst>
          </p:cNvPr>
          <p:cNvSpPr>
            <a:spLocks noGrp="1"/>
          </p:cNvSpPr>
          <p:nvPr>
            <p:ph type="pic" sz="quarter" idx="24" hasCustomPrompt="1"/>
          </p:nvPr>
        </p:nvSpPr>
        <p:spPr>
          <a:xfrm>
            <a:off x="7367581"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29" name="Picture Placeholder 26">
            <a:extLst>
              <a:ext uri="{FF2B5EF4-FFF2-40B4-BE49-F238E27FC236}">
                <a16:creationId xmlns:a16="http://schemas.microsoft.com/office/drawing/2014/main" id="{E1254A81-6A51-429E-91AC-6B4CADA71DC5}"/>
              </a:ext>
            </a:extLst>
          </p:cNvPr>
          <p:cNvSpPr>
            <a:spLocks noGrp="1"/>
          </p:cNvSpPr>
          <p:nvPr>
            <p:ph type="pic" sz="quarter" idx="25" hasCustomPrompt="1"/>
          </p:nvPr>
        </p:nvSpPr>
        <p:spPr>
          <a:xfrm>
            <a:off x="9500613"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0" name="Picture Placeholder 30">
            <a:extLst>
              <a:ext uri="{FF2B5EF4-FFF2-40B4-BE49-F238E27FC236}">
                <a16:creationId xmlns:a16="http://schemas.microsoft.com/office/drawing/2014/main" id="{64053090-461C-448F-9705-7FEE78A41337}"/>
              </a:ext>
            </a:extLst>
          </p:cNvPr>
          <p:cNvSpPr>
            <a:spLocks noGrp="1"/>
          </p:cNvSpPr>
          <p:nvPr>
            <p:ph type="pic" sz="quarter" idx="26" hasCustomPrompt="1"/>
          </p:nvPr>
        </p:nvSpPr>
        <p:spPr>
          <a:xfrm>
            <a:off x="5234550"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1" name="Picture Placeholder 32">
            <a:extLst>
              <a:ext uri="{FF2B5EF4-FFF2-40B4-BE49-F238E27FC236}">
                <a16:creationId xmlns:a16="http://schemas.microsoft.com/office/drawing/2014/main" id="{7AD2F7CB-CFE4-4C72-864A-D00C1CEAA23D}"/>
              </a:ext>
            </a:extLst>
          </p:cNvPr>
          <p:cNvSpPr>
            <a:spLocks noGrp="1"/>
          </p:cNvSpPr>
          <p:nvPr>
            <p:ph type="pic" sz="quarter" idx="27" hasCustomPrompt="1"/>
          </p:nvPr>
        </p:nvSpPr>
        <p:spPr>
          <a:xfrm>
            <a:off x="7367581"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
        <p:nvSpPr>
          <p:cNvPr id="32" name="Picture Placeholder 34">
            <a:extLst>
              <a:ext uri="{FF2B5EF4-FFF2-40B4-BE49-F238E27FC236}">
                <a16:creationId xmlns:a16="http://schemas.microsoft.com/office/drawing/2014/main" id="{CCA07CA3-C8D4-41EA-A0FB-74E1A4770398}"/>
              </a:ext>
            </a:extLst>
          </p:cNvPr>
          <p:cNvSpPr>
            <a:spLocks noGrp="1"/>
          </p:cNvSpPr>
          <p:nvPr>
            <p:ph type="pic" sz="quarter" idx="28" hasCustomPrompt="1"/>
          </p:nvPr>
        </p:nvSpPr>
        <p:spPr>
          <a:xfrm>
            <a:off x="9500163"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a:t>Insert Icon / Picture</a:t>
            </a:r>
          </a:p>
        </p:txBody>
      </p:sp>
    </p:spTree>
    <p:extLst>
      <p:ext uri="{BB962C8B-B14F-4D97-AF65-F5344CB8AC3E}">
        <p14:creationId xmlns:p14="http://schemas.microsoft.com/office/powerpoint/2010/main" val="110807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31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1"/>
          <p:cNvSpPr>
            <a:spLocks noGrp="1"/>
          </p:cNvSpPr>
          <p:nvPr>
            <p:ph type="title"/>
          </p:nvPr>
        </p:nvSpPr>
        <p:spPr>
          <a:xfrm>
            <a:off x="1947673" y="2571722"/>
            <a:ext cx="8296654" cy="3286153"/>
          </a:xfrm>
        </p:spPr>
        <p:txBody>
          <a:bodyPr rtlCol="0" anchor="t">
            <a:normAutofit/>
          </a:bodyPr>
          <a:lstStyle>
            <a:lvl1pPr>
              <a:lnSpc>
                <a:spcPct val="85000"/>
              </a:lnSpc>
              <a:defRPr sz="7700" cap="none" baseline="0">
                <a:solidFill>
                  <a:schemeClr val="tx1">
                    <a:lumMod val="85000"/>
                    <a:lumOff val="15000"/>
                  </a:schemeClr>
                </a:solidFill>
              </a:defRPr>
            </a:lvl1pPr>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1947673" y="1393748"/>
            <a:ext cx="8401429" cy="819150"/>
          </a:xfrm>
        </p:spPr>
        <p:txBody>
          <a:bodyPr rtlCol="0"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noProof="0"/>
              <a:t>Edit Master text styles</a:t>
            </a:r>
          </a:p>
        </p:txBody>
      </p:sp>
      <p:sp>
        <p:nvSpPr>
          <p:cNvPr id="4" name="Date Placeholder 3"/>
          <p:cNvSpPr>
            <a:spLocks noGrp="1"/>
          </p:cNvSpPr>
          <p:nvPr>
            <p:ph type="dt" sz="half" idx="10"/>
          </p:nvPr>
        </p:nvSpPr>
        <p:spPr>
          <a:xfrm>
            <a:off x="8742955" y="6314439"/>
            <a:ext cx="1596622" cy="365125"/>
          </a:xfrm>
        </p:spPr>
        <p:txBody>
          <a:bodyPr rtlCol="0"/>
          <a:lstStyle>
            <a:lvl1pPr>
              <a:defRPr sz="1200">
                <a:solidFill>
                  <a:schemeClr val="tx1">
                    <a:lumMod val="85000"/>
                    <a:lumOff val="15000"/>
                  </a:schemeClr>
                </a:solidFill>
              </a:defRPr>
            </a:lvl1pPr>
          </a:lstStyle>
          <a:p>
            <a:pPr rtl="0"/>
            <a:fld id="{1C896760-A52A-4B0A-9FCE-F159B68F95D1}" type="datetime1">
              <a:rPr lang="en-GB" noProof="0" smtClean="0"/>
              <a:t>17/03/2026</a:t>
            </a:fld>
            <a:endParaRPr lang="en-GB" noProof="0"/>
          </a:p>
        </p:txBody>
      </p:sp>
      <p:sp>
        <p:nvSpPr>
          <p:cNvPr id="5" name="Footer Placeholder 4"/>
          <p:cNvSpPr>
            <a:spLocks noGrp="1"/>
          </p:cNvSpPr>
          <p:nvPr>
            <p:ph type="ftr" sz="quarter" idx="11"/>
          </p:nvPr>
        </p:nvSpPr>
        <p:spPr>
          <a:xfrm>
            <a:off x="1947673" y="6314440"/>
            <a:ext cx="6480226" cy="365125"/>
          </a:xfrm>
        </p:spPr>
        <p:txBody>
          <a:bodyPr rtlCol="0"/>
          <a:lstStyle>
            <a:lvl1pPr>
              <a:defRPr b="0">
                <a:solidFill>
                  <a:schemeClr val="tx1">
                    <a:lumMod val="85000"/>
                    <a:lumOff val="15000"/>
                  </a:schemeClr>
                </a:solidFill>
              </a:defRPr>
            </a:lvl1pPr>
          </a:lstStyle>
          <a:p>
            <a:pPr rtl="0"/>
            <a:endParaRPr lang="en-GB" noProof="0"/>
          </a:p>
        </p:txBody>
      </p:sp>
      <p:sp>
        <p:nvSpPr>
          <p:cNvPr id="6" name="Slide Number Placeholder 5"/>
          <p:cNvSpPr>
            <a:spLocks noGrp="1"/>
          </p:cNvSpPr>
          <p:nvPr>
            <p:ph type="sldNum" sz="quarter" idx="12"/>
          </p:nvPr>
        </p:nvSpPr>
        <p:spPr>
          <a:xfrm>
            <a:off x="11784011" y="1620760"/>
            <a:ext cx="407988" cy="365125"/>
          </a:xfrm>
        </p:spPr>
        <p:txBody>
          <a:bodyPr rtlCol="0"/>
          <a:lstStyle>
            <a:lvl1pPr>
              <a:defRPr>
                <a:solidFill>
                  <a:schemeClr val="bg2"/>
                </a:solidFill>
              </a:defRPr>
            </a:lvl1pPr>
          </a:lstStyle>
          <a:p>
            <a:pPr rtl="0"/>
            <a:fld id="{13D2E340-0663-474B-992C-9192B5C45E57}" type="slidenum">
              <a:rPr lang="en-GB" noProof="0" smtClean="0"/>
              <a:t>‹#›</a:t>
            </a:fld>
            <a:endParaRPr lang="en-GB" noProof="0"/>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5348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DAB8D192-CAF1-4A2C-85C9-1EDA35A31CD8}" type="datetime1">
              <a:rPr lang="en-GB" noProof="0" smtClean="0"/>
              <a:t>17/03/2026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FBC751F3-ABD6-4995-8494-4932D12ACE1B}"/>
              </a:ext>
            </a:extLst>
          </p:cNvPr>
          <p:cNvSpPr>
            <a:spLocks noGrp="1"/>
          </p:cNvSpPr>
          <p:nvPr>
            <p:ph sz="quarter" idx="19" hasCustomPrompt="1"/>
          </p:nvPr>
        </p:nvSpPr>
        <p:spPr>
          <a:xfrm>
            <a:off x="5326063" y="559678"/>
            <a:ext cx="6103937" cy="519183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287545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114259A3-C037-4D15-8CC5-E62C0AAC312D}" type="datetime1">
              <a:rPr lang="en-GB" noProof="0" smtClean="0"/>
              <a:t>17/03/2026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1466EC8C-C8BE-4149-A684-18CFF4574C18}"/>
              </a:ext>
            </a:extLst>
          </p:cNvPr>
          <p:cNvSpPr>
            <a:spLocks noGrp="1"/>
          </p:cNvSpPr>
          <p:nvPr>
            <p:ph type="pic" sz="quarter" idx="19"/>
          </p:nvPr>
        </p:nvSpPr>
        <p:spPr>
          <a:xfrm>
            <a:off x="5297488" y="559678"/>
            <a:ext cx="6132512" cy="5191835"/>
          </a:xfrm>
        </p:spPr>
        <p:txBody>
          <a:bodyPr rtlCol="0" anchor="ctr"/>
          <a:lstStyle>
            <a:lvl1pPr marL="0" indent="0"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3687491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p:cNvSpPr>
            <a:spLocks noGrp="1"/>
          </p:cNvSpPr>
          <p:nvPr>
            <p:ph type="title"/>
          </p:nvPr>
        </p:nvSpPr>
        <p:spPr>
          <a:xfrm>
            <a:off x="762000" y="559677"/>
            <a:ext cx="3833906" cy="5274923"/>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3591F197-EE82-41CF-B217-E65F4EC035C7}" type="datetime1">
              <a:rPr lang="en-GB" noProof="0" smtClean="0"/>
              <a:t>17/03/2026</a:t>
            </a:fld>
            <a:endParaRPr lang="en-GB" noProof="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4889D34E-DF9E-41B7-A5EC-B9D63999B3D0}"/>
              </a:ext>
            </a:extLst>
          </p:cNvPr>
          <p:cNvSpPr>
            <a:spLocks noGrp="1"/>
          </p:cNvSpPr>
          <p:nvPr>
            <p:ph idx="1" hasCustomPrompt="1"/>
          </p:nvPr>
        </p:nvSpPr>
        <p:spPr>
          <a:xfrm>
            <a:off x="5181600" y="559678"/>
            <a:ext cx="6172200" cy="561728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3222617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p:cNvSpPr>
            <a:spLocks noGrp="1"/>
          </p:cNvSpPr>
          <p:nvPr>
            <p:ph sz="half" idx="1" hasCustomPrompt="1"/>
          </p:nvPr>
        </p:nvSpPr>
        <p:spPr>
          <a:xfrm>
            <a:off x="5181600" y="540628"/>
            <a:ext cx="6248400" cy="2488946"/>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Content Placeholder 3"/>
          <p:cNvSpPr>
            <a:spLocks noGrp="1"/>
          </p:cNvSpPr>
          <p:nvPr>
            <p:ph sz="half" idx="2" hasCustomPrompt="1"/>
          </p:nvPr>
        </p:nvSpPr>
        <p:spPr>
          <a:xfrm>
            <a:off x="5181600" y="3712467"/>
            <a:ext cx="6248400" cy="248222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Date Placeholder 4"/>
          <p:cNvSpPr>
            <a:spLocks noGrp="1"/>
          </p:cNvSpPr>
          <p:nvPr>
            <p:ph type="dt" sz="half" idx="10"/>
          </p:nvPr>
        </p:nvSpPr>
        <p:spPr/>
        <p:txBody>
          <a:bodyPr rtlCol="0"/>
          <a:lstStyle/>
          <a:p>
            <a:pPr rtl="0"/>
            <a:fld id="{5529CDE9-2DFB-42D0-9AF7-220768F44449}" type="datetime1">
              <a:rPr lang="en-GB" noProof="0" smtClean="0"/>
              <a:t>17/03/2026</a:t>
            </a:fld>
            <a:endParaRPr lang="en-GB" noProof="0"/>
          </a:p>
        </p:txBody>
      </p:sp>
      <p:sp>
        <p:nvSpPr>
          <p:cNvPr id="6" name="Footer Placeholder 5"/>
          <p:cNvSpPr>
            <a:spLocks noGrp="1"/>
          </p:cNvSpPr>
          <p:nvPr>
            <p:ph type="ftr" sz="quarter" idx="11"/>
          </p:nvPr>
        </p:nvSpPr>
        <p:spPr/>
        <p:txBody>
          <a:bodyPr rtlCol="0"/>
          <a:lstStyle/>
          <a:p>
            <a:pPr rtl="0"/>
            <a:endParaRPr lang="en-GB" noProof="0"/>
          </a:p>
        </p:txBody>
      </p:sp>
      <p:sp>
        <p:nvSpPr>
          <p:cNvPr id="7" name="Slide Number Placeholder 6"/>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245430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rtlCol="0"/>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5181600" y="558065"/>
            <a:ext cx="6245352" cy="914400"/>
          </a:xfrm>
        </p:spPr>
        <p:txBody>
          <a:bodyPr rtlCol="0"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4" name="Content Placeholder 3"/>
          <p:cNvSpPr>
            <a:spLocks noGrp="1"/>
          </p:cNvSpPr>
          <p:nvPr>
            <p:ph sz="half" idx="2" hasCustomPrompt="1"/>
          </p:nvPr>
        </p:nvSpPr>
        <p:spPr>
          <a:xfrm>
            <a:off x="5181600" y="1526671"/>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p:cNvSpPr>
            <a:spLocks noGrp="1"/>
          </p:cNvSpPr>
          <p:nvPr>
            <p:ph type="body" sz="quarter" idx="3" hasCustomPrompt="1"/>
          </p:nvPr>
        </p:nvSpPr>
        <p:spPr>
          <a:xfrm>
            <a:off x="5181600" y="3700826"/>
            <a:ext cx="6248400" cy="914400"/>
          </a:xfrm>
        </p:spPr>
        <p:txBody>
          <a:bodyPr rtlCol="0"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6" name="Content Placeholder 5"/>
          <p:cNvSpPr>
            <a:spLocks noGrp="1"/>
          </p:cNvSpPr>
          <p:nvPr>
            <p:ph sz="quarter" idx="4" hasCustomPrompt="1"/>
          </p:nvPr>
        </p:nvSpPr>
        <p:spPr>
          <a:xfrm>
            <a:off x="5181600" y="4669432"/>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p>
            <a:pPr rtl="0"/>
            <a:fld id="{95259DA5-60B7-4DC7-997E-4ADDE1E2373F}" type="datetime1">
              <a:rPr lang="en-GB" noProof="0" smtClean="0"/>
              <a:t>17/03/2026</a:t>
            </a:fld>
            <a:endParaRPr lang="en-GB" noProof="0"/>
          </a:p>
        </p:txBody>
      </p:sp>
      <p:sp>
        <p:nvSpPr>
          <p:cNvPr id="8" name="Footer Placeholder 7"/>
          <p:cNvSpPr>
            <a:spLocks noGrp="1"/>
          </p:cNvSpPr>
          <p:nvPr>
            <p:ph type="ftr" sz="quarter" idx="11"/>
          </p:nvPr>
        </p:nvSpPr>
        <p:spPr/>
        <p:txBody>
          <a:bodyPr rtlCol="0"/>
          <a:lstStyle/>
          <a:p>
            <a:pPr rtl="0"/>
            <a:endParaRPr lang="en-GB" noProof="0"/>
          </a:p>
        </p:txBody>
      </p:sp>
      <p:sp>
        <p:nvSpPr>
          <p:cNvPr id="9" name="Slide Number Placeholder 8"/>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427701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Date Placeholder 2"/>
          <p:cNvSpPr>
            <a:spLocks noGrp="1"/>
          </p:cNvSpPr>
          <p:nvPr>
            <p:ph type="dt" sz="half" idx="10"/>
          </p:nvPr>
        </p:nvSpPr>
        <p:spPr/>
        <p:txBody>
          <a:bodyPr rtlCol="0"/>
          <a:lstStyle/>
          <a:p>
            <a:pPr rtl="0"/>
            <a:fld id="{7B74DD31-347E-4B54-B7FB-ECCF31FD43E0}" type="datetime1">
              <a:rPr lang="en-GB" noProof="0" smtClean="0"/>
              <a:t>17/03/2026</a:t>
            </a:fld>
            <a:endParaRPr lang="en-GB" noProof="0"/>
          </a:p>
        </p:txBody>
      </p:sp>
      <p:sp>
        <p:nvSpPr>
          <p:cNvPr id="4" name="Footer Placeholder 3"/>
          <p:cNvSpPr>
            <a:spLocks noGrp="1"/>
          </p:cNvSpPr>
          <p:nvPr>
            <p:ph type="ftr" sz="quarter" idx="11"/>
          </p:nvPr>
        </p:nvSpPr>
        <p:spPr/>
        <p:txBody>
          <a:bodyPr rtlCol="0"/>
          <a:lstStyle/>
          <a:p>
            <a:pPr rtl="0"/>
            <a:endParaRPr lang="en-GB" noProof="0"/>
          </a:p>
        </p:txBody>
      </p:sp>
      <p:sp>
        <p:nvSpPr>
          <p:cNvPr id="5" name="Slide Number Placeholder 4"/>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2043447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D69DEBE6-9705-4629-B2E2-B813F3EFD0D0}" type="datetime1">
              <a:rPr lang="en-GB" noProof="0" smtClean="0"/>
              <a:t>17/03/2026</a:t>
            </a:fld>
            <a:endParaRPr lang="en-GB" noProof="0"/>
          </a:p>
        </p:txBody>
      </p:sp>
      <p:sp>
        <p:nvSpPr>
          <p:cNvPr id="3" name="Footer Placeholder 2"/>
          <p:cNvSpPr>
            <a:spLocks noGrp="1"/>
          </p:cNvSpPr>
          <p:nvPr>
            <p:ph type="ftr" sz="quarter" idx="11"/>
          </p:nvPr>
        </p:nvSpPr>
        <p:spPr/>
        <p:txBody>
          <a:bodyPr rtlCol="0"/>
          <a:lstStyle/>
          <a:p>
            <a:pPr rtl="0"/>
            <a:endParaRPr lang="en-GB" noProof="0"/>
          </a:p>
        </p:txBody>
      </p:sp>
      <p:sp>
        <p:nvSpPr>
          <p:cNvPr id="4" name="Slide Number Placeholder 3"/>
          <p:cNvSpPr>
            <a:spLocks noGrp="1"/>
          </p:cNvSpPr>
          <p:nvPr>
            <p:ph type="sldNum" sz="quarter" idx="12"/>
          </p:nvPr>
        </p:nvSpPr>
        <p:spPr/>
        <p:txBody>
          <a:bodyPr rtlCol="0"/>
          <a:lstStyle/>
          <a:p>
            <a:pPr rtl="0"/>
            <a:fld id="{13D2E340-0663-474B-992C-9192B5C45E57}" type="slidenum">
              <a:rPr lang="en-GB" noProof="0" smtClean="0"/>
              <a:t>‹#›</a:t>
            </a:fld>
            <a:endParaRPr lang="en-GB" noProof="0"/>
          </a:p>
        </p:txBody>
      </p:sp>
    </p:spTree>
    <p:extLst>
      <p:ext uri="{BB962C8B-B14F-4D97-AF65-F5344CB8AC3E}">
        <p14:creationId xmlns:p14="http://schemas.microsoft.com/office/powerpoint/2010/main" val="8239023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pPr rtl="0"/>
            <a:fld id="{F887B716-D79C-4B40-B931-1D91F43C7E50}" type="datetime1">
              <a:rPr lang="en-GB" noProof="0" smtClean="0"/>
              <a:t>17/03/2026</a:t>
            </a:fld>
            <a:endParaRPr lang="en-GB" noProof="0"/>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pPr rtl="0"/>
            <a:endParaRPr lang="en-GB" noProof="0"/>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pPr rtl="0"/>
            <a:fld id="{13D2E340-0663-474B-992C-9192B5C45E57}" type="slidenum">
              <a:rPr lang="en-GB" noProof="0" smtClean="0"/>
              <a:t>‹#›</a:t>
            </a:fld>
            <a:endParaRPr lang="en-GB" noProof="0"/>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093967"/>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95" r:id="rId3"/>
    <p:sldLayoutId id="2147484490" r:id="rId4"/>
    <p:sldLayoutId id="2147484491" r:id="rId5"/>
    <p:sldLayoutId id="2147484492" r:id="rId6"/>
    <p:sldLayoutId id="2147484493" r:id="rId7"/>
    <p:sldLayoutId id="2147484496" r:id="rId8"/>
    <p:sldLayoutId id="2147484481" r:id="rId9"/>
    <p:sldLayoutId id="2147484498" r:id="rId10"/>
    <p:sldLayoutId id="2147484499" r:id="rId11"/>
    <p:sldLayoutId id="2147484500" r:id="rId12"/>
    <p:sldLayoutId id="2147484482" r:id="rId13"/>
    <p:sldLayoutId id="2147484483" r:id="rId14"/>
    <p:sldLayoutId id="2147484484" r:id="rId15"/>
    <p:sldLayoutId id="2147484485" r:id="rId16"/>
  </p:sldLayoutIdLst>
  <p:hf hdr="0" ftr="0" dt="0"/>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anthropedia.org/the-science-of-well-bein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9374-8EAE-4873-9BB6-F6C630302DA2}"/>
              </a:ext>
            </a:extLst>
          </p:cNvPr>
          <p:cNvSpPr>
            <a:spLocks noGrp="1"/>
          </p:cNvSpPr>
          <p:nvPr>
            <p:ph type="ctrTitle"/>
          </p:nvPr>
        </p:nvSpPr>
        <p:spPr>
          <a:xfrm>
            <a:off x="5747656" y="1264197"/>
            <a:ext cx="5776678" cy="4268965"/>
          </a:xfrm>
        </p:spPr>
        <p:txBody>
          <a:bodyPr rtlCol="0">
            <a:normAutofit/>
          </a:bodyPr>
          <a:lstStyle/>
          <a:p>
            <a:pPr rtl="0"/>
            <a:r>
              <a:rPr lang="en-GB" sz="4000" dirty="0">
                <a:solidFill>
                  <a:schemeClr val="tx1">
                    <a:lumMod val="85000"/>
                    <a:lumOff val="15000"/>
                  </a:schemeClr>
                </a:solidFill>
              </a:rPr>
              <a:t>HUMA2921</a:t>
            </a:r>
            <a:br>
              <a:rPr lang="en-GB" sz="4000" dirty="0">
                <a:solidFill>
                  <a:schemeClr val="tx1">
                    <a:lumMod val="85000"/>
                    <a:lumOff val="15000"/>
                  </a:schemeClr>
                </a:solidFill>
              </a:rPr>
            </a:br>
            <a:r>
              <a:rPr lang="en-GB" sz="4000" dirty="0">
                <a:solidFill>
                  <a:schemeClr val="tx1">
                    <a:lumMod val="85000"/>
                    <a:lumOff val="15000"/>
                  </a:schemeClr>
                </a:solidFill>
              </a:rPr>
              <a:t>Ethical Theories and Contemporary Issues</a:t>
            </a:r>
            <a:endParaRPr lang="en-GB" sz="5400" dirty="0">
              <a:solidFill>
                <a:schemeClr val="tx1">
                  <a:lumMod val="85000"/>
                  <a:lumOff val="15000"/>
                </a:schemeClr>
              </a:solidFill>
            </a:endParaRPr>
          </a:p>
        </p:txBody>
      </p:sp>
      <p:sp>
        <p:nvSpPr>
          <p:cNvPr id="3" name="Subtitle 2">
            <a:extLst>
              <a:ext uri="{FF2B5EF4-FFF2-40B4-BE49-F238E27FC236}">
                <a16:creationId xmlns:a16="http://schemas.microsoft.com/office/drawing/2014/main" id="{7E42C4E3-AFAF-4630-AF6D-21FB3C29CF71}"/>
              </a:ext>
            </a:extLst>
          </p:cNvPr>
          <p:cNvSpPr>
            <a:spLocks noGrp="1"/>
          </p:cNvSpPr>
          <p:nvPr>
            <p:ph type="subTitle" idx="1"/>
          </p:nvPr>
        </p:nvSpPr>
        <p:spPr>
          <a:xfrm>
            <a:off x="667666" y="3880237"/>
            <a:ext cx="4633806" cy="1862029"/>
          </a:xfrm>
        </p:spPr>
        <p:txBody>
          <a:bodyPr rtlCol="0"/>
          <a:lstStyle/>
          <a:p>
            <a:r>
              <a:rPr lang="en-US" sz="2800" dirty="0">
                <a:solidFill>
                  <a:schemeClr val="tx1">
                    <a:lumMod val="85000"/>
                    <a:lumOff val="15000"/>
                  </a:schemeClr>
                </a:solidFill>
              </a:rPr>
              <a:t>Prof. Plato Tse</a:t>
            </a:r>
          </a:p>
          <a:p>
            <a:r>
              <a:rPr lang="en-US" sz="2800" dirty="0">
                <a:solidFill>
                  <a:schemeClr val="tx1">
                    <a:lumMod val="85000"/>
                    <a:lumOff val="15000"/>
                  </a:schemeClr>
                </a:solidFill>
              </a:rPr>
              <a:t>NCCU &amp; HKUST</a:t>
            </a:r>
          </a:p>
        </p:txBody>
      </p:sp>
      <p:pic>
        <p:nvPicPr>
          <p:cNvPr id="8" name="Picture Placeholder 7" descr="A painting of a person holding a pole&#10;&#10;AI-generated content may be incorrect.">
            <a:extLst>
              <a:ext uri="{FF2B5EF4-FFF2-40B4-BE49-F238E27FC236}">
                <a16:creationId xmlns:a16="http://schemas.microsoft.com/office/drawing/2014/main" id="{BD5FA3F6-CA85-B6A3-1D00-424D54426976}"/>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a:stretch>
            <a:fillRect/>
          </a:stretch>
        </p:blipFill>
        <p:spPr/>
      </p:pic>
    </p:spTree>
    <p:extLst>
      <p:ext uri="{BB962C8B-B14F-4D97-AF65-F5344CB8AC3E}">
        <p14:creationId xmlns:p14="http://schemas.microsoft.com/office/powerpoint/2010/main" val="1193886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85D44-7BC4-72CB-A87D-4792E14CD3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065B57-247B-FEF7-35BC-F85D1F59EC80}"/>
              </a:ext>
            </a:extLst>
          </p:cNvPr>
          <p:cNvSpPr>
            <a:spLocks noGrp="1"/>
          </p:cNvSpPr>
          <p:nvPr>
            <p:ph type="title"/>
          </p:nvPr>
        </p:nvSpPr>
        <p:spPr>
          <a:xfrm>
            <a:off x="304800" y="559678"/>
            <a:ext cx="4291106" cy="4952492"/>
          </a:xfrm>
        </p:spPr>
        <p:txBody>
          <a:bodyPr rtlCol="0">
            <a:normAutofit/>
          </a:bodyPr>
          <a:lstStyle/>
          <a:p>
            <a:pPr rtl="0"/>
            <a:r>
              <a:rPr lang="en-US" sz="3600" dirty="0"/>
              <a:t>Consequentialism</a:t>
            </a:r>
            <a:endParaRPr lang="en-GB" sz="3600" dirty="0"/>
          </a:p>
        </p:txBody>
      </p:sp>
      <p:sp>
        <p:nvSpPr>
          <p:cNvPr id="8" name="TextBox 7">
            <a:extLst>
              <a:ext uri="{FF2B5EF4-FFF2-40B4-BE49-F238E27FC236}">
                <a16:creationId xmlns:a16="http://schemas.microsoft.com/office/drawing/2014/main" id="{685B037A-5AD3-86F6-5942-22B3F7E933EF}"/>
              </a:ext>
            </a:extLst>
          </p:cNvPr>
          <p:cNvSpPr txBox="1"/>
          <p:nvPr/>
        </p:nvSpPr>
        <p:spPr>
          <a:xfrm>
            <a:off x="5181599" y="559678"/>
            <a:ext cx="6602412" cy="5078614"/>
          </a:xfrm>
          <a:prstGeom prst="rect">
            <a:avLst/>
          </a:prstGeom>
          <a:noFill/>
        </p:spPr>
        <p:txBody>
          <a:bodyPr wrap="square" rtlCol="0">
            <a:noAutofit/>
          </a:bodyPr>
          <a:lstStyle/>
          <a:p>
            <a:pPr algn="just"/>
            <a:r>
              <a:rPr lang="en-GB" sz="4000" i="1" dirty="0">
                <a:latin typeface="Times New Roman" panose="02020603050405020304" pitchFamily="18" charset="0"/>
                <a:ea typeface="PMingLiU" panose="02020500000000000000" pitchFamily="18" charset="-120"/>
              </a:rPr>
              <a:t>Thress Theses: </a:t>
            </a:r>
          </a:p>
          <a:p>
            <a:pPr marL="742950" indent="-742950" algn="just">
              <a:buFont typeface="+mj-lt"/>
              <a:buAutoNum type="arabicPeriod"/>
            </a:pPr>
            <a:r>
              <a:rPr lang="en-GB" sz="3600" dirty="0">
                <a:latin typeface="Times New Roman" panose="02020603050405020304" pitchFamily="18" charset="0"/>
                <a:ea typeface="PMingLiU" panose="02020500000000000000" pitchFamily="18" charset="-120"/>
              </a:rPr>
              <a:t>Value is independent of the right.</a:t>
            </a:r>
          </a:p>
          <a:p>
            <a:pPr marL="742950" indent="-742950" algn="just">
              <a:buFont typeface="+mj-lt"/>
              <a:buAutoNum type="arabicPeriod"/>
            </a:pPr>
            <a:r>
              <a:rPr lang="en-GB" sz="3600" dirty="0">
                <a:latin typeface="Times New Roman" panose="02020603050405020304" pitchFamily="18" charset="0"/>
                <a:ea typeface="PMingLiU" panose="02020500000000000000" pitchFamily="18" charset="-120"/>
              </a:rPr>
              <a:t>Explanatory priority of value</a:t>
            </a:r>
          </a:p>
          <a:p>
            <a:pPr marL="742950" indent="-742950" algn="just">
              <a:buFont typeface="+mj-lt"/>
              <a:buAutoNum type="arabicPeriod"/>
            </a:pPr>
            <a:r>
              <a:rPr lang="en-GB" sz="3600" dirty="0">
                <a:latin typeface="Times New Roman" panose="02020603050405020304" pitchFamily="18" charset="0"/>
                <a:ea typeface="PMingLiU" panose="02020500000000000000" pitchFamily="18" charset="-120"/>
              </a:rPr>
              <a:t>Personal value alone as relevant</a:t>
            </a:r>
          </a:p>
          <a:p>
            <a:pPr algn="just"/>
            <a:endParaRPr lang="en-GB" sz="3600" dirty="0">
              <a:latin typeface="Times New Roman" panose="02020603050405020304" pitchFamily="18" charset="0"/>
              <a:ea typeface="PMingLiU" panose="02020500000000000000" pitchFamily="18" charset="-120"/>
            </a:endParaRPr>
          </a:p>
          <a:p>
            <a:pPr marL="742950" indent="-742950" algn="just">
              <a:buFont typeface="Arial" panose="020B0604020202020204" pitchFamily="34" charset="0"/>
              <a:buChar char="•"/>
            </a:pPr>
            <a:r>
              <a:rPr lang="en-GB" sz="3600" i="1" dirty="0">
                <a:latin typeface="Times New Roman" panose="02020603050405020304" pitchFamily="18" charset="0"/>
                <a:ea typeface="PMingLiU" panose="02020500000000000000" pitchFamily="18" charset="-120"/>
              </a:rPr>
              <a:t>Which theory of value?</a:t>
            </a:r>
          </a:p>
          <a:p>
            <a:pPr marL="742950" indent="-742950" algn="just">
              <a:buFont typeface="Arial" panose="020B0604020202020204" pitchFamily="34" charset="0"/>
              <a:buChar char="•"/>
            </a:pPr>
            <a:r>
              <a:rPr lang="en-GB" sz="3600" i="1" dirty="0">
                <a:latin typeface="Times New Roman" panose="02020603050405020304" pitchFamily="18" charset="0"/>
                <a:ea typeface="PMingLiU" panose="02020500000000000000" pitchFamily="18" charset="-120"/>
              </a:rPr>
              <a:t>How is right action related? </a:t>
            </a:r>
          </a:p>
        </p:txBody>
      </p:sp>
      <p:sp>
        <p:nvSpPr>
          <p:cNvPr id="5" name="Slide Number Placeholder 4">
            <a:extLst>
              <a:ext uri="{FF2B5EF4-FFF2-40B4-BE49-F238E27FC236}">
                <a16:creationId xmlns:a16="http://schemas.microsoft.com/office/drawing/2014/main" id="{C665AFD4-B7AE-8BAF-6EB4-727A283BAF2D}"/>
              </a:ext>
            </a:extLst>
          </p:cNvPr>
          <p:cNvSpPr>
            <a:spLocks noGrp="1"/>
          </p:cNvSpPr>
          <p:nvPr>
            <p:ph type="sldNum" sz="quarter" idx="12"/>
          </p:nvPr>
        </p:nvSpPr>
        <p:spPr/>
        <p:txBody>
          <a:bodyPr rtlCol="0"/>
          <a:lstStyle/>
          <a:p>
            <a:pPr rtl="0"/>
            <a:fld id="{13D2E340-0663-474B-992C-9192B5C45E57}" type="slidenum">
              <a:rPr lang="en-GB" smtClean="0"/>
              <a:t>2</a:t>
            </a:fld>
            <a:endParaRPr lang="en-GB"/>
          </a:p>
        </p:txBody>
      </p:sp>
    </p:spTree>
    <p:extLst>
      <p:ext uri="{BB962C8B-B14F-4D97-AF65-F5344CB8AC3E}">
        <p14:creationId xmlns:p14="http://schemas.microsoft.com/office/powerpoint/2010/main" val="3974841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6E9BC-EFE7-8138-3BD0-F32624A8B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9CFFB-2C33-F99E-4D4B-B23ADBF5AB11}"/>
              </a:ext>
            </a:extLst>
          </p:cNvPr>
          <p:cNvSpPr>
            <a:spLocks noGrp="1"/>
          </p:cNvSpPr>
          <p:nvPr>
            <p:ph type="title"/>
          </p:nvPr>
        </p:nvSpPr>
        <p:spPr>
          <a:xfrm>
            <a:off x="478971" y="305054"/>
            <a:ext cx="4116935" cy="2341164"/>
          </a:xfrm>
        </p:spPr>
        <p:txBody>
          <a:bodyPr rtlCol="0">
            <a:noAutofit/>
          </a:bodyPr>
          <a:lstStyle/>
          <a:p>
            <a:r>
              <a:rPr lang="en-US" sz="4400" dirty="0"/>
              <a:t>Classical Utilitarianism</a:t>
            </a:r>
            <a:endParaRPr lang="en-GB" sz="4400" dirty="0"/>
          </a:p>
        </p:txBody>
      </p:sp>
      <p:sp>
        <p:nvSpPr>
          <p:cNvPr id="3" name="Slide Number Placeholder 2">
            <a:extLst>
              <a:ext uri="{FF2B5EF4-FFF2-40B4-BE49-F238E27FC236}">
                <a16:creationId xmlns:a16="http://schemas.microsoft.com/office/drawing/2014/main" id="{C047B17F-ECA2-8582-2E9E-41BF6476404F}"/>
              </a:ext>
            </a:extLst>
          </p:cNvPr>
          <p:cNvSpPr>
            <a:spLocks noGrp="1"/>
          </p:cNvSpPr>
          <p:nvPr>
            <p:ph type="sldNum" sz="quarter" idx="12"/>
          </p:nvPr>
        </p:nvSpPr>
        <p:spPr/>
        <p:txBody>
          <a:bodyPr rtlCol="0"/>
          <a:lstStyle/>
          <a:p>
            <a:pPr rtl="0"/>
            <a:fld id="{13D2E340-0663-474B-992C-9192B5C45E57}" type="slidenum">
              <a:rPr lang="en-GB" smtClean="0"/>
              <a:t>3</a:t>
            </a:fld>
            <a:endParaRPr lang="en-GB" dirty="0"/>
          </a:p>
        </p:txBody>
      </p:sp>
      <p:sp>
        <p:nvSpPr>
          <p:cNvPr id="13" name="TextBox 12">
            <a:extLst>
              <a:ext uri="{FF2B5EF4-FFF2-40B4-BE49-F238E27FC236}">
                <a16:creationId xmlns:a16="http://schemas.microsoft.com/office/drawing/2014/main" id="{B5C3795E-6FC3-81C9-9A90-042DF215BA4B}"/>
              </a:ext>
            </a:extLst>
          </p:cNvPr>
          <p:cNvSpPr txBox="1"/>
          <p:nvPr/>
        </p:nvSpPr>
        <p:spPr>
          <a:xfrm>
            <a:off x="5181599" y="305054"/>
            <a:ext cx="6602412" cy="4952492"/>
          </a:xfrm>
          <a:prstGeom prst="rect">
            <a:avLst/>
          </a:prstGeom>
          <a:noFill/>
        </p:spPr>
        <p:txBody>
          <a:bodyPr wrap="square" rtlCol="0">
            <a:noAutofit/>
          </a:bodyPr>
          <a:lstStyle/>
          <a:p>
            <a:pPr algn="just" rtl="0"/>
            <a:r>
              <a:rPr lang="en-US" sz="3600" i="1" dirty="0">
                <a:latin typeface="Times New Roman" panose="02020603050405020304" pitchFamily="18" charset="0"/>
                <a:ea typeface="PMingLiU" panose="02020500000000000000" pitchFamily="18" charset="-120"/>
              </a:rPr>
              <a:t>Act Utilitarianism</a:t>
            </a:r>
          </a:p>
          <a:p>
            <a:pPr marL="742950" indent="-742950" algn="just" rtl="0">
              <a:buFont typeface="+mj-lt"/>
              <a:buAutoNum type="arabicPeriod"/>
            </a:pPr>
            <a:r>
              <a:rPr lang="en-GB" sz="3600" dirty="0">
                <a:latin typeface="Times New Roman" panose="02020603050405020304" pitchFamily="18" charset="0"/>
                <a:ea typeface="PMingLiU" panose="02020500000000000000" pitchFamily="18" charset="-120"/>
              </a:rPr>
              <a:t>A maximizing conception of right action</a:t>
            </a:r>
          </a:p>
          <a:p>
            <a:pPr marL="1200150" lvl="1" indent="-7429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Right=greatest total amount of value</a:t>
            </a:r>
          </a:p>
          <a:p>
            <a:pPr marL="742950" indent="-742950" algn="just" rtl="0">
              <a:buFont typeface="+mj-lt"/>
              <a:buAutoNum type="arabicPeriod"/>
            </a:pPr>
            <a:r>
              <a:rPr lang="en-GB" sz="3600" dirty="0">
                <a:latin typeface="Times New Roman" panose="02020603050405020304" pitchFamily="18" charset="0"/>
                <a:ea typeface="PMingLiU" panose="02020500000000000000" pitchFamily="18" charset="-120"/>
              </a:rPr>
              <a:t>Welfarism</a:t>
            </a:r>
          </a:p>
          <a:p>
            <a:pPr marL="1200150" lvl="1" indent="-7429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Welfare=fundamental value</a:t>
            </a:r>
          </a:p>
          <a:p>
            <a:pPr marL="742950" indent="-742950" algn="just" rtl="0">
              <a:buFont typeface="+mj-lt"/>
              <a:buAutoNum type="arabicPeriod"/>
            </a:pPr>
            <a:r>
              <a:rPr lang="en-GB" sz="3600" dirty="0">
                <a:latin typeface="Times New Roman" panose="02020603050405020304" pitchFamily="18" charset="0"/>
                <a:ea typeface="PMingLiU" panose="02020500000000000000" pitchFamily="18" charset="-120"/>
              </a:rPr>
              <a:t>Universalism</a:t>
            </a:r>
          </a:p>
          <a:p>
            <a:pPr marL="1200150" lvl="1" indent="-7429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Welfare of all individuals affected count</a:t>
            </a:r>
          </a:p>
          <a:p>
            <a:pPr marL="742950" indent="-742950" algn="just" rtl="0">
              <a:buFont typeface="+mj-lt"/>
              <a:buAutoNum type="arabicPeriod"/>
            </a:pPr>
            <a:r>
              <a:rPr lang="en-GB" sz="3600" dirty="0" err="1">
                <a:latin typeface="Times New Roman" panose="02020603050405020304" pitchFamily="18" charset="0"/>
                <a:ea typeface="PMingLiU" panose="02020500000000000000" pitchFamily="18" charset="-120"/>
              </a:rPr>
              <a:t>Impartialism</a:t>
            </a:r>
            <a:endParaRPr lang="en-GB" sz="3600" dirty="0">
              <a:latin typeface="Times New Roman" panose="02020603050405020304" pitchFamily="18" charset="0"/>
              <a:ea typeface="PMingLiU" panose="02020500000000000000" pitchFamily="18" charset="-120"/>
            </a:endParaRPr>
          </a:p>
          <a:p>
            <a:pPr marL="1200150" lvl="1" indent="-7429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Agent-neutral</a:t>
            </a:r>
          </a:p>
        </p:txBody>
      </p:sp>
    </p:spTree>
    <p:extLst>
      <p:ext uri="{BB962C8B-B14F-4D97-AF65-F5344CB8AC3E}">
        <p14:creationId xmlns:p14="http://schemas.microsoft.com/office/powerpoint/2010/main" val="1270780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304800" y="559678"/>
            <a:ext cx="4291106" cy="4952492"/>
          </a:xfrm>
        </p:spPr>
        <p:txBody>
          <a:bodyPr rtlCol="0"/>
          <a:lstStyle/>
          <a:p>
            <a:r>
              <a:rPr lang="en-US" dirty="0"/>
              <a:t>Utility</a:t>
            </a:r>
            <a:endParaRPr lang="en-GB"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FC6C278-4035-446A-A94B-030E792FDDF5}"/>
                  </a:ext>
                </a:extLst>
              </p:cNvPr>
              <p:cNvSpPr txBox="1"/>
              <p:nvPr/>
            </p:nvSpPr>
            <p:spPr>
              <a:xfrm>
                <a:off x="5181599" y="685800"/>
                <a:ext cx="6602412" cy="4952492"/>
              </a:xfrm>
              <a:prstGeom prst="rect">
                <a:avLst/>
              </a:prstGeom>
              <a:noFill/>
            </p:spPr>
            <p:txBody>
              <a:bodyPr wrap="square" rtlCol="0">
                <a:noAutofit/>
              </a:bodyPr>
              <a:lstStyle/>
              <a:p>
                <a:pPr marL="457200" indent="-457200">
                  <a:buFont typeface="Arial" panose="020B0604020202020204" pitchFamily="34" charset="0"/>
                  <a:buChar char="•"/>
                </a:pPr>
                <a14:m>
                  <m:oMath xmlns:m="http://schemas.openxmlformats.org/officeDocument/2006/math">
                    <m:r>
                      <a:rPr lang="en-GB" sz="3600" i="1" dirty="0" smtClean="0">
                        <a:latin typeface="Cambria Math" panose="02040503050406030204" pitchFamily="18" charset="0"/>
                        <a:ea typeface="PMingLiU" panose="02020500000000000000" pitchFamily="18" charset="-120"/>
                      </a:rPr>
                      <m:t>𝑈</m:t>
                    </m:r>
                  </m:oMath>
                </a14:m>
                <a:r>
                  <a:rPr lang="en-GB" sz="3600" dirty="0">
                    <a:latin typeface="Times New Roman" panose="02020603050405020304" pitchFamily="18" charset="0"/>
                    <a:ea typeface="PMingLiU" panose="02020500000000000000" pitchFamily="18" charset="-120"/>
                  </a:rPr>
                  <a:t>=The values of the consequences of actions</a:t>
                </a:r>
              </a:p>
              <a:p>
                <a:pPr marL="457200" indent="-457200">
                  <a:buFont typeface="Arial" panose="020B0604020202020204" pitchFamily="34" charset="0"/>
                  <a:buChar char="•"/>
                </a:pPr>
                <a:endParaRPr lang="en-GB" sz="3600" dirty="0">
                  <a:latin typeface="Times New Roman" panose="02020603050405020304" pitchFamily="18" charset="0"/>
                  <a:ea typeface="PMingLiU" panose="02020500000000000000" pitchFamily="18" charset="-120"/>
                </a:endParaRPr>
              </a:p>
              <a:p>
                <a:pPr marL="457200"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 the positive value of the effects of the action on all of those who are positively affected</a:t>
                </a:r>
              </a:p>
              <a:p>
                <a:pPr marL="457200" indent="-457200">
                  <a:buFont typeface="Arial" panose="020B0604020202020204" pitchFamily="34" charset="0"/>
                  <a:buChar char="•"/>
                </a:pPr>
                <a14:m>
                  <m:oMath xmlns:m="http://schemas.openxmlformats.org/officeDocument/2006/math">
                    <m:r>
                      <a:rPr lang="en-GB" sz="3600" i="1" dirty="0" smtClean="0">
                        <a:latin typeface="Cambria Math" panose="02040503050406030204" pitchFamily="18" charset="0"/>
                        <a:ea typeface="PMingLiU" panose="02020500000000000000" pitchFamily="18" charset="-120"/>
                      </a:rPr>
                      <m:t>−</m:t>
                    </m:r>
                    <m:r>
                      <a:rPr lang="en-GB" sz="3600" i="1" dirty="0" smtClean="0">
                        <a:latin typeface="Cambria Math" panose="02040503050406030204" pitchFamily="18" charset="0"/>
                        <a:ea typeface="PMingLiU" panose="02020500000000000000" pitchFamily="18" charset="-120"/>
                      </a:rPr>
                      <m:t>𝑦</m:t>
                    </m:r>
                  </m:oMath>
                </a14:m>
                <a:r>
                  <a:rPr lang="en-GB" sz="3600" dirty="0">
                    <a:latin typeface="Times New Roman" panose="02020603050405020304" pitchFamily="18" charset="0"/>
                    <a:ea typeface="PMingLiU" panose="02020500000000000000" pitchFamily="18" charset="-120"/>
                  </a:rPr>
                  <a:t>: the negative value of the effects of the action on all of those who are negatively affected</a:t>
                </a:r>
              </a:p>
            </p:txBody>
          </p:sp>
        </mc:Choice>
        <mc:Fallback xmlns="">
          <p:sp>
            <p:nvSpPr>
              <p:cNvPr id="8" name="TextBox 7">
                <a:extLst>
                  <a:ext uri="{FF2B5EF4-FFF2-40B4-BE49-F238E27FC236}">
                    <a16:creationId xmlns:a16="http://schemas.microsoft.com/office/drawing/2014/main" id="{5FC6C278-4035-446A-A94B-030E792FDDF5}"/>
                  </a:ext>
                </a:extLst>
              </p:cNvPr>
              <p:cNvSpPr txBox="1">
                <a:spLocks noRot="1" noChangeAspect="1" noMove="1" noResize="1" noEditPoints="1" noAdjustHandles="1" noChangeArrowheads="1" noChangeShapeType="1" noTextEdit="1"/>
              </p:cNvSpPr>
              <p:nvPr/>
            </p:nvSpPr>
            <p:spPr>
              <a:xfrm>
                <a:off x="5181599" y="685800"/>
                <a:ext cx="6602412" cy="4952492"/>
              </a:xfrm>
              <a:prstGeom prst="rect">
                <a:avLst/>
              </a:prstGeom>
              <a:blipFill>
                <a:blip r:embed="rId3"/>
                <a:stretch>
                  <a:fillRect t="-2094" b="-28202"/>
                </a:stretch>
              </a:blipFill>
            </p:spPr>
            <p:txBody>
              <a:bodyPr/>
              <a:lstStyle/>
              <a:p>
                <a:r>
                  <a:rPr lang="en-GB">
                    <a:noFill/>
                  </a:rPr>
                  <a:t> </a:t>
                </a:r>
              </a:p>
            </p:txBody>
          </p:sp>
        </mc:Fallback>
      </mc:AlternateContent>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rtlCol="0"/>
          <a:lstStyle/>
          <a:p>
            <a:pPr rtl="0"/>
            <a:fld id="{13D2E340-0663-474B-992C-9192B5C45E57}" type="slidenum">
              <a:rPr lang="en-GB" smtClean="0"/>
              <a:t>4</a:t>
            </a:fld>
            <a:endParaRPr lang="en-GB"/>
          </a:p>
        </p:txBody>
      </p:sp>
    </p:spTree>
    <p:extLst>
      <p:ext uri="{BB962C8B-B14F-4D97-AF65-F5344CB8AC3E}">
        <p14:creationId xmlns:p14="http://schemas.microsoft.com/office/powerpoint/2010/main" val="2394598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97F4D-F280-472F-9307-25B3E6BD88B5}"/>
              </a:ext>
            </a:extLst>
          </p:cNvPr>
          <p:cNvSpPr>
            <a:spLocks noGrp="1"/>
          </p:cNvSpPr>
          <p:nvPr>
            <p:ph type="title"/>
          </p:nvPr>
        </p:nvSpPr>
        <p:spPr>
          <a:xfrm>
            <a:off x="478971" y="559678"/>
            <a:ext cx="4116935" cy="2221622"/>
          </a:xfrm>
        </p:spPr>
        <p:txBody>
          <a:bodyPr rtlCol="0">
            <a:normAutofit/>
          </a:bodyPr>
          <a:lstStyle/>
          <a:p>
            <a:r>
              <a:rPr lang="en-GB" dirty="0"/>
              <a:t>Theory of Right Conduct</a:t>
            </a:r>
          </a:p>
        </p:txBody>
      </p:sp>
      <p:sp>
        <p:nvSpPr>
          <p:cNvPr id="3" name="Slide Number Placeholder 2">
            <a:extLst>
              <a:ext uri="{FF2B5EF4-FFF2-40B4-BE49-F238E27FC236}">
                <a16:creationId xmlns:a16="http://schemas.microsoft.com/office/drawing/2014/main" id="{EB761CE6-695A-0941-954E-A6BD7E16386F}"/>
              </a:ext>
            </a:extLst>
          </p:cNvPr>
          <p:cNvSpPr>
            <a:spLocks noGrp="1"/>
          </p:cNvSpPr>
          <p:nvPr>
            <p:ph type="sldNum" sz="quarter" idx="12"/>
          </p:nvPr>
        </p:nvSpPr>
        <p:spPr/>
        <p:txBody>
          <a:bodyPr rtlCol="0"/>
          <a:lstStyle/>
          <a:p>
            <a:pPr rtl="0"/>
            <a:fld id="{13D2E340-0663-474B-992C-9192B5C45E57}" type="slidenum">
              <a:rPr lang="en-GB" smtClean="0"/>
              <a:t>5</a:t>
            </a:fld>
            <a:endParaRPr lang="en-GB" dirty="0"/>
          </a:p>
        </p:txBody>
      </p:sp>
      <p:sp>
        <p:nvSpPr>
          <p:cNvPr id="13" name="TextBox 12">
            <a:extLst>
              <a:ext uri="{FF2B5EF4-FFF2-40B4-BE49-F238E27FC236}">
                <a16:creationId xmlns:a16="http://schemas.microsoft.com/office/drawing/2014/main" id="{B079FE37-E63F-6B83-3B38-614E7772BF5D}"/>
              </a:ext>
            </a:extLst>
          </p:cNvPr>
          <p:cNvSpPr txBox="1"/>
          <p:nvPr/>
        </p:nvSpPr>
        <p:spPr>
          <a:xfrm>
            <a:off x="5181599" y="305054"/>
            <a:ext cx="6602412" cy="4952492"/>
          </a:xfrm>
          <a:prstGeom prst="rect">
            <a:avLst/>
          </a:prstGeom>
          <a:noFill/>
        </p:spPr>
        <p:txBody>
          <a:bodyPr wrap="square" rtlCol="0">
            <a:noAutofit/>
          </a:bodyPr>
          <a:lstStyle/>
          <a:p>
            <a:pPr marL="457200" indent="-457200" algn="just" rtl="0">
              <a:buFont typeface="+mj-lt"/>
              <a:buAutoNum type="arabicPeriod"/>
            </a:pPr>
            <a:r>
              <a:rPr lang="en-GB" sz="3000" dirty="0">
                <a:latin typeface="Times New Roman" panose="02020603050405020304" pitchFamily="18" charset="0"/>
                <a:ea typeface="PMingLiU" panose="02020500000000000000" pitchFamily="18" charset="-120"/>
              </a:rPr>
              <a:t>An action A performed in circumstances C is </a:t>
            </a:r>
            <a:r>
              <a:rPr lang="en-GB" sz="3000" i="1" dirty="0">
                <a:latin typeface="Times New Roman" panose="02020603050405020304" pitchFamily="18" charset="0"/>
                <a:ea typeface="PMingLiU" panose="02020500000000000000" pitchFamily="18" charset="-120"/>
              </a:rPr>
              <a:t>obligatory</a:t>
            </a:r>
            <a:r>
              <a:rPr lang="en-GB" sz="3000" dirty="0">
                <a:latin typeface="Times New Roman" panose="02020603050405020304" pitchFamily="18" charset="0"/>
                <a:ea typeface="PMingLiU" panose="02020500000000000000" pitchFamily="18" charset="-120"/>
              </a:rPr>
              <a:t> </a:t>
            </a:r>
            <a:r>
              <a:rPr lang="en-GB" sz="3000" dirty="0" err="1">
                <a:latin typeface="Times New Roman" panose="02020603050405020304" pitchFamily="18" charset="0"/>
                <a:ea typeface="PMingLiU" panose="02020500000000000000" pitchFamily="18" charset="-120"/>
              </a:rPr>
              <a:t>iff</a:t>
            </a:r>
            <a:r>
              <a:rPr lang="en-GB" sz="3000" dirty="0">
                <a:latin typeface="Times New Roman" panose="02020603050405020304" pitchFamily="18" charset="0"/>
                <a:ea typeface="PMingLiU" panose="02020500000000000000" pitchFamily="18" charset="-120"/>
              </a:rPr>
              <a:t> doing A in C would produce a higher level of utility than would any other alternative action that the agent could perform instead.</a:t>
            </a:r>
          </a:p>
          <a:p>
            <a:pPr marL="457200" indent="-457200" algn="just" rtl="0">
              <a:buFont typeface="+mj-lt"/>
              <a:buAutoNum type="arabicPeriod"/>
            </a:pPr>
            <a:r>
              <a:rPr lang="en-GB" sz="3000" dirty="0">
                <a:latin typeface="Times New Roman" panose="02020603050405020304" pitchFamily="18" charset="0"/>
                <a:ea typeface="PMingLiU" panose="02020500000000000000" pitchFamily="18" charset="-120"/>
              </a:rPr>
              <a:t>An action A is </a:t>
            </a:r>
            <a:r>
              <a:rPr lang="en-GB" sz="3000" i="1" dirty="0">
                <a:latin typeface="Times New Roman" panose="02020603050405020304" pitchFamily="18" charset="0"/>
                <a:ea typeface="PMingLiU" panose="02020500000000000000" pitchFamily="18" charset="-120"/>
              </a:rPr>
              <a:t>wrong</a:t>
            </a:r>
            <a:r>
              <a:rPr lang="en-GB" sz="3000" dirty="0">
                <a:latin typeface="Times New Roman" panose="02020603050405020304" pitchFamily="18" charset="0"/>
                <a:ea typeface="PMingLiU" panose="02020500000000000000" pitchFamily="18" charset="-120"/>
              </a:rPr>
              <a:t> </a:t>
            </a:r>
            <a:r>
              <a:rPr lang="en-GB" sz="3000" dirty="0" err="1">
                <a:latin typeface="Times New Roman" panose="02020603050405020304" pitchFamily="18" charset="0"/>
                <a:ea typeface="PMingLiU" panose="02020500000000000000" pitchFamily="18" charset="-120"/>
              </a:rPr>
              <a:t>iff</a:t>
            </a:r>
            <a:r>
              <a:rPr lang="en-GB" sz="3000" dirty="0">
                <a:latin typeface="Times New Roman" panose="02020603050405020304" pitchFamily="18" charset="0"/>
                <a:ea typeface="PMingLiU" panose="02020500000000000000" pitchFamily="18" charset="-120"/>
              </a:rPr>
              <a:t> doing A in C would produce less utility than would some other alternative action that the agent could perform instead.</a:t>
            </a:r>
          </a:p>
          <a:p>
            <a:pPr marL="457200" indent="-457200" algn="just" rtl="0">
              <a:buFont typeface="+mj-lt"/>
              <a:buAutoNum type="arabicPeriod"/>
            </a:pPr>
            <a:r>
              <a:rPr lang="en-GB" sz="3000" dirty="0">
                <a:latin typeface="Times New Roman" panose="02020603050405020304" pitchFamily="18" charset="0"/>
                <a:ea typeface="PMingLiU" panose="02020500000000000000" pitchFamily="18" charset="-120"/>
              </a:rPr>
              <a:t>An action A is </a:t>
            </a:r>
            <a:r>
              <a:rPr lang="en-GB" sz="3000" i="1" dirty="0">
                <a:latin typeface="Times New Roman" panose="02020603050405020304" pitchFamily="18" charset="0"/>
                <a:ea typeface="PMingLiU" panose="02020500000000000000" pitchFamily="18" charset="-120"/>
              </a:rPr>
              <a:t>optional</a:t>
            </a:r>
            <a:r>
              <a:rPr lang="en-GB" sz="3000" dirty="0">
                <a:latin typeface="Times New Roman" panose="02020603050405020304" pitchFamily="18" charset="0"/>
                <a:ea typeface="PMingLiU" panose="02020500000000000000" pitchFamily="18" charset="-120"/>
              </a:rPr>
              <a:t> </a:t>
            </a:r>
            <a:r>
              <a:rPr lang="en-GB" sz="3000" dirty="0" err="1">
                <a:latin typeface="Times New Roman" panose="02020603050405020304" pitchFamily="18" charset="0"/>
                <a:ea typeface="PMingLiU" panose="02020500000000000000" pitchFamily="18" charset="-120"/>
              </a:rPr>
              <a:t>iff</a:t>
            </a:r>
            <a:r>
              <a:rPr lang="en-GB" sz="3000" dirty="0">
                <a:latin typeface="Times New Roman" panose="02020603050405020304" pitchFamily="18" charset="0"/>
                <a:ea typeface="PMingLiU" panose="02020500000000000000" pitchFamily="18" charset="-120"/>
              </a:rPr>
              <a:t> in terms of utility production it is tied for first place with at least one other action.</a:t>
            </a:r>
          </a:p>
        </p:txBody>
      </p:sp>
    </p:spTree>
    <p:extLst>
      <p:ext uri="{BB962C8B-B14F-4D97-AF65-F5344CB8AC3E}">
        <p14:creationId xmlns:p14="http://schemas.microsoft.com/office/powerpoint/2010/main" val="298975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93EB3-9E33-A774-40CE-4653C9CC6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58094-FAFA-0AF5-4688-6E97661AB9E2}"/>
              </a:ext>
            </a:extLst>
          </p:cNvPr>
          <p:cNvSpPr>
            <a:spLocks noGrp="1"/>
          </p:cNvSpPr>
          <p:nvPr>
            <p:ph type="title"/>
          </p:nvPr>
        </p:nvSpPr>
        <p:spPr>
          <a:xfrm>
            <a:off x="530578" y="559678"/>
            <a:ext cx="4065328" cy="2221622"/>
          </a:xfrm>
        </p:spPr>
        <p:txBody>
          <a:bodyPr rtlCol="0">
            <a:normAutofit/>
          </a:bodyPr>
          <a:lstStyle/>
          <a:p>
            <a:r>
              <a:rPr lang="en-GB" dirty="0"/>
              <a:t>Generic Principle of Utility</a:t>
            </a:r>
          </a:p>
        </p:txBody>
      </p:sp>
      <p:sp>
        <p:nvSpPr>
          <p:cNvPr id="7" name="Slide Number Placeholder 6">
            <a:extLst>
              <a:ext uri="{FF2B5EF4-FFF2-40B4-BE49-F238E27FC236}">
                <a16:creationId xmlns:a16="http://schemas.microsoft.com/office/drawing/2014/main" id="{8DAF5447-EB0B-C3D3-9C29-329E67F6EAFA}"/>
              </a:ext>
            </a:extLst>
          </p:cNvPr>
          <p:cNvSpPr>
            <a:spLocks noGrp="1"/>
          </p:cNvSpPr>
          <p:nvPr>
            <p:ph type="sldNum" sz="quarter" idx="12"/>
          </p:nvPr>
        </p:nvSpPr>
        <p:spPr/>
        <p:txBody>
          <a:bodyPr rtlCol="0"/>
          <a:lstStyle/>
          <a:p>
            <a:pPr rtl="0"/>
            <a:fld id="{13D2E340-0663-474B-992C-9192B5C45E57}" type="slidenum">
              <a:rPr lang="en-GB" smtClean="0"/>
              <a:t>6</a:t>
            </a:fld>
            <a:endParaRPr lang="en-GB"/>
          </a:p>
        </p:txBody>
      </p:sp>
      <p:sp>
        <p:nvSpPr>
          <p:cNvPr id="23" name="TextBox 22">
            <a:extLst>
              <a:ext uri="{FF2B5EF4-FFF2-40B4-BE49-F238E27FC236}">
                <a16:creationId xmlns:a16="http://schemas.microsoft.com/office/drawing/2014/main" id="{B3924C4A-5D52-2E83-5910-D093650F9298}"/>
              </a:ext>
            </a:extLst>
          </p:cNvPr>
          <p:cNvSpPr txBox="1"/>
          <p:nvPr/>
        </p:nvSpPr>
        <p:spPr>
          <a:xfrm>
            <a:off x="5181599" y="559678"/>
            <a:ext cx="6593768" cy="5078614"/>
          </a:xfrm>
          <a:prstGeom prst="rect">
            <a:avLst/>
          </a:prstGeom>
          <a:noFill/>
        </p:spPr>
        <p:txBody>
          <a:bodyPr wrap="square" rtlCol="0">
            <a:noAutofit/>
          </a:bodyPr>
          <a:lstStyle/>
          <a:p>
            <a:pPr algn="ctr"/>
            <a:endParaRPr lang="en-GB" sz="3600" i="1" dirty="0">
              <a:latin typeface="Times New Roman" panose="02020603050405020304" pitchFamily="18" charset="0"/>
              <a:ea typeface="PMingLiU" panose="02020500000000000000" pitchFamily="18" charset="-120"/>
            </a:endParaRPr>
          </a:p>
          <a:p>
            <a:pPr algn="ctr"/>
            <a:endParaRPr lang="en-GB" sz="3600" i="1" dirty="0">
              <a:latin typeface="Times New Roman" panose="02020603050405020304" pitchFamily="18" charset="0"/>
              <a:ea typeface="PMingLiU" panose="02020500000000000000" pitchFamily="18" charset="-120"/>
            </a:endParaRPr>
          </a:p>
          <a:p>
            <a:pPr algn="ctr"/>
            <a:r>
              <a:rPr lang="en-GB" sz="3600" i="1" dirty="0">
                <a:latin typeface="Times New Roman" panose="02020603050405020304" pitchFamily="18" charset="0"/>
                <a:ea typeface="PMingLiU" panose="02020500000000000000" pitchFamily="18" charset="-120"/>
              </a:rPr>
              <a:t>An action A in C is right </a:t>
            </a:r>
            <a:r>
              <a:rPr lang="en-GB" sz="3600" i="1" dirty="0" err="1">
                <a:latin typeface="Times New Roman" panose="02020603050405020304" pitchFamily="18" charset="0"/>
                <a:ea typeface="PMingLiU" panose="02020500000000000000" pitchFamily="18" charset="-120"/>
              </a:rPr>
              <a:t>iff</a:t>
            </a:r>
            <a:r>
              <a:rPr lang="en-GB" sz="3600" i="1" dirty="0">
                <a:latin typeface="Times New Roman" panose="02020603050405020304" pitchFamily="18" charset="0"/>
                <a:ea typeface="PMingLiU" panose="02020500000000000000" pitchFamily="18" charset="-120"/>
              </a:rPr>
              <a:t> doing A in C would produce as high a utility as would any alternative action that the agent could perform instead.</a:t>
            </a:r>
          </a:p>
        </p:txBody>
      </p:sp>
    </p:spTree>
    <p:extLst>
      <p:ext uri="{BB962C8B-B14F-4D97-AF65-F5344CB8AC3E}">
        <p14:creationId xmlns:p14="http://schemas.microsoft.com/office/powerpoint/2010/main" val="405167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424A-792B-5B72-38E7-DF1330B25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41727-547D-9591-6845-2AD3D67C7337}"/>
              </a:ext>
            </a:extLst>
          </p:cNvPr>
          <p:cNvSpPr>
            <a:spLocks noGrp="1"/>
          </p:cNvSpPr>
          <p:nvPr>
            <p:ph type="title"/>
          </p:nvPr>
        </p:nvSpPr>
        <p:spPr>
          <a:xfrm>
            <a:off x="478971" y="559678"/>
            <a:ext cx="4116935" cy="2221622"/>
          </a:xfrm>
        </p:spPr>
        <p:txBody>
          <a:bodyPr rtlCol="0">
            <a:normAutofit/>
          </a:bodyPr>
          <a:lstStyle/>
          <a:p>
            <a:pPr rtl="0"/>
            <a:r>
              <a:rPr lang="en-GB" sz="4400" dirty="0"/>
              <a:t>Hedonistic Utilitarianism</a:t>
            </a:r>
          </a:p>
        </p:txBody>
      </p:sp>
      <p:sp>
        <p:nvSpPr>
          <p:cNvPr id="3" name="Slide Number Placeholder 2">
            <a:extLst>
              <a:ext uri="{FF2B5EF4-FFF2-40B4-BE49-F238E27FC236}">
                <a16:creationId xmlns:a16="http://schemas.microsoft.com/office/drawing/2014/main" id="{858591D4-3B37-F537-1891-75C3CFEE80CD}"/>
              </a:ext>
            </a:extLst>
          </p:cNvPr>
          <p:cNvSpPr>
            <a:spLocks noGrp="1"/>
          </p:cNvSpPr>
          <p:nvPr>
            <p:ph type="sldNum" sz="quarter" idx="12"/>
          </p:nvPr>
        </p:nvSpPr>
        <p:spPr/>
        <p:txBody>
          <a:bodyPr rtlCol="0"/>
          <a:lstStyle/>
          <a:p>
            <a:pPr rtl="0"/>
            <a:fld id="{13D2E340-0663-474B-992C-9192B5C45E57}" type="slidenum">
              <a:rPr lang="en-GB" smtClean="0"/>
              <a:t>7</a:t>
            </a:fld>
            <a:endParaRPr lang="en-GB" dirty="0"/>
          </a:p>
        </p:txBody>
      </p:sp>
      <p:sp>
        <p:nvSpPr>
          <p:cNvPr id="13" name="TextBox 12">
            <a:extLst>
              <a:ext uri="{FF2B5EF4-FFF2-40B4-BE49-F238E27FC236}">
                <a16:creationId xmlns:a16="http://schemas.microsoft.com/office/drawing/2014/main" id="{2D7C1F4E-2200-708A-B8D1-8631A46C318F}"/>
              </a:ext>
            </a:extLst>
          </p:cNvPr>
          <p:cNvSpPr txBox="1"/>
          <p:nvPr/>
        </p:nvSpPr>
        <p:spPr>
          <a:xfrm>
            <a:off x="5181599" y="305054"/>
            <a:ext cx="6602412" cy="4952492"/>
          </a:xfrm>
          <a:prstGeom prst="rect">
            <a:avLst/>
          </a:prstGeom>
          <a:noFill/>
        </p:spPr>
        <p:txBody>
          <a:bodyPr wrap="square" rtlCol="0">
            <a:noAutofit/>
          </a:bodyPr>
          <a:lstStyle/>
          <a:p>
            <a:pPr algn="just" rtl="0"/>
            <a:r>
              <a:rPr lang="en-GB" sz="3600" i="1" dirty="0">
                <a:latin typeface="Times New Roman" panose="02020603050405020304" pitchFamily="18" charset="0"/>
                <a:ea typeface="PMingLiU" panose="02020500000000000000" pitchFamily="18" charset="-120"/>
              </a:rPr>
              <a:t>Jeremy Bentham and J. S. Mill accept the following two claims</a:t>
            </a:r>
            <a:r>
              <a:rPr lang="en-GB" sz="3600" dirty="0">
                <a:latin typeface="Times New Roman" panose="02020603050405020304" pitchFamily="18" charset="0"/>
                <a:ea typeface="PMingLiU" panose="02020500000000000000" pitchFamily="18" charset="-120"/>
              </a:rPr>
              <a:t>:</a:t>
            </a:r>
            <a:endParaRPr lang="en-US" sz="3600" dirty="0">
              <a:latin typeface="Times New Roman" panose="02020603050405020304" pitchFamily="18" charset="0"/>
              <a:ea typeface="PMingLiU" panose="02020500000000000000" pitchFamily="18" charset="-120"/>
            </a:endParaRPr>
          </a:p>
          <a:p>
            <a:pPr marL="514350" indent="-514350" algn="just" rtl="0">
              <a:buFont typeface="+mj-lt"/>
              <a:buAutoNum type="arabicPeriod"/>
            </a:pPr>
            <a:r>
              <a:rPr lang="en-US" sz="3600" dirty="0">
                <a:latin typeface="Times New Roman" panose="02020603050405020304" pitchFamily="18" charset="0"/>
                <a:ea typeface="PMingLiU" panose="02020500000000000000" pitchFamily="18" charset="-120"/>
              </a:rPr>
              <a:t>One’s </a:t>
            </a:r>
            <a:r>
              <a:rPr lang="en-GB" sz="3600" dirty="0">
                <a:latin typeface="Times New Roman" panose="02020603050405020304" pitchFamily="18" charset="0"/>
                <a:ea typeface="PMingLiU" panose="02020500000000000000" pitchFamily="18" charset="-120"/>
              </a:rPr>
              <a:t>(how one is faring in life) is a matter of one’s level of happiness.</a:t>
            </a:r>
          </a:p>
          <a:p>
            <a:pPr marL="514350" indent="-514350" algn="just" rtl="0">
              <a:buFont typeface="+mj-lt"/>
              <a:buAutoNum type="arabicPeriod"/>
            </a:pPr>
            <a:r>
              <a:rPr lang="en-GB" sz="3600" dirty="0">
                <a:latin typeface="Times New Roman" panose="02020603050405020304" pitchFamily="18" charset="0"/>
                <a:ea typeface="PMingLiU" panose="02020500000000000000" pitchFamily="18" charset="-120"/>
              </a:rPr>
              <a:t>Happiness is constituted by experiences of pleasure (and the absence of experiences of pain).</a:t>
            </a:r>
          </a:p>
          <a:p>
            <a:pPr marL="571500" indent="-571500" algn="just" rtl="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Pleasure: intrinsically good; pain: intrinsically bad.</a:t>
            </a:r>
          </a:p>
        </p:txBody>
      </p:sp>
    </p:spTree>
    <p:extLst>
      <p:ext uri="{BB962C8B-B14F-4D97-AF65-F5344CB8AC3E}">
        <p14:creationId xmlns:p14="http://schemas.microsoft.com/office/powerpoint/2010/main" val="1263636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8120E-9627-E8B6-0676-481535574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200BE-D86B-A4A6-DE70-CA6F3D690F37}"/>
              </a:ext>
            </a:extLst>
          </p:cNvPr>
          <p:cNvSpPr>
            <a:spLocks noGrp="1"/>
          </p:cNvSpPr>
          <p:nvPr>
            <p:ph type="title"/>
          </p:nvPr>
        </p:nvSpPr>
        <p:spPr>
          <a:xfrm>
            <a:off x="416633" y="559678"/>
            <a:ext cx="4179273" cy="2221622"/>
          </a:xfrm>
        </p:spPr>
        <p:txBody>
          <a:bodyPr rtlCol="0">
            <a:normAutofit/>
          </a:bodyPr>
          <a:lstStyle/>
          <a:p>
            <a:r>
              <a:rPr lang="en-GB" sz="4400" dirty="0"/>
              <a:t>Hedonistic Utilitarianism</a:t>
            </a:r>
            <a:endParaRPr lang="en-GB" sz="4000" dirty="0"/>
          </a:p>
        </p:txBody>
      </p:sp>
      <p:sp>
        <p:nvSpPr>
          <p:cNvPr id="7" name="Slide Number Placeholder 6">
            <a:extLst>
              <a:ext uri="{FF2B5EF4-FFF2-40B4-BE49-F238E27FC236}">
                <a16:creationId xmlns:a16="http://schemas.microsoft.com/office/drawing/2014/main" id="{DA6ECA03-3A27-17E7-F62F-84CE53157262}"/>
              </a:ext>
            </a:extLst>
          </p:cNvPr>
          <p:cNvSpPr>
            <a:spLocks noGrp="1"/>
          </p:cNvSpPr>
          <p:nvPr>
            <p:ph type="sldNum" sz="quarter" idx="12"/>
          </p:nvPr>
        </p:nvSpPr>
        <p:spPr/>
        <p:txBody>
          <a:bodyPr rtlCol="0"/>
          <a:lstStyle/>
          <a:p>
            <a:pPr rtl="0"/>
            <a:fld id="{13D2E340-0663-474B-992C-9192B5C45E57}" type="slidenum">
              <a:rPr lang="en-GB" smtClean="0"/>
              <a:t>8</a:t>
            </a:fld>
            <a:endParaRPr lang="en-GB"/>
          </a:p>
        </p:txBody>
      </p:sp>
      <p:sp>
        <p:nvSpPr>
          <p:cNvPr id="23" name="TextBox 22">
            <a:extLst>
              <a:ext uri="{FF2B5EF4-FFF2-40B4-BE49-F238E27FC236}">
                <a16:creationId xmlns:a16="http://schemas.microsoft.com/office/drawing/2014/main" id="{3CA1E901-2F79-6974-E428-93399DC0DC0E}"/>
              </a:ext>
            </a:extLst>
          </p:cNvPr>
          <p:cNvSpPr txBox="1"/>
          <p:nvPr/>
        </p:nvSpPr>
        <p:spPr>
          <a:xfrm>
            <a:off x="5181599" y="559678"/>
            <a:ext cx="6593768" cy="5078614"/>
          </a:xfrm>
          <a:prstGeom prst="rect">
            <a:avLst/>
          </a:prstGeom>
          <a:noFill/>
        </p:spPr>
        <p:txBody>
          <a:bodyPr wrap="square" rtlCol="0">
            <a:noAutofit/>
          </a:bodyPr>
          <a:lstStyle/>
          <a:p>
            <a:r>
              <a:rPr lang="en-US" sz="3200" i="1" dirty="0">
                <a:latin typeface="Times New Roman" panose="02020603050405020304" pitchFamily="18" charset="0"/>
                <a:ea typeface="PMingLiU" panose="02020500000000000000" pitchFamily="18" charset="-120"/>
              </a:rPr>
              <a:t>Ethical Hedonism (EH):</a:t>
            </a:r>
          </a:p>
          <a:p>
            <a:pPr marL="457200" indent="-457200">
              <a:buFont typeface="Arial" panose="020B0604020202020204" pitchFamily="34" charset="0"/>
              <a:buChar char="•"/>
            </a:pPr>
            <a:r>
              <a:rPr lang="en-GB" sz="2800" dirty="0">
                <a:latin typeface="Times New Roman" panose="02020603050405020304" pitchFamily="18" charset="0"/>
                <a:ea typeface="PMingLiU" panose="02020500000000000000" pitchFamily="18" charset="-120"/>
              </a:rPr>
              <a:t>Experiences of pleasure are intrinsically good, and experiences of pain are intrinsically bad, and they are the only items of intrinsic value with which ethics is concerned. </a:t>
            </a:r>
          </a:p>
          <a:p>
            <a:r>
              <a:rPr lang="en-GB" sz="3200" i="1" dirty="0">
                <a:latin typeface="Times New Roman" panose="02020603050405020304" pitchFamily="18" charset="0"/>
                <a:ea typeface="PMingLiU" panose="02020500000000000000" pitchFamily="18" charset="-120"/>
              </a:rPr>
              <a:t>Principle of Hedonistic Utilitarianism (PHU):</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An action A in C is </a:t>
            </a:r>
            <a:r>
              <a:rPr lang="en-GB" sz="3200" i="1" dirty="0">
                <a:latin typeface="Times New Roman" panose="02020603050405020304" pitchFamily="18" charset="0"/>
                <a:ea typeface="PMingLiU" panose="02020500000000000000" pitchFamily="18" charset="-120"/>
              </a:rPr>
              <a:t>right </a:t>
            </a:r>
            <a:r>
              <a:rPr lang="en-GB" sz="3200" dirty="0" err="1">
                <a:latin typeface="Times New Roman" panose="02020603050405020304" pitchFamily="18" charset="0"/>
                <a:ea typeface="PMingLiU" panose="02020500000000000000" pitchFamily="18" charset="-120"/>
              </a:rPr>
              <a:t>iff</a:t>
            </a:r>
            <a:r>
              <a:rPr lang="en-GB" sz="3200" dirty="0">
                <a:latin typeface="Times New Roman" panose="02020603050405020304" pitchFamily="18" charset="0"/>
                <a:ea typeface="PMingLiU" panose="02020500000000000000" pitchFamily="18" charset="-120"/>
              </a:rPr>
              <a:t> doing A in C would produce at least as high an </a:t>
            </a:r>
            <a:r>
              <a:rPr lang="en-GB" sz="3200" i="1" dirty="0">
                <a:solidFill>
                  <a:srgbClr val="FF0000"/>
                </a:solidFill>
                <a:latin typeface="Times New Roman" panose="02020603050405020304" pitchFamily="18" charset="0"/>
                <a:ea typeface="PMingLiU" panose="02020500000000000000" pitchFamily="18" charset="-120"/>
              </a:rPr>
              <a:t>overall balance of pleasure versus pain </a:t>
            </a:r>
            <a:r>
              <a:rPr lang="en-GB" sz="3200" dirty="0">
                <a:latin typeface="Times New Roman" panose="02020603050405020304" pitchFamily="18" charset="0"/>
                <a:ea typeface="PMingLiU" panose="02020500000000000000" pitchFamily="18" charset="-120"/>
              </a:rPr>
              <a:t>as would any other alternative action open to the agent.</a:t>
            </a:r>
          </a:p>
          <a:p>
            <a:pPr marL="457200" indent="-457200">
              <a:buFont typeface="Arial" panose="020B0604020202020204" pitchFamily="34" charset="0"/>
              <a:buChar char="•"/>
            </a:pPr>
            <a:endParaRPr lang="en-GB" sz="28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2284613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25B4A-A9AF-F20C-341C-3A544060B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A5C96-AB1E-E384-CC3E-59F711918FF2}"/>
              </a:ext>
            </a:extLst>
          </p:cNvPr>
          <p:cNvSpPr>
            <a:spLocks noGrp="1"/>
          </p:cNvSpPr>
          <p:nvPr>
            <p:ph type="title"/>
          </p:nvPr>
        </p:nvSpPr>
        <p:spPr>
          <a:xfrm>
            <a:off x="478971" y="559678"/>
            <a:ext cx="4116935" cy="2221622"/>
          </a:xfrm>
        </p:spPr>
        <p:txBody>
          <a:bodyPr rtlCol="0">
            <a:normAutofit/>
          </a:bodyPr>
          <a:lstStyle/>
          <a:p>
            <a:pPr rtl="0"/>
            <a:r>
              <a:rPr lang="en-GB" dirty="0"/>
              <a:t>Bentham’s Felicific Calculus</a:t>
            </a:r>
          </a:p>
        </p:txBody>
      </p:sp>
      <p:sp>
        <p:nvSpPr>
          <p:cNvPr id="3" name="Slide Number Placeholder 2">
            <a:extLst>
              <a:ext uri="{FF2B5EF4-FFF2-40B4-BE49-F238E27FC236}">
                <a16:creationId xmlns:a16="http://schemas.microsoft.com/office/drawing/2014/main" id="{2EC99ABB-F367-3BC5-2017-FB8F8742C503}"/>
              </a:ext>
            </a:extLst>
          </p:cNvPr>
          <p:cNvSpPr>
            <a:spLocks noGrp="1"/>
          </p:cNvSpPr>
          <p:nvPr>
            <p:ph type="sldNum" sz="quarter" idx="12"/>
          </p:nvPr>
        </p:nvSpPr>
        <p:spPr/>
        <p:txBody>
          <a:bodyPr rtlCol="0"/>
          <a:lstStyle/>
          <a:p>
            <a:pPr rtl="0"/>
            <a:fld id="{13D2E340-0663-474B-992C-9192B5C45E57}" type="slidenum">
              <a:rPr lang="en-GB" smtClean="0"/>
              <a:t>9</a:t>
            </a:fld>
            <a:endParaRPr lang="en-GB" dirty="0"/>
          </a:p>
        </p:txBody>
      </p:sp>
      <p:sp>
        <p:nvSpPr>
          <p:cNvPr id="13" name="TextBox 12">
            <a:extLst>
              <a:ext uri="{FF2B5EF4-FFF2-40B4-BE49-F238E27FC236}">
                <a16:creationId xmlns:a16="http://schemas.microsoft.com/office/drawing/2014/main" id="{F29A0C60-3916-4BD3-EE6E-3BC8CFF43339}"/>
              </a:ext>
            </a:extLst>
          </p:cNvPr>
          <p:cNvSpPr txBox="1"/>
          <p:nvPr/>
        </p:nvSpPr>
        <p:spPr>
          <a:xfrm>
            <a:off x="5181599" y="305054"/>
            <a:ext cx="6602412" cy="4952492"/>
          </a:xfrm>
          <a:prstGeom prst="rect">
            <a:avLst/>
          </a:prstGeom>
          <a:noFill/>
        </p:spPr>
        <p:txBody>
          <a:bodyPr wrap="square" rtlCol="0">
            <a:noAutofit/>
          </a:bodyPr>
          <a:lstStyle/>
          <a:p>
            <a:pPr algn="just" rtl="0"/>
            <a:r>
              <a:rPr lang="en-GB" sz="3200" dirty="0">
                <a:latin typeface="Times New Roman" panose="02020603050405020304" pitchFamily="18" charset="0"/>
                <a:ea typeface="PMingLiU" panose="02020500000000000000" pitchFamily="18" charset="-120"/>
              </a:rPr>
              <a:t>In</a:t>
            </a:r>
            <a:r>
              <a:rPr lang="en-GB" sz="3200" i="1" dirty="0">
                <a:latin typeface="Times New Roman" panose="02020603050405020304" pitchFamily="18" charset="0"/>
                <a:ea typeface="PMingLiU" panose="02020500000000000000" pitchFamily="18" charset="-120"/>
              </a:rPr>
              <a:t> An Introduction to the Principles of Morals and Legislation </a:t>
            </a:r>
            <a:r>
              <a:rPr lang="en-GB" sz="3200" dirty="0">
                <a:latin typeface="Times New Roman" panose="02020603050405020304" pitchFamily="18" charset="0"/>
                <a:ea typeface="PMingLiU" panose="02020500000000000000" pitchFamily="18" charset="-120"/>
              </a:rPr>
              <a:t>(1789), Bentham includes the following checklist of features to be used in calculating the utilities of actions: </a:t>
            </a:r>
          </a:p>
          <a:p>
            <a:pPr marL="514350" indent="-514350" algn="just" rtl="0">
              <a:buFont typeface="+mj-lt"/>
              <a:buAutoNum type="arabicPeriod"/>
            </a:pPr>
            <a:r>
              <a:rPr lang="en-GB" sz="3200" dirty="0">
                <a:latin typeface="Times New Roman" panose="02020603050405020304" pitchFamily="18" charset="0"/>
                <a:ea typeface="PMingLiU" panose="02020500000000000000" pitchFamily="18" charset="-120"/>
              </a:rPr>
              <a:t>Intensity</a:t>
            </a:r>
          </a:p>
          <a:p>
            <a:pPr marL="514350" indent="-514350" algn="just" rtl="0">
              <a:buFont typeface="+mj-lt"/>
              <a:buAutoNum type="arabicPeriod"/>
            </a:pPr>
            <a:r>
              <a:rPr lang="en-GB" sz="3200" dirty="0">
                <a:latin typeface="Times New Roman" panose="02020603050405020304" pitchFamily="18" charset="0"/>
                <a:ea typeface="PMingLiU" panose="02020500000000000000" pitchFamily="18" charset="-120"/>
              </a:rPr>
              <a:t>Duration</a:t>
            </a:r>
          </a:p>
          <a:p>
            <a:pPr marL="514350" indent="-514350" algn="just" rtl="0">
              <a:buFont typeface="+mj-lt"/>
              <a:buAutoNum type="arabicPeriod"/>
            </a:pPr>
            <a:r>
              <a:rPr lang="en-GB" sz="3200" dirty="0">
                <a:latin typeface="Times New Roman" panose="02020603050405020304" pitchFamily="18" charset="0"/>
                <a:ea typeface="PMingLiU" panose="02020500000000000000" pitchFamily="18" charset="-120"/>
              </a:rPr>
              <a:t>Certainty and uncertainty</a:t>
            </a:r>
          </a:p>
          <a:p>
            <a:pPr marL="514350" indent="-514350" algn="just" rtl="0">
              <a:buFont typeface="+mj-lt"/>
              <a:buAutoNum type="arabicPeriod"/>
            </a:pPr>
            <a:r>
              <a:rPr lang="en-GB" sz="3200" dirty="0">
                <a:latin typeface="Times New Roman" panose="02020603050405020304" pitchFamily="18" charset="0"/>
                <a:ea typeface="PMingLiU" panose="02020500000000000000" pitchFamily="18" charset="-120"/>
              </a:rPr>
              <a:t>Propinquity and remoteness</a:t>
            </a:r>
          </a:p>
          <a:p>
            <a:pPr marL="514350" indent="-514350" algn="just" rtl="0">
              <a:buFont typeface="+mj-lt"/>
              <a:buAutoNum type="arabicPeriod"/>
            </a:pPr>
            <a:r>
              <a:rPr lang="en-GB" sz="3200" dirty="0">
                <a:latin typeface="Times New Roman" panose="02020603050405020304" pitchFamily="18" charset="0"/>
                <a:ea typeface="PMingLiU" panose="02020500000000000000" pitchFamily="18" charset="-120"/>
              </a:rPr>
              <a:t>Fecundity</a:t>
            </a:r>
          </a:p>
          <a:p>
            <a:pPr marL="514350" indent="-514350" algn="just" rtl="0">
              <a:buFont typeface="+mj-lt"/>
              <a:buAutoNum type="arabicPeriod"/>
            </a:pPr>
            <a:r>
              <a:rPr lang="en-GB" sz="3200" dirty="0">
                <a:latin typeface="Times New Roman" panose="02020603050405020304" pitchFamily="18" charset="0"/>
                <a:ea typeface="PMingLiU" panose="02020500000000000000" pitchFamily="18" charset="-120"/>
              </a:rPr>
              <a:t>Purity</a:t>
            </a:r>
          </a:p>
          <a:p>
            <a:pPr marL="514350" indent="-514350" algn="just" rtl="0">
              <a:buFont typeface="+mj-lt"/>
              <a:buAutoNum type="arabicPeriod"/>
            </a:pPr>
            <a:r>
              <a:rPr lang="en-GB" sz="3200" dirty="0">
                <a:latin typeface="Times New Roman" panose="02020603050405020304" pitchFamily="18" charset="0"/>
                <a:ea typeface="PMingLiU" panose="02020500000000000000" pitchFamily="18" charset="-120"/>
              </a:rPr>
              <a:t>Extent </a:t>
            </a:r>
          </a:p>
          <a:p>
            <a:pPr marL="457200" indent="-457200" algn="just" rtl="0">
              <a:buFont typeface="Arial" panose="020B0604020202020204" pitchFamily="34" charset="0"/>
              <a:buChar char="•"/>
            </a:pPr>
            <a:endParaRPr lang="en-GB" sz="3200" i="1"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4982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F34B-93F5-46C0-9BEC-B1A8D55008B4}"/>
              </a:ext>
            </a:extLst>
          </p:cNvPr>
          <p:cNvSpPr>
            <a:spLocks noGrp="1"/>
          </p:cNvSpPr>
          <p:nvPr>
            <p:ph type="title"/>
          </p:nvPr>
        </p:nvSpPr>
        <p:spPr>
          <a:xfrm>
            <a:off x="530578" y="559678"/>
            <a:ext cx="4065328" cy="2221622"/>
          </a:xfrm>
        </p:spPr>
        <p:txBody>
          <a:bodyPr rtlCol="0">
            <a:normAutofit/>
          </a:bodyPr>
          <a:lstStyle/>
          <a:p>
            <a:r>
              <a:rPr lang="en-GB" sz="4400" dirty="0"/>
              <a:t>Mill’s Utilitarianism</a:t>
            </a:r>
          </a:p>
        </p:txBody>
      </p:sp>
      <p:sp>
        <p:nvSpPr>
          <p:cNvPr id="7" name="Slide Number Placeholder 6">
            <a:extLst>
              <a:ext uri="{FF2B5EF4-FFF2-40B4-BE49-F238E27FC236}">
                <a16:creationId xmlns:a16="http://schemas.microsoft.com/office/drawing/2014/main" id="{C7C944DD-F200-6B48-8A79-099A08992A35}"/>
              </a:ext>
            </a:extLst>
          </p:cNvPr>
          <p:cNvSpPr>
            <a:spLocks noGrp="1"/>
          </p:cNvSpPr>
          <p:nvPr>
            <p:ph type="sldNum" sz="quarter" idx="12"/>
          </p:nvPr>
        </p:nvSpPr>
        <p:spPr/>
        <p:txBody>
          <a:bodyPr rtlCol="0"/>
          <a:lstStyle/>
          <a:p>
            <a:pPr rtl="0"/>
            <a:fld id="{13D2E340-0663-474B-992C-9192B5C45E57}" type="slidenum">
              <a:rPr lang="en-GB" smtClean="0"/>
              <a:t>10</a:t>
            </a:fld>
            <a:endParaRPr lang="en-GB"/>
          </a:p>
        </p:txBody>
      </p:sp>
      <p:sp>
        <p:nvSpPr>
          <p:cNvPr id="23" name="TextBox 22">
            <a:extLst>
              <a:ext uri="{FF2B5EF4-FFF2-40B4-BE49-F238E27FC236}">
                <a16:creationId xmlns:a16="http://schemas.microsoft.com/office/drawing/2014/main" id="{764A365B-4C2F-2351-93F8-FD34668116E1}"/>
              </a:ext>
            </a:extLst>
          </p:cNvPr>
          <p:cNvSpPr txBox="1"/>
          <p:nvPr/>
        </p:nvSpPr>
        <p:spPr>
          <a:xfrm>
            <a:off x="5181599" y="559678"/>
            <a:ext cx="6593768" cy="5078614"/>
          </a:xfrm>
          <a:prstGeom prst="rect">
            <a:avLst/>
          </a:prstGeom>
          <a:noFill/>
        </p:spPr>
        <p:txBody>
          <a:bodyPr wrap="square" rtlCol="0">
            <a:noAutofit/>
          </a:bodyPr>
          <a:lstStyle/>
          <a:p>
            <a:pPr algn="just"/>
            <a:r>
              <a:rPr lang="en-GB" sz="3200" dirty="0">
                <a:latin typeface="Times New Roman" panose="02020603050405020304" pitchFamily="18" charset="0"/>
                <a:ea typeface="PMingLiU" panose="02020500000000000000" pitchFamily="18" charset="-120"/>
              </a:rPr>
              <a:t>John Stuart Mill (1806-1873) refined the position by considering </a:t>
            </a:r>
            <a:r>
              <a:rPr lang="en-GB" sz="3200" i="1" dirty="0">
                <a:latin typeface="Times New Roman" panose="02020603050405020304" pitchFamily="18" charset="0"/>
                <a:ea typeface="PMingLiU" panose="02020500000000000000" pitchFamily="18" charset="-120"/>
              </a:rPr>
              <a:t>qualitative</a:t>
            </a:r>
            <a:r>
              <a:rPr lang="en-GB" sz="3200" dirty="0">
                <a:latin typeface="Times New Roman" panose="02020603050405020304" pitchFamily="18" charset="0"/>
                <a:ea typeface="PMingLiU" panose="02020500000000000000" pitchFamily="18" charset="-120"/>
              </a:rPr>
              <a:t> facts about the nature of pleasure. </a:t>
            </a:r>
          </a:p>
          <a:p>
            <a:pPr marL="514350" indent="-51435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rPr>
              <a:t>“It is quite compatible with the principle of utility to recognize the fact, that some kinds of pleasure are more desirable and more valuable than others. It would be absurd that while, in estimating all other things, quality is considered as well as quantity, the estimation of pleasures should be supposed to depend on quantity alone. (Mill [1863] 1979, 8)”</a:t>
            </a:r>
          </a:p>
        </p:txBody>
      </p:sp>
    </p:spTree>
    <p:extLst>
      <p:ext uri="{BB962C8B-B14F-4D97-AF65-F5344CB8AC3E}">
        <p14:creationId xmlns:p14="http://schemas.microsoft.com/office/powerpoint/2010/main" val="1707474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a:xfrm>
            <a:off x="623454" y="230819"/>
            <a:ext cx="3972451" cy="3198181"/>
          </a:xfrm>
        </p:spPr>
        <p:txBody>
          <a:bodyPr rtlCol="0">
            <a:normAutofit/>
          </a:bodyPr>
          <a:lstStyle/>
          <a:p>
            <a:r>
              <a:rPr lang="en-GB" sz="4400" dirty="0"/>
              <a:t>Mill’s Utilitarianism</a:t>
            </a:r>
          </a:p>
        </p:txBody>
      </p:sp>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rtlCol="0"/>
          <a:lstStyle/>
          <a:p>
            <a:pPr rtl="0"/>
            <a:fld id="{13D2E340-0663-474B-992C-9192B5C45E57}" type="slidenum">
              <a:rPr lang="en-GB" smtClean="0"/>
              <a:t>11</a:t>
            </a:fld>
            <a:endParaRPr lang="en-GB"/>
          </a:p>
        </p:txBody>
      </p:sp>
      <p:sp>
        <p:nvSpPr>
          <p:cNvPr id="41" name="TextBox 40">
            <a:extLst>
              <a:ext uri="{FF2B5EF4-FFF2-40B4-BE49-F238E27FC236}">
                <a16:creationId xmlns:a16="http://schemas.microsoft.com/office/drawing/2014/main" id="{E70AB508-2913-4EE2-5303-4456A2553371}"/>
              </a:ext>
            </a:extLst>
          </p:cNvPr>
          <p:cNvSpPr txBox="1"/>
          <p:nvPr/>
        </p:nvSpPr>
        <p:spPr>
          <a:xfrm>
            <a:off x="5129349" y="230819"/>
            <a:ext cx="6654662" cy="5407473"/>
          </a:xfrm>
          <a:prstGeom prst="rect">
            <a:avLst/>
          </a:prstGeom>
          <a:noFill/>
        </p:spPr>
        <p:txBody>
          <a:bodyPr wrap="square" rtlCol="0">
            <a:noAutofit/>
          </a:bodyPr>
          <a:lstStyle/>
          <a:p>
            <a:pPr algn="just"/>
            <a:r>
              <a:rPr lang="en-GB" sz="2600" dirty="0">
                <a:effectLst/>
                <a:latin typeface="Times New Roman" panose="02020603050405020304" pitchFamily="18" charset="0"/>
                <a:ea typeface="PMingLiU" panose="02020500000000000000" pitchFamily="18" charset="-120"/>
              </a:rPr>
              <a:t>“If I am asked, what I mean by difference in quality of pleasures, or what makes one pleasure more valuable than another…there is but one possible answer. </a:t>
            </a:r>
            <a:r>
              <a:rPr lang="en-GB" sz="2600" dirty="0">
                <a:solidFill>
                  <a:srgbClr val="FF0000"/>
                </a:solidFill>
                <a:effectLst/>
                <a:latin typeface="Times New Roman" panose="02020603050405020304" pitchFamily="18" charset="0"/>
                <a:ea typeface="PMingLiU" panose="02020500000000000000" pitchFamily="18" charset="-120"/>
              </a:rPr>
              <a:t>Of two pleasures…If one of the two is, by those who are competently acquainted with both, placed so far above the other that they prefer it</a:t>
            </a:r>
            <a:r>
              <a:rPr lang="en-GB" sz="2600" dirty="0">
                <a:effectLst/>
                <a:latin typeface="Times New Roman" panose="02020603050405020304" pitchFamily="18" charset="0"/>
                <a:ea typeface="PMingLiU" panose="02020500000000000000" pitchFamily="18" charset="-120"/>
              </a:rPr>
              <a:t>, even though knowing it to be attended with a greater amount of discontent, and would not resign it for any quantity of the other pleasure which their nature is capable of, </a:t>
            </a:r>
            <a:r>
              <a:rPr lang="en-GB" sz="2600" dirty="0">
                <a:solidFill>
                  <a:srgbClr val="FF0000"/>
                </a:solidFill>
                <a:effectLst/>
                <a:latin typeface="Times New Roman" panose="02020603050405020304" pitchFamily="18" charset="0"/>
                <a:ea typeface="PMingLiU" panose="02020500000000000000" pitchFamily="18" charset="-120"/>
              </a:rPr>
              <a:t>we are justified in ascribing to the preferred enjoyment a superiority in quality</a:t>
            </a:r>
            <a:r>
              <a:rPr lang="en-GB" sz="2600" dirty="0">
                <a:effectLst/>
                <a:latin typeface="Times New Roman" panose="02020603050405020304" pitchFamily="18" charset="0"/>
                <a:ea typeface="PMingLiU" panose="02020500000000000000" pitchFamily="18" charset="-120"/>
              </a:rPr>
              <a:t>, so far outweighing quantity as to render it, in comparison, of small amount. (Mill [1863] 1979, 8–9)”</a:t>
            </a:r>
            <a:endParaRPr lang="en-GB" sz="26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289796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BB3C1-A37E-886A-909B-53E077AC0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908A0-65FF-2705-D664-4522AA4546BE}"/>
              </a:ext>
            </a:extLst>
          </p:cNvPr>
          <p:cNvSpPr>
            <a:spLocks noGrp="1"/>
          </p:cNvSpPr>
          <p:nvPr>
            <p:ph type="title"/>
          </p:nvPr>
        </p:nvSpPr>
        <p:spPr>
          <a:xfrm>
            <a:off x="416634" y="559678"/>
            <a:ext cx="4179272" cy="2602622"/>
          </a:xfrm>
        </p:spPr>
        <p:txBody>
          <a:bodyPr rtlCol="0">
            <a:normAutofit/>
          </a:bodyPr>
          <a:lstStyle/>
          <a:p>
            <a:r>
              <a:rPr lang="en-GB" sz="4400" dirty="0"/>
              <a:t>Two Objections to Qualitative Hedonism </a:t>
            </a:r>
          </a:p>
        </p:txBody>
      </p:sp>
      <p:sp>
        <p:nvSpPr>
          <p:cNvPr id="7" name="Slide Number Placeholder 6">
            <a:extLst>
              <a:ext uri="{FF2B5EF4-FFF2-40B4-BE49-F238E27FC236}">
                <a16:creationId xmlns:a16="http://schemas.microsoft.com/office/drawing/2014/main" id="{C21A53E5-FEE5-118D-CD36-C66764E3A3B5}"/>
              </a:ext>
            </a:extLst>
          </p:cNvPr>
          <p:cNvSpPr>
            <a:spLocks noGrp="1"/>
          </p:cNvSpPr>
          <p:nvPr>
            <p:ph type="sldNum" sz="quarter" idx="12"/>
          </p:nvPr>
        </p:nvSpPr>
        <p:spPr/>
        <p:txBody>
          <a:bodyPr rtlCol="0"/>
          <a:lstStyle/>
          <a:p>
            <a:pPr rtl="0"/>
            <a:fld id="{13D2E340-0663-474B-992C-9192B5C45E57}" type="slidenum">
              <a:rPr lang="en-GB" smtClean="0"/>
              <a:t>12</a:t>
            </a:fld>
            <a:endParaRPr lang="en-GB"/>
          </a:p>
        </p:txBody>
      </p:sp>
      <p:sp>
        <p:nvSpPr>
          <p:cNvPr id="23" name="TextBox 22">
            <a:extLst>
              <a:ext uri="{FF2B5EF4-FFF2-40B4-BE49-F238E27FC236}">
                <a16:creationId xmlns:a16="http://schemas.microsoft.com/office/drawing/2014/main" id="{44D17366-2D5D-EBCB-C069-47BBF0111A8A}"/>
              </a:ext>
            </a:extLst>
          </p:cNvPr>
          <p:cNvSpPr txBox="1"/>
          <p:nvPr/>
        </p:nvSpPr>
        <p:spPr>
          <a:xfrm>
            <a:off x="5181599" y="559678"/>
            <a:ext cx="6593768" cy="5078614"/>
          </a:xfrm>
          <a:prstGeom prst="rect">
            <a:avLst/>
          </a:prstGeom>
          <a:noFill/>
        </p:spPr>
        <p:txBody>
          <a:bodyPr wrap="square" rtlCol="0">
            <a:noAutofit/>
          </a:bodyPr>
          <a:lstStyle/>
          <a:p>
            <a:r>
              <a:rPr lang="en-US" sz="3200" i="1" dirty="0">
                <a:latin typeface="Times New Roman" panose="02020603050405020304" pitchFamily="18" charset="0"/>
                <a:ea typeface="PMingLiU" panose="02020500000000000000" pitchFamily="18" charset="-120"/>
              </a:rPr>
              <a:t>Obj. 1</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Either quality has to do with the intrinsic nature of mental states of pleasure, or it does not.</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If it does, then the only basis for distinguishing various pleasures is their intensity and duration. → back to pure quantitative hedonism.</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If it does not, then Mill has actually forsaken hedonism.   </a:t>
            </a:r>
          </a:p>
        </p:txBody>
      </p:sp>
    </p:spTree>
    <p:extLst>
      <p:ext uri="{BB962C8B-B14F-4D97-AF65-F5344CB8AC3E}">
        <p14:creationId xmlns:p14="http://schemas.microsoft.com/office/powerpoint/2010/main" val="2195168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BF37F-3E74-594E-C7DE-E08CA8A50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8C0E1-92E9-F470-195D-C5A870DBDD32}"/>
              </a:ext>
            </a:extLst>
          </p:cNvPr>
          <p:cNvSpPr>
            <a:spLocks noGrp="1"/>
          </p:cNvSpPr>
          <p:nvPr>
            <p:ph type="title"/>
          </p:nvPr>
        </p:nvSpPr>
        <p:spPr>
          <a:xfrm>
            <a:off x="261256" y="230819"/>
            <a:ext cx="4334649" cy="3198181"/>
          </a:xfrm>
        </p:spPr>
        <p:txBody>
          <a:bodyPr rtlCol="0">
            <a:normAutofit/>
          </a:bodyPr>
          <a:lstStyle/>
          <a:p>
            <a:r>
              <a:rPr lang="en-GB" sz="4400" dirty="0"/>
              <a:t>Two Objections to Qualitative Hedonism </a:t>
            </a:r>
          </a:p>
        </p:txBody>
      </p:sp>
      <p:sp>
        <p:nvSpPr>
          <p:cNvPr id="10" name="Slide Number Placeholder 9">
            <a:extLst>
              <a:ext uri="{FF2B5EF4-FFF2-40B4-BE49-F238E27FC236}">
                <a16:creationId xmlns:a16="http://schemas.microsoft.com/office/drawing/2014/main" id="{85B71140-9C05-953D-8182-42956B2C1751}"/>
              </a:ext>
            </a:extLst>
          </p:cNvPr>
          <p:cNvSpPr>
            <a:spLocks noGrp="1"/>
          </p:cNvSpPr>
          <p:nvPr>
            <p:ph type="sldNum" sz="quarter" idx="12"/>
          </p:nvPr>
        </p:nvSpPr>
        <p:spPr/>
        <p:txBody>
          <a:bodyPr rtlCol="0"/>
          <a:lstStyle/>
          <a:p>
            <a:pPr rtl="0"/>
            <a:fld id="{13D2E340-0663-474B-992C-9192B5C45E57}" type="slidenum">
              <a:rPr lang="en-GB" smtClean="0"/>
              <a:t>13</a:t>
            </a:fld>
            <a:endParaRPr lang="en-GB"/>
          </a:p>
        </p:txBody>
      </p:sp>
      <p:sp>
        <p:nvSpPr>
          <p:cNvPr id="41" name="TextBox 40">
            <a:extLst>
              <a:ext uri="{FF2B5EF4-FFF2-40B4-BE49-F238E27FC236}">
                <a16:creationId xmlns:a16="http://schemas.microsoft.com/office/drawing/2014/main" id="{E0699548-9BE0-D501-1E59-8D8CC60A2A49}"/>
              </a:ext>
            </a:extLst>
          </p:cNvPr>
          <p:cNvSpPr txBox="1"/>
          <p:nvPr/>
        </p:nvSpPr>
        <p:spPr>
          <a:xfrm>
            <a:off x="5181599" y="230819"/>
            <a:ext cx="6248401" cy="5407473"/>
          </a:xfrm>
          <a:prstGeom prst="rect">
            <a:avLst/>
          </a:prstGeom>
          <a:noFill/>
        </p:spPr>
        <p:txBody>
          <a:bodyPr wrap="square" rtlCol="0">
            <a:noAutofit/>
          </a:bodyPr>
          <a:lstStyle/>
          <a:p>
            <a:r>
              <a:rPr lang="en-US" sz="3200" i="1" dirty="0">
                <a:latin typeface="Times New Roman" panose="02020603050405020304" pitchFamily="18" charset="0"/>
                <a:ea typeface="PMingLiU" panose="02020500000000000000" pitchFamily="18" charset="-120"/>
              </a:rPr>
              <a:t>Obj. 2</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Presumably, to be competent in judging matters of quality, one must have the developed capacities to enjoy the types of pleasures to be ranked.</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But how can Mill be so sure that “expert judges” will reach universal or nearly universal agreement over matters of quality?</a:t>
            </a:r>
          </a:p>
          <a:p>
            <a:pPr marL="514350" indent="-514350">
              <a:buFont typeface="+mj-lt"/>
              <a:buAutoNum type="arabicPeriod"/>
            </a:pPr>
            <a:endParaRPr lang="en-GB" sz="32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23353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E6A52-D0EF-2DB8-E3D9-AA5A27FD9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93335-C8F6-0B4A-66B9-BF39D79CB760}"/>
              </a:ext>
            </a:extLst>
          </p:cNvPr>
          <p:cNvSpPr>
            <a:spLocks noGrp="1"/>
          </p:cNvSpPr>
          <p:nvPr>
            <p:ph type="title"/>
          </p:nvPr>
        </p:nvSpPr>
        <p:spPr>
          <a:xfrm>
            <a:off x="530578" y="559678"/>
            <a:ext cx="4065328" cy="2221622"/>
          </a:xfrm>
        </p:spPr>
        <p:txBody>
          <a:bodyPr rtlCol="0">
            <a:normAutofit/>
          </a:bodyPr>
          <a:lstStyle/>
          <a:p>
            <a:r>
              <a:rPr lang="en-US" sz="4400" b="1" dirty="0"/>
              <a:t>Mill’s “Proof”</a:t>
            </a:r>
            <a:endParaRPr lang="en-GB" sz="4400" dirty="0"/>
          </a:p>
        </p:txBody>
      </p:sp>
      <p:sp>
        <p:nvSpPr>
          <p:cNvPr id="7" name="Slide Number Placeholder 6">
            <a:extLst>
              <a:ext uri="{FF2B5EF4-FFF2-40B4-BE49-F238E27FC236}">
                <a16:creationId xmlns:a16="http://schemas.microsoft.com/office/drawing/2014/main" id="{234FD86E-89DD-02B2-93BC-6F34B6FD3DEA}"/>
              </a:ext>
            </a:extLst>
          </p:cNvPr>
          <p:cNvSpPr>
            <a:spLocks noGrp="1"/>
          </p:cNvSpPr>
          <p:nvPr>
            <p:ph type="sldNum" sz="quarter" idx="12"/>
          </p:nvPr>
        </p:nvSpPr>
        <p:spPr/>
        <p:txBody>
          <a:bodyPr rtlCol="0"/>
          <a:lstStyle/>
          <a:p>
            <a:pPr rtl="0"/>
            <a:fld id="{13D2E340-0663-474B-992C-9192B5C45E57}" type="slidenum">
              <a:rPr lang="en-GB" smtClean="0"/>
              <a:t>14</a:t>
            </a:fld>
            <a:endParaRPr lang="en-GB"/>
          </a:p>
        </p:txBody>
      </p:sp>
      <p:sp>
        <p:nvSpPr>
          <p:cNvPr id="23" name="TextBox 22">
            <a:extLst>
              <a:ext uri="{FF2B5EF4-FFF2-40B4-BE49-F238E27FC236}">
                <a16:creationId xmlns:a16="http://schemas.microsoft.com/office/drawing/2014/main" id="{8CF09343-1CC0-6B70-EF46-FD8285E176D3}"/>
              </a:ext>
            </a:extLst>
          </p:cNvPr>
          <p:cNvSpPr txBox="1"/>
          <p:nvPr/>
        </p:nvSpPr>
        <p:spPr>
          <a:xfrm>
            <a:off x="5181599" y="559678"/>
            <a:ext cx="6593768" cy="5078614"/>
          </a:xfrm>
          <a:prstGeom prst="rect">
            <a:avLst/>
          </a:prstGeom>
          <a:noFill/>
        </p:spPr>
        <p:txBody>
          <a:bodyPr wrap="square" rtlCol="0">
            <a:noAutofit/>
          </a:bodyPr>
          <a:lstStyle/>
          <a:p>
            <a:pPr marL="457200" indent="-457200">
              <a:buFont typeface="Arial" panose="020B0604020202020204" pitchFamily="34" charset="0"/>
              <a:buChar char="•"/>
            </a:pPr>
            <a:r>
              <a:rPr lang="en-US" sz="2800" dirty="0">
                <a:latin typeface="Times New Roman" panose="02020603050405020304" pitchFamily="18" charset="0"/>
                <a:ea typeface="PMingLiU" panose="02020500000000000000" pitchFamily="18" charset="-120"/>
              </a:rPr>
              <a:t>Although Mill agrees that </a:t>
            </a:r>
            <a:r>
              <a:rPr lang="en-GB" sz="2800" dirty="0">
                <a:latin typeface="Times New Roman" panose="02020603050405020304" pitchFamily="18" charset="0"/>
                <a:ea typeface="PMingLiU" panose="02020500000000000000" pitchFamily="18" charset="-120"/>
              </a:rPr>
              <a:t>“questions of ultimate ends do not admit of proof</a:t>
            </a:r>
            <a:r>
              <a:rPr lang="en-US" sz="2800" dirty="0">
                <a:latin typeface="Times New Roman" panose="02020603050405020304" pitchFamily="18" charset="0"/>
                <a:ea typeface="PMingLiU" panose="02020500000000000000" pitchFamily="18" charset="-120"/>
              </a:rPr>
              <a:t>” (Mill [1863] 1979, 34), we may still present considerations that determine the intellect to give assent to the doctrine. </a:t>
            </a:r>
          </a:p>
          <a:p>
            <a:endParaRPr lang="en-US" sz="2800" dirty="0">
              <a:latin typeface="Times New Roman" panose="02020603050405020304" pitchFamily="18" charset="0"/>
              <a:ea typeface="PMingLiU" panose="02020500000000000000" pitchFamily="18" charset="-120"/>
            </a:endParaRPr>
          </a:p>
          <a:p>
            <a:r>
              <a:rPr lang="en-US" sz="2800" i="1" dirty="0">
                <a:latin typeface="Times New Roman" panose="02020603050405020304" pitchFamily="18" charset="0"/>
                <a:ea typeface="PMingLiU" panose="02020500000000000000" pitchFamily="18" charset="-120"/>
              </a:rPr>
              <a:t>Mill’s three-stage proof: </a:t>
            </a:r>
          </a:p>
          <a:p>
            <a:pPr marL="514350" indent="-514350">
              <a:buFont typeface="+mj-lt"/>
              <a:buAutoNum type="arabicPeriod"/>
            </a:pPr>
            <a:r>
              <a:rPr lang="en-GB" sz="2800" dirty="0">
                <a:latin typeface="Times New Roman" panose="02020603050405020304" pitchFamily="18" charset="0"/>
                <a:ea typeface="PMingLiU" panose="02020500000000000000" pitchFamily="18" charset="-120"/>
              </a:rPr>
              <a:t>Each person’s happiness is intrinsically good to that individual.</a:t>
            </a:r>
          </a:p>
          <a:p>
            <a:pPr marL="514350" indent="-514350">
              <a:buFont typeface="+mj-lt"/>
              <a:buAutoNum type="arabicPeriod"/>
            </a:pPr>
            <a:r>
              <a:rPr lang="en-GB" sz="2800" dirty="0">
                <a:latin typeface="Times New Roman" panose="02020603050405020304" pitchFamily="18" charset="0"/>
                <a:ea typeface="PMingLiU" panose="02020500000000000000" pitchFamily="18" charset="-120"/>
              </a:rPr>
              <a:t>The general happiness (the happiness of all individuals) is an intrinsic good to the aggregate of individuals.</a:t>
            </a:r>
          </a:p>
          <a:p>
            <a:pPr marL="514350" indent="-514350">
              <a:buFont typeface="+mj-lt"/>
              <a:buAutoNum type="arabicPeriod"/>
            </a:pPr>
            <a:r>
              <a:rPr lang="en-GB" sz="2800" dirty="0">
                <a:latin typeface="Times New Roman" panose="02020603050405020304" pitchFamily="18" charset="0"/>
                <a:ea typeface="PMingLiU" panose="02020500000000000000" pitchFamily="18" charset="-120"/>
              </a:rPr>
              <a:t>Happiness is the only intrinsic good.</a:t>
            </a:r>
          </a:p>
        </p:txBody>
      </p:sp>
    </p:spTree>
    <p:extLst>
      <p:ext uri="{BB962C8B-B14F-4D97-AF65-F5344CB8AC3E}">
        <p14:creationId xmlns:p14="http://schemas.microsoft.com/office/powerpoint/2010/main" val="2180084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a:xfrm>
            <a:off x="470263" y="559678"/>
            <a:ext cx="4125643" cy="2221622"/>
          </a:xfrm>
        </p:spPr>
        <p:txBody>
          <a:bodyPr rtlCol="0">
            <a:normAutofit/>
          </a:bodyPr>
          <a:lstStyle/>
          <a:p>
            <a:r>
              <a:rPr lang="en-US" sz="4400" b="1" dirty="0"/>
              <a:t>Mill’s “Proof”</a:t>
            </a:r>
            <a:endParaRPr lang="en-GB" sz="4400" dirty="0"/>
          </a:p>
        </p:txBody>
      </p:sp>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rtlCol="0"/>
          <a:lstStyle/>
          <a:p>
            <a:pPr rtl="0"/>
            <a:fld id="{13D2E340-0663-474B-992C-9192B5C45E57}" type="slidenum">
              <a:rPr lang="en-GB" smtClean="0"/>
              <a:t>15</a:t>
            </a:fld>
            <a:endParaRPr lang="en-GB"/>
          </a:p>
        </p:txBody>
      </p:sp>
      <p:sp>
        <p:nvSpPr>
          <p:cNvPr id="41" name="TextBox 40">
            <a:extLst>
              <a:ext uri="{FF2B5EF4-FFF2-40B4-BE49-F238E27FC236}">
                <a16:creationId xmlns:a16="http://schemas.microsoft.com/office/drawing/2014/main" id="{E70AB508-2913-4EE2-5303-4456A2553371}"/>
              </a:ext>
            </a:extLst>
          </p:cNvPr>
          <p:cNvSpPr txBox="1"/>
          <p:nvPr/>
        </p:nvSpPr>
        <p:spPr>
          <a:xfrm>
            <a:off x="5181599" y="559678"/>
            <a:ext cx="6602412" cy="5078614"/>
          </a:xfrm>
          <a:prstGeom prst="rect">
            <a:avLst/>
          </a:prstGeom>
          <a:noFill/>
        </p:spPr>
        <p:txBody>
          <a:bodyPr wrap="square" rtlCol="0">
            <a:noAutofit/>
          </a:bodyPr>
          <a:lstStyle/>
          <a:p>
            <a:r>
              <a:rPr lang="en-US" sz="3200" i="1" dirty="0">
                <a:latin typeface="Times New Roman" panose="02020603050405020304" pitchFamily="18" charset="0"/>
                <a:ea typeface="PMingLiU" panose="02020500000000000000" pitchFamily="18" charset="-120"/>
              </a:rPr>
              <a:t>Stage 1: </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People desire their happiness for its own sake.</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If something is desired for its own sake, then it is </a:t>
            </a:r>
            <a:r>
              <a:rPr lang="en-GB" sz="3200" dirty="0">
                <a:solidFill>
                  <a:srgbClr val="FF0000"/>
                </a:solidFill>
                <a:latin typeface="Times New Roman" panose="02020603050405020304" pitchFamily="18" charset="0"/>
                <a:ea typeface="PMingLiU" panose="02020500000000000000" pitchFamily="18" charset="-120"/>
              </a:rPr>
              <a:t>desirable as such</a:t>
            </a:r>
            <a:r>
              <a:rPr lang="en-GB" sz="3200" dirty="0">
                <a:latin typeface="Times New Roman" panose="02020603050405020304" pitchFamily="18" charset="0"/>
                <a:ea typeface="PMingLiU" panose="02020500000000000000" pitchFamily="18" charset="-120"/>
              </a:rPr>
              <a:t>.</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Each person’s happiness is desirable as such to that person.</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If something is desirable as such, then it is </a:t>
            </a:r>
            <a:r>
              <a:rPr lang="en-GB" sz="3200" dirty="0">
                <a:solidFill>
                  <a:srgbClr val="FF0000"/>
                </a:solidFill>
                <a:latin typeface="Times New Roman" panose="02020603050405020304" pitchFamily="18" charset="0"/>
                <a:ea typeface="PMingLiU" panose="02020500000000000000" pitchFamily="18" charset="-120"/>
              </a:rPr>
              <a:t>intrinsically good </a:t>
            </a:r>
            <a:r>
              <a:rPr lang="en-GB" sz="3200" dirty="0">
                <a:latin typeface="Times New Roman" panose="02020603050405020304" pitchFamily="18" charset="0"/>
                <a:ea typeface="PMingLiU" panose="02020500000000000000" pitchFamily="18" charset="-120"/>
              </a:rPr>
              <a:t>(by definition).</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Therefore, one’s happiness is an intrinsic good to oneself.</a:t>
            </a:r>
          </a:p>
          <a:p>
            <a:pPr marL="514350" indent="-514350">
              <a:buFont typeface="+mj-lt"/>
              <a:buAutoNum type="arabicPeriod"/>
            </a:pPr>
            <a:endParaRPr lang="en-GB" sz="32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039832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FC6C278-4035-446A-A94B-030E792FDDF5}"/>
              </a:ext>
            </a:extLst>
          </p:cNvPr>
          <p:cNvSpPr txBox="1"/>
          <p:nvPr/>
        </p:nvSpPr>
        <p:spPr>
          <a:xfrm>
            <a:off x="5181599" y="655100"/>
            <a:ext cx="6602412" cy="5575012"/>
          </a:xfrm>
          <a:prstGeom prst="rect">
            <a:avLst/>
          </a:prstGeom>
          <a:noFill/>
        </p:spPr>
        <p:txBody>
          <a:bodyPr wrap="square" rtlCol="0">
            <a:noAutofit/>
          </a:bodyPr>
          <a:lstStyle/>
          <a:p>
            <a:r>
              <a:rPr lang="en-US" sz="3200" i="1" dirty="0">
                <a:latin typeface="Times New Roman" panose="02020603050405020304" pitchFamily="18" charset="0"/>
                <a:ea typeface="PMingLiU" panose="02020500000000000000" pitchFamily="18" charset="-120"/>
                <a:cs typeface="Times New Roman" panose="02020603050405020304" pitchFamily="18" charset="0"/>
              </a:rPr>
              <a:t>Stage 2:</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cs typeface="Times New Roman" panose="02020603050405020304" pitchFamily="18" charset="0"/>
              </a:rPr>
              <a:t>One’s happiness is an intrinsic good to oneself (conclusion of stage 1).</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cs typeface="Times New Roman" panose="02020603050405020304" pitchFamily="18" charset="0"/>
              </a:rPr>
              <a:t>If each person’s happiness is an intrinsic good to that person, then general happiness is intrinsically good to the aggregate of persons.</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cs typeface="Times New Roman" panose="02020603050405020304" pitchFamily="18" charset="0"/>
              </a:rPr>
              <a:t>Therefore, general happiness is an intrinsic good to the aggregate of persons.</a:t>
            </a:r>
          </a:p>
          <a:p>
            <a:pPr marL="514350" indent="-514350">
              <a:buFont typeface="+mj-lt"/>
              <a:buAutoNum type="arabicPeriod"/>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514350" indent="-514350">
              <a:buFont typeface="+mj-lt"/>
              <a:buAutoNum type="arabicPeriod"/>
            </a:pPr>
            <a:endParaRPr lang="en-GB"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rtlCol="0"/>
          <a:lstStyle/>
          <a:p>
            <a:pPr rtl="0"/>
            <a:fld id="{13D2E340-0663-474B-992C-9192B5C45E57}" type="slidenum">
              <a:rPr lang="en-GB" smtClean="0"/>
              <a:t>16</a:t>
            </a:fld>
            <a:endParaRPr lang="en-GB"/>
          </a:p>
        </p:txBody>
      </p:sp>
      <p:sp>
        <p:nvSpPr>
          <p:cNvPr id="2" name="Title 1">
            <a:extLst>
              <a:ext uri="{FF2B5EF4-FFF2-40B4-BE49-F238E27FC236}">
                <a16:creationId xmlns:a16="http://schemas.microsoft.com/office/drawing/2014/main" id="{0DD71B7C-1714-5F7C-11A5-D2C788A7767C}"/>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400" b="1" dirty="0"/>
              <a:t>Mill’s “Proof”</a:t>
            </a:r>
            <a:endParaRPr lang="en-GB" sz="4400" dirty="0"/>
          </a:p>
        </p:txBody>
      </p:sp>
    </p:spTree>
    <p:extLst>
      <p:ext uri="{BB962C8B-B14F-4D97-AF65-F5344CB8AC3E}">
        <p14:creationId xmlns:p14="http://schemas.microsoft.com/office/powerpoint/2010/main" val="1337185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BDBB-490C-21D7-AD60-057F169C5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23F05-3D40-CD2F-A710-126D69C68DFC}"/>
              </a:ext>
            </a:extLst>
          </p:cNvPr>
          <p:cNvSpPr>
            <a:spLocks noGrp="1"/>
          </p:cNvSpPr>
          <p:nvPr>
            <p:ph type="title"/>
          </p:nvPr>
        </p:nvSpPr>
        <p:spPr>
          <a:xfrm>
            <a:off x="407989" y="559678"/>
            <a:ext cx="4187917" cy="2221622"/>
          </a:xfrm>
        </p:spPr>
        <p:txBody>
          <a:bodyPr rtlCol="0">
            <a:normAutofit/>
          </a:bodyPr>
          <a:lstStyle/>
          <a:p>
            <a:r>
              <a:rPr lang="en-US" sz="4400" b="1" dirty="0"/>
              <a:t>Mill’s “Proof”</a:t>
            </a:r>
            <a:endParaRPr lang="en-GB" sz="4400" dirty="0"/>
          </a:p>
        </p:txBody>
      </p:sp>
      <p:sp>
        <p:nvSpPr>
          <p:cNvPr id="10" name="Slide Number Placeholder 9">
            <a:extLst>
              <a:ext uri="{FF2B5EF4-FFF2-40B4-BE49-F238E27FC236}">
                <a16:creationId xmlns:a16="http://schemas.microsoft.com/office/drawing/2014/main" id="{3B4984A1-F58D-9827-DA3E-B329B8A19908}"/>
              </a:ext>
            </a:extLst>
          </p:cNvPr>
          <p:cNvSpPr>
            <a:spLocks noGrp="1"/>
          </p:cNvSpPr>
          <p:nvPr>
            <p:ph type="sldNum" sz="quarter" idx="12"/>
          </p:nvPr>
        </p:nvSpPr>
        <p:spPr/>
        <p:txBody>
          <a:bodyPr rtlCol="0"/>
          <a:lstStyle/>
          <a:p>
            <a:pPr rtl="0"/>
            <a:fld id="{13D2E340-0663-474B-992C-9192B5C45E57}" type="slidenum">
              <a:rPr lang="en-GB" smtClean="0"/>
              <a:t>17</a:t>
            </a:fld>
            <a:endParaRPr lang="en-GB"/>
          </a:p>
        </p:txBody>
      </p:sp>
      <p:sp>
        <p:nvSpPr>
          <p:cNvPr id="41" name="TextBox 40">
            <a:extLst>
              <a:ext uri="{FF2B5EF4-FFF2-40B4-BE49-F238E27FC236}">
                <a16:creationId xmlns:a16="http://schemas.microsoft.com/office/drawing/2014/main" id="{C89A87D9-5A68-FF6A-CF23-1B35D417E51D}"/>
              </a:ext>
            </a:extLst>
          </p:cNvPr>
          <p:cNvSpPr txBox="1"/>
          <p:nvPr/>
        </p:nvSpPr>
        <p:spPr>
          <a:xfrm>
            <a:off x="5181599" y="559678"/>
            <a:ext cx="6602412" cy="5078614"/>
          </a:xfrm>
          <a:prstGeom prst="rect">
            <a:avLst/>
          </a:prstGeom>
          <a:noFill/>
        </p:spPr>
        <p:txBody>
          <a:bodyPr wrap="square" rtlCol="0">
            <a:noAutofit/>
          </a:bodyPr>
          <a:lstStyle/>
          <a:p>
            <a:pPr marL="457200" indent="-457200">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Merely saying that happiness is an intrinsic good is not sufficient to secure the utilitarian position. </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Happiness is the </a:t>
            </a:r>
            <a:r>
              <a:rPr lang="en-GB" sz="3200" i="1" dirty="0">
                <a:latin typeface="Times New Roman" panose="02020603050405020304" pitchFamily="18" charset="0"/>
                <a:ea typeface="PMingLiU" panose="02020500000000000000" pitchFamily="18" charset="-120"/>
              </a:rPr>
              <a:t>only</a:t>
            </a:r>
            <a:r>
              <a:rPr lang="en-GB" sz="3200" dirty="0">
                <a:latin typeface="Times New Roman" panose="02020603050405020304" pitchFamily="18" charset="0"/>
                <a:ea typeface="PMingLiU" panose="02020500000000000000" pitchFamily="18" charset="-120"/>
              </a:rPr>
              <a:t> thing of intrinsic value. </a:t>
            </a:r>
            <a:endParaRPr lang="en-US" sz="3200" dirty="0">
              <a:effectLst/>
              <a:latin typeface="Times New Roman" panose="02020603050405020304" pitchFamily="18" charset="0"/>
              <a:ea typeface="PMingLiU" panose="02020500000000000000" pitchFamily="18" charset="-120"/>
            </a:endParaRPr>
          </a:p>
          <a:p>
            <a:r>
              <a:rPr lang="en-US" sz="3200" i="1" dirty="0">
                <a:effectLst/>
                <a:latin typeface="Times New Roman" panose="02020603050405020304" pitchFamily="18" charset="0"/>
                <a:ea typeface="PMingLiU" panose="02020500000000000000" pitchFamily="18" charset="-120"/>
              </a:rPr>
              <a:t>Stage 3: </a:t>
            </a:r>
          </a:p>
          <a:p>
            <a:pPr marL="514350" indent="-514350">
              <a:buFont typeface="+mj-lt"/>
              <a:buAutoNum type="arabicPeriod"/>
            </a:pPr>
            <a:r>
              <a:rPr lang="en-GB" sz="3200" dirty="0">
                <a:effectLst/>
                <a:latin typeface="Times New Roman" panose="02020603050405020304" pitchFamily="18" charset="0"/>
                <a:ea typeface="PMingLiU" panose="02020500000000000000" pitchFamily="18" charset="-120"/>
              </a:rPr>
              <a:t>All other things besides happiness that are desired for themselves are only desired as parts of the end of happiness.</a:t>
            </a:r>
          </a:p>
          <a:p>
            <a:pPr marL="514350" indent="-514350">
              <a:buFont typeface="+mj-lt"/>
              <a:buAutoNum type="arabicPeriod"/>
            </a:pPr>
            <a:r>
              <a:rPr lang="en-GB" sz="3200" dirty="0">
                <a:effectLst/>
                <a:latin typeface="Times New Roman" panose="02020603050405020304" pitchFamily="18" charset="0"/>
                <a:ea typeface="PMingLiU" panose="02020500000000000000" pitchFamily="18" charset="-120"/>
              </a:rPr>
              <a:t>Therefore, happiness is the sole intrinsic good. </a:t>
            </a:r>
          </a:p>
          <a:p>
            <a:endParaRPr lang="en-GB" sz="32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609285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5A033-96ED-23F2-708D-64665EAA472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25BE152-C1CF-04DE-757B-653B3C215612}"/>
              </a:ext>
            </a:extLst>
          </p:cNvPr>
          <p:cNvSpPr txBox="1"/>
          <p:nvPr/>
        </p:nvSpPr>
        <p:spPr>
          <a:xfrm>
            <a:off x="5181599" y="655100"/>
            <a:ext cx="6602412" cy="5575012"/>
          </a:xfrm>
          <a:prstGeom prst="rect">
            <a:avLst/>
          </a:prstGeom>
          <a:noFill/>
        </p:spPr>
        <p:txBody>
          <a:bodyPr wrap="square" rtlCol="0">
            <a:noAutofit/>
          </a:bodyPr>
          <a:lstStyle/>
          <a:p>
            <a:r>
              <a:rPr lang="en-US" sz="3200" i="1" dirty="0">
                <a:latin typeface="Times New Roman" panose="02020603050405020304" pitchFamily="18" charset="0"/>
                <a:ea typeface="PMingLiU" panose="02020500000000000000" pitchFamily="18" charset="-120"/>
                <a:cs typeface="Times New Roman" panose="02020603050405020304" pitchFamily="18" charset="0"/>
              </a:rPr>
              <a:t>Stage 1:</a:t>
            </a:r>
          </a:p>
          <a:p>
            <a:pPr marL="457200" indent="-457200">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Fallacy of Equivocation</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At least two meanings of “desirable”: “able to be desired” and “worthy of being desired”. Analogy: </a:t>
            </a:r>
          </a:p>
          <a:p>
            <a:pPr marL="971550" lvl="1" indent="-514350">
              <a:buFont typeface="+mj-lt"/>
              <a:buAutoNum type="arabicPeriod"/>
            </a:pPr>
            <a:r>
              <a:rPr lang="en-US" sz="2800" dirty="0">
                <a:latin typeface="Times New Roman" panose="02020603050405020304" pitchFamily="18" charset="0"/>
                <a:ea typeface="PMingLiU" panose="02020500000000000000" pitchFamily="18" charset="-120"/>
                <a:cs typeface="Times New Roman" panose="02020603050405020304" pitchFamily="18" charset="0"/>
              </a:rPr>
              <a:t>Philosophy is an art.</a:t>
            </a:r>
          </a:p>
          <a:p>
            <a:pPr marL="971550" lvl="1" indent="-514350">
              <a:buFont typeface="+mj-lt"/>
              <a:buAutoNum type="arabicPeriod"/>
            </a:pPr>
            <a:r>
              <a:rPr lang="en-US" sz="2800" dirty="0">
                <a:latin typeface="Times New Roman" panose="02020603050405020304" pitchFamily="18" charset="0"/>
                <a:ea typeface="PMingLiU" panose="02020500000000000000" pitchFamily="18" charset="-120"/>
                <a:cs typeface="Times New Roman" panose="02020603050405020304" pitchFamily="18" charset="0"/>
              </a:rPr>
              <a:t>Art is studied by art historians.</a:t>
            </a:r>
          </a:p>
          <a:p>
            <a:pPr marL="971550" lvl="1" indent="-514350">
              <a:buFont typeface="+mj-lt"/>
              <a:buAutoNum type="arabicPeriod"/>
            </a:pPr>
            <a:r>
              <a:rPr lang="en-US" sz="2800" dirty="0">
                <a:latin typeface="Times New Roman" panose="02020603050405020304" pitchFamily="18" charset="0"/>
                <a:ea typeface="PMingLiU" panose="02020500000000000000" pitchFamily="18" charset="-120"/>
                <a:cs typeface="Times New Roman" panose="02020603050405020304" pitchFamily="18" charset="0"/>
              </a:rPr>
              <a:t>Philosophy is studied by art historians.</a:t>
            </a:r>
          </a:p>
          <a:p>
            <a:pPr marL="514350" indent="-514350">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“Capable of being desired” does not necessarily imply “worthy of being desired.”</a:t>
            </a:r>
          </a:p>
        </p:txBody>
      </p:sp>
      <p:sp>
        <p:nvSpPr>
          <p:cNvPr id="5" name="Slide Number Placeholder 4">
            <a:extLst>
              <a:ext uri="{FF2B5EF4-FFF2-40B4-BE49-F238E27FC236}">
                <a16:creationId xmlns:a16="http://schemas.microsoft.com/office/drawing/2014/main" id="{E9B560F1-99D4-642C-F3AB-A206E299A379}"/>
              </a:ext>
            </a:extLst>
          </p:cNvPr>
          <p:cNvSpPr>
            <a:spLocks noGrp="1"/>
          </p:cNvSpPr>
          <p:nvPr>
            <p:ph type="sldNum" sz="quarter" idx="12"/>
          </p:nvPr>
        </p:nvSpPr>
        <p:spPr/>
        <p:txBody>
          <a:bodyPr rtlCol="0"/>
          <a:lstStyle/>
          <a:p>
            <a:pPr rtl="0"/>
            <a:fld id="{13D2E340-0663-474B-992C-9192B5C45E57}" type="slidenum">
              <a:rPr lang="en-GB" smtClean="0"/>
              <a:t>18</a:t>
            </a:fld>
            <a:endParaRPr lang="en-GB"/>
          </a:p>
        </p:txBody>
      </p:sp>
      <p:sp>
        <p:nvSpPr>
          <p:cNvPr id="2" name="Title 1">
            <a:extLst>
              <a:ext uri="{FF2B5EF4-FFF2-40B4-BE49-F238E27FC236}">
                <a16:creationId xmlns:a16="http://schemas.microsoft.com/office/drawing/2014/main" id="{B32F4C31-1E58-34D1-1712-8D743CC76747}"/>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3600" b="1" dirty="0"/>
              <a:t>Diagnosing</a:t>
            </a:r>
          </a:p>
          <a:p>
            <a:r>
              <a:rPr lang="en-US" sz="3600" b="1" dirty="0"/>
              <a:t>Mill’s “Proof”</a:t>
            </a:r>
            <a:endParaRPr lang="en-GB" sz="3600" dirty="0"/>
          </a:p>
        </p:txBody>
      </p:sp>
    </p:spTree>
    <p:extLst>
      <p:ext uri="{BB962C8B-B14F-4D97-AF65-F5344CB8AC3E}">
        <p14:creationId xmlns:p14="http://schemas.microsoft.com/office/powerpoint/2010/main" val="458496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790BE-ED03-A479-6E8D-A045746A4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7B745-99DE-21FE-CBBA-84A780E3F7E1}"/>
              </a:ext>
            </a:extLst>
          </p:cNvPr>
          <p:cNvSpPr>
            <a:spLocks noGrp="1"/>
          </p:cNvSpPr>
          <p:nvPr>
            <p:ph type="title"/>
          </p:nvPr>
        </p:nvSpPr>
        <p:spPr>
          <a:xfrm>
            <a:off x="762000" y="559678"/>
            <a:ext cx="3833906" cy="1726322"/>
          </a:xfrm>
        </p:spPr>
        <p:txBody>
          <a:bodyPr rtlCol="0">
            <a:normAutofit fontScale="90000"/>
          </a:bodyPr>
          <a:lstStyle/>
          <a:p>
            <a:r>
              <a:rPr lang="en-US" sz="4400" b="1" dirty="0"/>
              <a:t>Diagnosing</a:t>
            </a:r>
            <a:br>
              <a:rPr lang="en-US" sz="4400" b="1" dirty="0"/>
            </a:br>
            <a:r>
              <a:rPr lang="en-US" sz="4400" b="1" dirty="0"/>
              <a:t>Mill’s “Proof”</a:t>
            </a:r>
            <a:endParaRPr lang="en-GB" sz="4400" dirty="0"/>
          </a:p>
        </p:txBody>
      </p:sp>
      <p:sp>
        <p:nvSpPr>
          <p:cNvPr id="10" name="Slide Number Placeholder 9">
            <a:extLst>
              <a:ext uri="{FF2B5EF4-FFF2-40B4-BE49-F238E27FC236}">
                <a16:creationId xmlns:a16="http://schemas.microsoft.com/office/drawing/2014/main" id="{85518A08-C94B-3764-5B99-F68013B81BA7}"/>
              </a:ext>
            </a:extLst>
          </p:cNvPr>
          <p:cNvSpPr>
            <a:spLocks noGrp="1"/>
          </p:cNvSpPr>
          <p:nvPr>
            <p:ph type="sldNum" sz="quarter" idx="12"/>
          </p:nvPr>
        </p:nvSpPr>
        <p:spPr/>
        <p:txBody>
          <a:bodyPr rtlCol="0"/>
          <a:lstStyle/>
          <a:p>
            <a:pPr rtl="0"/>
            <a:fld id="{13D2E340-0663-474B-992C-9192B5C45E57}" type="slidenum">
              <a:rPr lang="en-GB" smtClean="0"/>
              <a:t>19</a:t>
            </a:fld>
            <a:endParaRPr lang="en-GB"/>
          </a:p>
        </p:txBody>
      </p:sp>
      <p:sp>
        <p:nvSpPr>
          <p:cNvPr id="41" name="TextBox 40">
            <a:extLst>
              <a:ext uri="{FF2B5EF4-FFF2-40B4-BE49-F238E27FC236}">
                <a16:creationId xmlns:a16="http://schemas.microsoft.com/office/drawing/2014/main" id="{B88E10D4-EDDE-2CBD-7896-AA10D691CF83}"/>
              </a:ext>
            </a:extLst>
          </p:cNvPr>
          <p:cNvSpPr txBox="1"/>
          <p:nvPr/>
        </p:nvSpPr>
        <p:spPr>
          <a:xfrm>
            <a:off x="5181599" y="559678"/>
            <a:ext cx="6602412" cy="5078614"/>
          </a:xfrm>
          <a:prstGeom prst="rect">
            <a:avLst/>
          </a:prstGeom>
          <a:noFill/>
        </p:spPr>
        <p:txBody>
          <a:bodyPr wrap="square" rtlCol="0">
            <a:noAutofit/>
          </a:bodyPr>
          <a:lstStyle/>
          <a:p>
            <a:r>
              <a:rPr lang="en-US" sz="3200" i="1" dirty="0">
                <a:effectLst/>
                <a:latin typeface="Times New Roman" panose="02020603050405020304" pitchFamily="18" charset="0"/>
                <a:ea typeface="PMingLiU" panose="02020500000000000000" pitchFamily="18" charset="-120"/>
              </a:rPr>
              <a:t>Stage 2:</a:t>
            </a:r>
          </a:p>
          <a:p>
            <a:pPr marL="457200" indent="-457200">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Fallacy of Composition</a:t>
            </a:r>
          </a:p>
          <a:p>
            <a:pPr marL="457200" indent="-457200">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Suppose a machine is made up of parts. </a:t>
            </a:r>
          </a:p>
          <a:p>
            <a:pPr marL="457200" indent="-457200">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Each part weighs less than five pounds. </a:t>
            </a:r>
          </a:p>
          <a:p>
            <a:pPr marL="457200" indent="-457200">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Does it follow that the machine must also weigh less than five pounds? </a:t>
            </a:r>
          </a:p>
        </p:txBody>
      </p:sp>
    </p:spTree>
    <p:extLst>
      <p:ext uri="{BB962C8B-B14F-4D97-AF65-F5344CB8AC3E}">
        <p14:creationId xmlns:p14="http://schemas.microsoft.com/office/powerpoint/2010/main" val="1239713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3D285-6F1F-4A4E-6432-76EA79B5B73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3682F11-9AE2-B94E-D70C-D7B32BA30AEB}"/>
              </a:ext>
            </a:extLst>
          </p:cNvPr>
          <p:cNvSpPr txBox="1"/>
          <p:nvPr/>
        </p:nvSpPr>
        <p:spPr>
          <a:xfrm>
            <a:off x="5181599" y="655100"/>
            <a:ext cx="6602412" cy="5575012"/>
          </a:xfrm>
          <a:prstGeom prst="rect">
            <a:avLst/>
          </a:prstGeom>
          <a:noFill/>
        </p:spPr>
        <p:txBody>
          <a:bodyPr wrap="square" rtlCol="0">
            <a:noAutofit/>
          </a:bodyPr>
          <a:lstStyle/>
          <a:p>
            <a:r>
              <a:rPr lang="en-US" sz="3200" i="1" dirty="0">
                <a:latin typeface="Times New Roman" panose="02020603050405020304" pitchFamily="18" charset="0"/>
                <a:ea typeface="PMingLiU" panose="02020500000000000000" pitchFamily="18" charset="-120"/>
                <a:cs typeface="Times New Roman" panose="02020603050405020304" pitchFamily="18" charset="0"/>
              </a:rPr>
              <a:t>Stage 3:</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It is not clear how things that are desired in and for themselves are a part of the end of happiness. </a:t>
            </a: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342900" indent="-342900">
              <a:buFont typeface="Arial" panose="020B0604020202020204" pitchFamily="34" charset="0"/>
              <a:buChar char="•"/>
            </a:pPr>
            <a:r>
              <a:rPr lang="en-GB" sz="2000" dirty="0">
                <a:latin typeface="Times New Roman" panose="02020603050405020304" pitchFamily="18" charset="0"/>
                <a:ea typeface="PMingLiU" panose="02020500000000000000" pitchFamily="18" charset="-120"/>
                <a:cs typeface="Times New Roman" panose="02020603050405020304" pitchFamily="18" charset="0"/>
              </a:rPr>
              <a:t>“The ingredients of happiness are very various, and each of them is desirable in itself, and not merely when considered as swelling an aggregate. The principle of utility does not mean that any given pleasure, as music, for instance, or any given exemption from pain, for example, health, is to be looked upon as means to a collective something termed happiness and to be desired on that account. They are desired and desirable in and for themselves; besides being means, they are a part of the end. Virtue, according to the utilitarian doctrine, is not naturally and originally part of the end, but it is capable of becoming so. (Mill [1863] 1979, 35–36)”</a:t>
            </a:r>
            <a:endParaRPr lang="en-US" sz="20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22A17AC8-CF0F-DCD1-CAF1-8E45D4221E05}"/>
              </a:ext>
            </a:extLst>
          </p:cNvPr>
          <p:cNvSpPr>
            <a:spLocks noGrp="1"/>
          </p:cNvSpPr>
          <p:nvPr>
            <p:ph type="sldNum" sz="quarter" idx="12"/>
          </p:nvPr>
        </p:nvSpPr>
        <p:spPr/>
        <p:txBody>
          <a:bodyPr rtlCol="0"/>
          <a:lstStyle/>
          <a:p>
            <a:pPr rtl="0"/>
            <a:fld id="{13D2E340-0663-474B-992C-9192B5C45E57}" type="slidenum">
              <a:rPr lang="en-GB" smtClean="0"/>
              <a:t>20</a:t>
            </a:fld>
            <a:endParaRPr lang="en-GB"/>
          </a:p>
        </p:txBody>
      </p:sp>
      <p:sp>
        <p:nvSpPr>
          <p:cNvPr id="2" name="Title 1">
            <a:extLst>
              <a:ext uri="{FF2B5EF4-FFF2-40B4-BE49-F238E27FC236}">
                <a16:creationId xmlns:a16="http://schemas.microsoft.com/office/drawing/2014/main" id="{6600816F-78B5-927A-8CA0-E5FCE451D7AE}"/>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3600" b="1" dirty="0"/>
              <a:t>Diagnosing</a:t>
            </a:r>
          </a:p>
          <a:p>
            <a:r>
              <a:rPr lang="en-US" sz="3600" b="1" dirty="0"/>
              <a:t>Mill’s “Proof”</a:t>
            </a:r>
            <a:endParaRPr lang="en-GB" sz="3600" dirty="0"/>
          </a:p>
        </p:txBody>
      </p:sp>
    </p:spTree>
    <p:extLst>
      <p:ext uri="{BB962C8B-B14F-4D97-AF65-F5344CB8AC3E}">
        <p14:creationId xmlns:p14="http://schemas.microsoft.com/office/powerpoint/2010/main" val="3454086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5FCF5-B43B-8651-2C7C-A3757DDF9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354F7E-D528-C608-6B81-A22468C3E5D2}"/>
              </a:ext>
            </a:extLst>
          </p:cNvPr>
          <p:cNvSpPr>
            <a:spLocks noGrp="1"/>
          </p:cNvSpPr>
          <p:nvPr>
            <p:ph type="title"/>
          </p:nvPr>
        </p:nvSpPr>
        <p:spPr>
          <a:xfrm>
            <a:off x="762000" y="559678"/>
            <a:ext cx="3833906" cy="1726322"/>
          </a:xfrm>
        </p:spPr>
        <p:txBody>
          <a:bodyPr rtlCol="0">
            <a:normAutofit/>
          </a:bodyPr>
          <a:lstStyle/>
          <a:p>
            <a:r>
              <a:rPr lang="en-US" sz="4400" b="1" dirty="0"/>
              <a:t>Practical Objections</a:t>
            </a:r>
            <a:endParaRPr lang="en-GB" sz="4400" dirty="0"/>
          </a:p>
        </p:txBody>
      </p:sp>
      <p:sp>
        <p:nvSpPr>
          <p:cNvPr id="10" name="Slide Number Placeholder 9">
            <a:extLst>
              <a:ext uri="{FF2B5EF4-FFF2-40B4-BE49-F238E27FC236}">
                <a16:creationId xmlns:a16="http://schemas.microsoft.com/office/drawing/2014/main" id="{EAE4E619-9C25-C681-02A5-81A00658E78A}"/>
              </a:ext>
            </a:extLst>
          </p:cNvPr>
          <p:cNvSpPr>
            <a:spLocks noGrp="1"/>
          </p:cNvSpPr>
          <p:nvPr>
            <p:ph type="sldNum" sz="quarter" idx="12"/>
          </p:nvPr>
        </p:nvSpPr>
        <p:spPr/>
        <p:txBody>
          <a:bodyPr rtlCol="0"/>
          <a:lstStyle/>
          <a:p>
            <a:pPr rtl="0"/>
            <a:fld id="{13D2E340-0663-474B-992C-9192B5C45E57}" type="slidenum">
              <a:rPr lang="en-GB" smtClean="0"/>
              <a:t>21</a:t>
            </a:fld>
            <a:endParaRPr lang="en-GB"/>
          </a:p>
        </p:txBody>
      </p:sp>
      <p:sp>
        <p:nvSpPr>
          <p:cNvPr id="41" name="TextBox 40">
            <a:extLst>
              <a:ext uri="{FF2B5EF4-FFF2-40B4-BE49-F238E27FC236}">
                <a16:creationId xmlns:a16="http://schemas.microsoft.com/office/drawing/2014/main" id="{209AFB5A-0391-558E-8B6C-F327353D2875}"/>
              </a:ext>
            </a:extLst>
          </p:cNvPr>
          <p:cNvSpPr txBox="1"/>
          <p:nvPr/>
        </p:nvSpPr>
        <p:spPr>
          <a:xfrm>
            <a:off x="5181599" y="559678"/>
            <a:ext cx="6602412" cy="5078614"/>
          </a:xfrm>
          <a:prstGeom prst="rect">
            <a:avLst/>
          </a:prstGeom>
          <a:noFill/>
        </p:spPr>
        <p:txBody>
          <a:bodyPr wrap="square" rtlCol="0">
            <a:noAutofit/>
          </a:bodyPr>
          <a:lstStyle/>
          <a:p>
            <a:r>
              <a:rPr lang="en-US" sz="3200" i="1" dirty="0">
                <a:effectLst/>
                <a:latin typeface="Times New Roman" panose="02020603050405020304" pitchFamily="18" charset="0"/>
                <a:ea typeface="PMingLiU" panose="02020500000000000000" pitchFamily="18" charset="-120"/>
              </a:rPr>
              <a:t>Problem of Ignorance</a:t>
            </a:r>
          </a:p>
          <a:p>
            <a:pPr marL="457200" indent="-457200">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To apply PHU in a concrete situation, </a:t>
            </a:r>
            <a:r>
              <a:rPr lang="en-GB" sz="3200" dirty="0">
                <a:effectLst/>
                <a:latin typeface="Times New Roman" panose="02020603050405020304" pitchFamily="18" charset="0"/>
                <a:ea typeface="PMingLiU" panose="02020500000000000000" pitchFamily="18" charset="-120"/>
              </a:rPr>
              <a:t>one would have to figure out the utilities of all the available alternative actions.</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Ignorant of the outcomes/without access to the experiences of others, the calculation is not feasible. </a:t>
            </a:r>
          </a:p>
          <a:p>
            <a:pPr marL="457200" indent="-457200">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Possible response: </a:t>
            </a:r>
            <a:r>
              <a:rPr lang="en-GB" sz="3200" dirty="0">
                <a:effectLst/>
                <a:latin typeface="Times New Roman" panose="02020603050405020304" pitchFamily="18" charset="0"/>
                <a:ea typeface="PMingLiU" panose="02020500000000000000" pitchFamily="18" charset="-120"/>
              </a:rPr>
              <a:t>the principle of utility is intended as a </a:t>
            </a:r>
            <a:r>
              <a:rPr lang="en-GB" sz="3200" dirty="0">
                <a:solidFill>
                  <a:srgbClr val="FF0000"/>
                </a:solidFill>
                <a:effectLst/>
                <a:latin typeface="Times New Roman" panose="02020603050405020304" pitchFamily="18" charset="0"/>
                <a:ea typeface="PMingLiU" panose="02020500000000000000" pitchFamily="18" charset="-120"/>
              </a:rPr>
              <a:t>moral criterion</a:t>
            </a:r>
            <a:r>
              <a:rPr lang="en-GB" sz="3200" dirty="0">
                <a:effectLst/>
                <a:latin typeface="Times New Roman" panose="02020603050405020304" pitchFamily="18" charset="0"/>
                <a:ea typeface="PMingLiU" panose="02020500000000000000" pitchFamily="18" charset="-120"/>
              </a:rPr>
              <a:t>, not a </a:t>
            </a:r>
            <a:r>
              <a:rPr lang="en-GB" sz="3200" dirty="0">
                <a:solidFill>
                  <a:srgbClr val="FF0000"/>
                </a:solidFill>
                <a:effectLst/>
                <a:latin typeface="Times New Roman" panose="02020603050405020304" pitchFamily="18" charset="0"/>
                <a:ea typeface="PMingLiU" panose="02020500000000000000" pitchFamily="18" charset="-120"/>
              </a:rPr>
              <a:t>decision procedure</a:t>
            </a:r>
            <a:r>
              <a:rPr lang="en-GB" sz="3200" dirty="0">
                <a:effectLst/>
                <a:latin typeface="Times New Roman" panose="02020603050405020304" pitchFamily="18" charset="0"/>
                <a:ea typeface="PMingLiU" panose="02020500000000000000" pitchFamily="18" charset="-120"/>
              </a:rPr>
              <a:t>.</a:t>
            </a:r>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402027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4AB21-3134-61FC-EB01-A5F6BEE0EE3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7B917DB-EA1D-DA89-EFE4-501A05661918}"/>
              </a:ext>
            </a:extLst>
          </p:cNvPr>
          <p:cNvSpPr txBox="1"/>
          <p:nvPr/>
        </p:nvSpPr>
        <p:spPr>
          <a:xfrm>
            <a:off x="5181599" y="655100"/>
            <a:ext cx="6602412" cy="5575012"/>
          </a:xfrm>
          <a:prstGeom prst="rect">
            <a:avLst/>
          </a:prstGeom>
          <a:noFill/>
        </p:spPr>
        <p:txBody>
          <a:bodyPr wrap="square" rtlCol="0">
            <a:noAutofit/>
          </a:bodyPr>
          <a:lstStyle/>
          <a:p>
            <a:pPr marL="342900" indent="-3429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ECU: An action A in C is right </a:t>
            </a:r>
            <a:r>
              <a:rPr lang="en-GB" sz="3200" dirty="0" err="1">
                <a:latin typeface="Times New Roman" panose="02020603050405020304" pitchFamily="18" charset="0"/>
                <a:ea typeface="PMingLiU" panose="02020500000000000000" pitchFamily="18" charset="-120"/>
                <a:cs typeface="Times New Roman" panose="02020603050405020304" pitchFamily="18" charset="0"/>
              </a:rPr>
              <a:t>iff</a:t>
            </a:r>
            <a:r>
              <a:rPr lang="en-GB" sz="3200" dirty="0">
                <a:latin typeface="Times New Roman" panose="02020603050405020304" pitchFamily="18" charset="0"/>
                <a:ea typeface="PMingLiU" panose="02020500000000000000" pitchFamily="18" charset="-120"/>
                <a:cs typeface="Times New Roman" panose="02020603050405020304" pitchFamily="18" charset="0"/>
              </a:rPr>
              <a:t> doing A in C has as high an </a:t>
            </a:r>
            <a:r>
              <a:rPr lang="en-GB" sz="3200" i="1" dirty="0">
                <a:latin typeface="Times New Roman" panose="02020603050405020304" pitchFamily="18" charset="0"/>
                <a:ea typeface="PMingLiU" panose="02020500000000000000" pitchFamily="18" charset="-120"/>
                <a:cs typeface="Times New Roman" panose="02020603050405020304" pitchFamily="18" charset="0"/>
              </a:rPr>
              <a:t>expected</a:t>
            </a:r>
            <a:r>
              <a:rPr lang="en-GB" sz="3200" dirty="0">
                <a:latin typeface="Times New Roman" panose="02020603050405020304" pitchFamily="18" charset="0"/>
                <a:ea typeface="PMingLiU" panose="02020500000000000000" pitchFamily="18" charset="-120"/>
                <a:cs typeface="Times New Roman" panose="02020603050405020304" pitchFamily="18" charset="0"/>
              </a:rPr>
              <a:t> utility as any alternative action that the agent could perform instead. </a:t>
            </a:r>
          </a:p>
          <a:p>
            <a:pPr marL="342900" indent="-342900">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Thought experiment shows that both versions exert their pull on us in different scenarios.  </a:t>
            </a:r>
          </a:p>
        </p:txBody>
      </p:sp>
      <p:sp>
        <p:nvSpPr>
          <p:cNvPr id="5" name="Slide Number Placeholder 4">
            <a:extLst>
              <a:ext uri="{FF2B5EF4-FFF2-40B4-BE49-F238E27FC236}">
                <a16:creationId xmlns:a16="http://schemas.microsoft.com/office/drawing/2014/main" id="{F98E297B-ECA2-FEAD-69F6-3FB82A3C2F2A}"/>
              </a:ext>
            </a:extLst>
          </p:cNvPr>
          <p:cNvSpPr>
            <a:spLocks noGrp="1"/>
          </p:cNvSpPr>
          <p:nvPr>
            <p:ph type="sldNum" sz="quarter" idx="12"/>
          </p:nvPr>
        </p:nvSpPr>
        <p:spPr/>
        <p:txBody>
          <a:bodyPr rtlCol="0"/>
          <a:lstStyle/>
          <a:p>
            <a:pPr rtl="0"/>
            <a:fld id="{13D2E340-0663-474B-992C-9192B5C45E57}" type="slidenum">
              <a:rPr lang="en-GB" smtClean="0"/>
              <a:t>22</a:t>
            </a:fld>
            <a:endParaRPr lang="en-GB"/>
          </a:p>
        </p:txBody>
      </p:sp>
      <p:sp>
        <p:nvSpPr>
          <p:cNvPr id="2" name="Title 1">
            <a:extLst>
              <a:ext uri="{FF2B5EF4-FFF2-40B4-BE49-F238E27FC236}">
                <a16:creationId xmlns:a16="http://schemas.microsoft.com/office/drawing/2014/main" id="{B53C9A26-B294-4BB9-009F-96076FBD9B6E}"/>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3600" b="1" dirty="0"/>
              <a:t>Actual vs</a:t>
            </a:r>
          </a:p>
          <a:p>
            <a:r>
              <a:rPr lang="en-US" sz="3600" b="1" dirty="0"/>
              <a:t>Expected Consequences Utilitarianism</a:t>
            </a:r>
            <a:endParaRPr lang="en-GB" sz="3600" dirty="0"/>
          </a:p>
        </p:txBody>
      </p:sp>
    </p:spTree>
    <p:extLst>
      <p:ext uri="{BB962C8B-B14F-4D97-AF65-F5344CB8AC3E}">
        <p14:creationId xmlns:p14="http://schemas.microsoft.com/office/powerpoint/2010/main" val="3021969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EA492-EE0D-781A-7533-60710D712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2F4F22-2BB8-9236-A0B6-7D1D16BB3B66}"/>
              </a:ext>
            </a:extLst>
          </p:cNvPr>
          <p:cNvSpPr>
            <a:spLocks noGrp="1"/>
          </p:cNvSpPr>
          <p:nvPr>
            <p:ph type="title"/>
          </p:nvPr>
        </p:nvSpPr>
        <p:spPr>
          <a:xfrm>
            <a:off x="496389" y="559678"/>
            <a:ext cx="4099517" cy="2869322"/>
          </a:xfrm>
        </p:spPr>
        <p:txBody>
          <a:bodyPr rtlCol="0">
            <a:normAutofit fontScale="90000"/>
          </a:bodyPr>
          <a:lstStyle/>
          <a:p>
            <a:r>
              <a:rPr lang="en-US" sz="4400" b="1" dirty="0"/>
              <a:t>Actual vs</a:t>
            </a:r>
            <a:br>
              <a:rPr lang="en-US" sz="4400" b="1" dirty="0"/>
            </a:br>
            <a:r>
              <a:rPr lang="en-US" sz="4400" b="1" dirty="0"/>
              <a:t>Expected Consequences Utilitarianism</a:t>
            </a:r>
            <a:endParaRPr lang="en-GB" sz="4400" dirty="0"/>
          </a:p>
        </p:txBody>
      </p:sp>
      <p:sp>
        <p:nvSpPr>
          <p:cNvPr id="10" name="Slide Number Placeholder 9">
            <a:extLst>
              <a:ext uri="{FF2B5EF4-FFF2-40B4-BE49-F238E27FC236}">
                <a16:creationId xmlns:a16="http://schemas.microsoft.com/office/drawing/2014/main" id="{415D9F9A-5D68-A876-4EA5-2FDF9E404859}"/>
              </a:ext>
            </a:extLst>
          </p:cNvPr>
          <p:cNvSpPr>
            <a:spLocks noGrp="1"/>
          </p:cNvSpPr>
          <p:nvPr>
            <p:ph type="sldNum" sz="quarter" idx="12"/>
          </p:nvPr>
        </p:nvSpPr>
        <p:spPr/>
        <p:txBody>
          <a:bodyPr rtlCol="0"/>
          <a:lstStyle/>
          <a:p>
            <a:pPr rtl="0"/>
            <a:fld id="{13D2E340-0663-474B-992C-9192B5C45E57}" type="slidenum">
              <a:rPr lang="en-GB" smtClean="0"/>
              <a:t>23</a:t>
            </a:fld>
            <a:endParaRPr lang="en-GB"/>
          </a:p>
        </p:txBody>
      </p:sp>
      <p:sp>
        <p:nvSpPr>
          <p:cNvPr id="41" name="TextBox 40">
            <a:extLst>
              <a:ext uri="{FF2B5EF4-FFF2-40B4-BE49-F238E27FC236}">
                <a16:creationId xmlns:a16="http://schemas.microsoft.com/office/drawing/2014/main" id="{EC9F5064-926B-735B-60CB-3BCF92BF81E1}"/>
              </a:ext>
            </a:extLst>
          </p:cNvPr>
          <p:cNvSpPr txBox="1"/>
          <p:nvPr/>
        </p:nvSpPr>
        <p:spPr>
          <a:xfrm>
            <a:off x="5181599" y="559678"/>
            <a:ext cx="6602412" cy="5078614"/>
          </a:xfrm>
          <a:prstGeom prst="rect">
            <a:avLst/>
          </a:prstGeom>
          <a:noFill/>
        </p:spPr>
        <p:txBody>
          <a:bodyPr wrap="square" rtlCol="0">
            <a:noAutofit/>
          </a:bodyPr>
          <a:lstStyle/>
          <a:p>
            <a:r>
              <a:rPr lang="en-US" sz="3200" i="1" dirty="0">
                <a:effectLst/>
                <a:latin typeface="Times New Roman" panose="02020603050405020304" pitchFamily="18" charset="0"/>
                <a:ea typeface="PMingLiU" panose="02020500000000000000" pitchFamily="18" charset="-120"/>
              </a:rPr>
              <a:t>Mine Shafts (from Derek Parfit)</a:t>
            </a:r>
          </a:p>
          <a:p>
            <a:pPr marL="457200" indent="-457200">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A hundred miners are trapped underground, with floodwaters rising. </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There are three floodgates that we could close by remote control.</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We </a:t>
            </a:r>
            <a:r>
              <a:rPr lang="en-GB" sz="3200" dirty="0">
                <a:effectLst/>
                <a:latin typeface="Times New Roman" panose="02020603050405020304" pitchFamily="18" charset="0"/>
                <a:ea typeface="PMingLiU" panose="02020500000000000000" pitchFamily="18" charset="-120"/>
              </a:rPr>
              <a:t>know that all of these men are in one of two mine shafts, but we don’t know which.</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O</a:t>
            </a:r>
            <a:r>
              <a:rPr lang="en-GB" sz="3200" dirty="0">
                <a:effectLst/>
                <a:latin typeface="Times New Roman" panose="02020603050405020304" pitchFamily="18" charset="0"/>
                <a:ea typeface="PMingLiU" panose="02020500000000000000" pitchFamily="18" charset="-120"/>
              </a:rPr>
              <a:t>n the evidence available, it is equally likely that the miners are all in shaft A OR all in shaft B. </a:t>
            </a:r>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109225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DDF8C-026C-86FD-D756-FC28A00144D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534CBF0-AC66-7FC4-D821-4E4D06B91608}"/>
              </a:ext>
            </a:extLst>
          </p:cNvPr>
          <p:cNvSpPr txBox="1"/>
          <p:nvPr/>
        </p:nvSpPr>
        <p:spPr>
          <a:xfrm>
            <a:off x="5181599" y="655100"/>
            <a:ext cx="6602412" cy="5575012"/>
          </a:xfrm>
          <a:prstGeom prst="rect">
            <a:avLst/>
          </a:prstGeom>
          <a:noFill/>
        </p:spPr>
        <p:txBody>
          <a:bodyPr wrap="square" rtlCol="0">
            <a:noAutofit/>
          </a:bodyPr>
          <a:lstStyle/>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r>
              <a:rPr lang="en-GB" sz="2800" dirty="0">
                <a:solidFill>
                  <a:srgbClr val="FF0000"/>
                </a:solidFill>
                <a:latin typeface="Times New Roman" panose="02020603050405020304" pitchFamily="18" charset="0"/>
                <a:ea typeface="PMingLiU" panose="02020500000000000000" pitchFamily="18" charset="-120"/>
                <a:cs typeface="Times New Roman" panose="02020603050405020304" pitchFamily="18" charset="0"/>
              </a:rPr>
              <a:t>Suppose that the miners are trapped in shaft A, but Phil doesn’t know this. </a:t>
            </a:r>
            <a:endParaRPr lang="en-US" sz="2800" dirty="0">
              <a:solidFill>
                <a:srgbClr val="FF0000"/>
              </a:solidFill>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ea typeface="PMingLiU" panose="02020500000000000000" pitchFamily="18" charset="-120"/>
                <a:cs typeface="Times New Roman" panose="02020603050405020304" pitchFamily="18" charset="0"/>
              </a:rPr>
              <a:t>Expected utilities:</a:t>
            </a:r>
          </a:p>
          <a:p>
            <a:pPr marL="514350" indent="-514350">
              <a:buFont typeface="+mj-lt"/>
              <a:buAutoNum type="arabicPeriod"/>
            </a:pPr>
            <a:r>
              <a:rPr lang="en-GB" sz="2800" dirty="0">
                <a:latin typeface="Times New Roman" panose="02020603050405020304" pitchFamily="18" charset="0"/>
                <a:ea typeface="PMingLiU" panose="02020500000000000000" pitchFamily="18" charset="-120"/>
                <a:cs typeface="Times New Roman" panose="02020603050405020304" pitchFamily="18" charset="0"/>
              </a:rPr>
              <a:t>Closing gate 1: (0.5×100)+(0.5×0)=50</a:t>
            </a:r>
          </a:p>
          <a:p>
            <a:pPr marL="514350" indent="-514350">
              <a:buFont typeface="+mj-lt"/>
              <a:buAutoNum type="arabicPeriod"/>
            </a:pPr>
            <a:r>
              <a:rPr lang="en-GB" sz="2800" dirty="0">
                <a:latin typeface="Times New Roman" panose="02020603050405020304" pitchFamily="18" charset="0"/>
                <a:ea typeface="PMingLiU" panose="02020500000000000000" pitchFamily="18" charset="-120"/>
                <a:cs typeface="Times New Roman" panose="02020603050405020304" pitchFamily="18" charset="0"/>
              </a:rPr>
              <a:t>Closing gate 2: (0.5×0)+(0.5×100)=50</a:t>
            </a:r>
          </a:p>
          <a:p>
            <a:pPr marL="514350" indent="-514350">
              <a:buFont typeface="+mj-lt"/>
              <a:buAutoNum type="arabicPeriod"/>
            </a:pPr>
            <a:r>
              <a:rPr lang="en-GB" sz="2800" dirty="0">
                <a:latin typeface="Times New Roman" panose="02020603050405020304" pitchFamily="18" charset="0"/>
                <a:ea typeface="PMingLiU" panose="02020500000000000000" pitchFamily="18" charset="-120"/>
                <a:cs typeface="Times New Roman" panose="02020603050405020304" pitchFamily="18" charset="0"/>
              </a:rPr>
              <a:t>Closing gate 3: (0.5×90)+(0.5×90)=90</a:t>
            </a:r>
          </a:p>
          <a:p>
            <a:endParaRPr lang="en-US" sz="28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FE12A43-27A9-B303-7E1F-70C55D4D6210}"/>
              </a:ext>
            </a:extLst>
          </p:cNvPr>
          <p:cNvSpPr>
            <a:spLocks noGrp="1"/>
          </p:cNvSpPr>
          <p:nvPr>
            <p:ph type="sldNum" sz="quarter" idx="12"/>
          </p:nvPr>
        </p:nvSpPr>
        <p:spPr/>
        <p:txBody>
          <a:bodyPr rtlCol="0"/>
          <a:lstStyle/>
          <a:p>
            <a:pPr rtl="0"/>
            <a:fld id="{13D2E340-0663-474B-992C-9192B5C45E57}" type="slidenum">
              <a:rPr lang="en-GB" smtClean="0"/>
              <a:t>24</a:t>
            </a:fld>
            <a:endParaRPr lang="en-GB"/>
          </a:p>
        </p:txBody>
      </p:sp>
      <p:sp>
        <p:nvSpPr>
          <p:cNvPr id="2" name="Title 1">
            <a:extLst>
              <a:ext uri="{FF2B5EF4-FFF2-40B4-BE49-F238E27FC236}">
                <a16:creationId xmlns:a16="http://schemas.microsoft.com/office/drawing/2014/main" id="{A3858E9A-6841-F411-5252-DBC003678C08}"/>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3600" b="1" dirty="0"/>
              <a:t>Actual vs</a:t>
            </a:r>
          </a:p>
          <a:p>
            <a:r>
              <a:rPr lang="en-US" sz="3600" b="1" dirty="0"/>
              <a:t>Expected Consequences Utilitarianism</a:t>
            </a:r>
            <a:endParaRPr lang="en-GB" sz="3600" dirty="0"/>
          </a:p>
        </p:txBody>
      </p:sp>
      <p:graphicFrame>
        <p:nvGraphicFramePr>
          <p:cNvPr id="3" name="Table 2">
            <a:extLst>
              <a:ext uri="{FF2B5EF4-FFF2-40B4-BE49-F238E27FC236}">
                <a16:creationId xmlns:a16="http://schemas.microsoft.com/office/drawing/2014/main" id="{D7074D64-652F-3DA1-0A52-C8476FEBADF3}"/>
              </a:ext>
            </a:extLst>
          </p:cNvPr>
          <p:cNvGraphicFramePr>
            <a:graphicFrameLocks noGrp="1"/>
          </p:cNvGraphicFramePr>
          <p:nvPr>
            <p:extLst>
              <p:ext uri="{D42A27DB-BD31-4B8C-83A1-F6EECF244321}">
                <p14:modId xmlns:p14="http://schemas.microsoft.com/office/powerpoint/2010/main" val="2883956999"/>
              </p:ext>
            </p:extLst>
          </p:nvPr>
        </p:nvGraphicFramePr>
        <p:xfrm>
          <a:off x="5408021" y="261662"/>
          <a:ext cx="5878288" cy="3343413"/>
        </p:xfrm>
        <a:graphic>
          <a:graphicData uri="http://schemas.openxmlformats.org/drawingml/2006/table">
            <a:tbl>
              <a:tblPr firstRow="1" firstCol="1" bandRow="1">
                <a:tableStyleId>{5C22544A-7EE6-4342-B048-85BDC9FD1C3A}</a:tableStyleId>
              </a:tblPr>
              <a:tblGrid>
                <a:gridCol w="1469572">
                  <a:extLst>
                    <a:ext uri="{9D8B030D-6E8A-4147-A177-3AD203B41FA5}">
                      <a16:colId xmlns:a16="http://schemas.microsoft.com/office/drawing/2014/main" val="1896907850"/>
                    </a:ext>
                  </a:extLst>
                </a:gridCol>
                <a:gridCol w="1469572">
                  <a:extLst>
                    <a:ext uri="{9D8B030D-6E8A-4147-A177-3AD203B41FA5}">
                      <a16:colId xmlns:a16="http://schemas.microsoft.com/office/drawing/2014/main" val="3758238232"/>
                    </a:ext>
                  </a:extLst>
                </a:gridCol>
                <a:gridCol w="1469572">
                  <a:extLst>
                    <a:ext uri="{9D8B030D-6E8A-4147-A177-3AD203B41FA5}">
                      <a16:colId xmlns:a16="http://schemas.microsoft.com/office/drawing/2014/main" val="1117000770"/>
                    </a:ext>
                  </a:extLst>
                </a:gridCol>
                <a:gridCol w="1469572">
                  <a:extLst>
                    <a:ext uri="{9D8B030D-6E8A-4147-A177-3AD203B41FA5}">
                      <a16:colId xmlns:a16="http://schemas.microsoft.com/office/drawing/2014/main" val="3402856796"/>
                    </a:ext>
                  </a:extLst>
                </a:gridCol>
              </a:tblGrid>
              <a:tr h="442314">
                <a:tc gridSpan="4">
                  <a:txBody>
                    <a:bodyPr/>
                    <a:lstStyle/>
                    <a:p>
                      <a:pPr marL="0" marR="0" algn="ctr">
                        <a:lnSpc>
                          <a:spcPct val="115000"/>
                        </a:lnSpc>
                        <a:spcAft>
                          <a:spcPts val="800"/>
                        </a:spcAft>
                        <a:buNone/>
                      </a:pPr>
                      <a:r>
                        <a:rPr lang="en-GB" sz="2400" kern="100" dirty="0">
                          <a:effectLst/>
                        </a:rPr>
                        <a:t>The miners are in</a:t>
                      </a:r>
                      <a:endParaRPr lang="en-GB" sz="2400" kern="100" dirty="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638377650"/>
                  </a:ext>
                </a:extLst>
              </a:tr>
              <a:tr h="442314">
                <a:tc>
                  <a:txBody>
                    <a:bodyPr/>
                    <a:lstStyle/>
                    <a:p>
                      <a:pPr marL="0" marR="0">
                        <a:lnSpc>
                          <a:spcPct val="115000"/>
                        </a:lnSpc>
                        <a:buNone/>
                      </a:pPr>
                      <a:r>
                        <a:rPr lang="en-GB" sz="2000" kern="100" dirty="0">
                          <a:effectLst/>
                        </a:rPr>
                        <a:t> </a:t>
                      </a:r>
                      <a:endParaRPr lang="en-GB" sz="2000" kern="100" dirty="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lnSpc>
                          <a:spcPct val="115000"/>
                        </a:lnSpc>
                        <a:buNone/>
                      </a:pPr>
                      <a:r>
                        <a:rPr lang="en-GB" sz="2400" kern="100">
                          <a:effectLst/>
                        </a:rPr>
                        <a:t> </a:t>
                      </a:r>
                      <a:endParaRPr lang="en-GB" sz="2400" kern="10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lnSpc>
                          <a:spcPct val="115000"/>
                        </a:lnSpc>
                        <a:buNone/>
                      </a:pPr>
                      <a:r>
                        <a:rPr lang="en-GB" sz="2400" kern="100" dirty="0">
                          <a:effectLst/>
                        </a:rPr>
                        <a:t>Shaft A</a:t>
                      </a:r>
                      <a:endParaRPr lang="en-GB" sz="2400" kern="100" dirty="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GB" sz="2400" kern="100">
                          <a:effectLst/>
                        </a:rPr>
                        <a:t>Shaft B</a:t>
                      </a:r>
                      <a:endParaRPr lang="en-GB" sz="2400" kern="10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964121717"/>
                  </a:ext>
                </a:extLst>
              </a:tr>
              <a:tr h="442314">
                <a:tc rowSpan="3">
                  <a:txBody>
                    <a:bodyPr/>
                    <a:lstStyle/>
                    <a:p>
                      <a:pPr marL="0" marR="0">
                        <a:lnSpc>
                          <a:spcPct val="115000"/>
                        </a:lnSpc>
                        <a:buNone/>
                      </a:pPr>
                      <a:r>
                        <a:rPr lang="en-GB" sz="2000" kern="100">
                          <a:effectLst/>
                        </a:rPr>
                        <a:t>Phil closes</a:t>
                      </a:r>
                      <a:endParaRPr lang="en-GB" sz="2000" kern="10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lnSpc>
                          <a:spcPct val="115000"/>
                        </a:lnSpc>
                        <a:buNone/>
                      </a:pPr>
                      <a:r>
                        <a:rPr lang="en-GB" sz="2400" kern="100" dirty="0">
                          <a:effectLst/>
                        </a:rPr>
                        <a:t>Gate 1</a:t>
                      </a:r>
                      <a:endParaRPr lang="en-GB" sz="2400" kern="100" dirty="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lnSpc>
                          <a:spcPct val="115000"/>
                        </a:lnSpc>
                        <a:buNone/>
                      </a:pPr>
                      <a:r>
                        <a:rPr lang="en-GB" sz="2400" kern="100" dirty="0">
                          <a:effectLst/>
                        </a:rPr>
                        <a:t>Save 100 lives</a:t>
                      </a:r>
                      <a:endParaRPr lang="en-GB" sz="2400" kern="100" dirty="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GB" sz="2400" kern="100">
                          <a:effectLst/>
                        </a:rPr>
                        <a:t>Saves no lives</a:t>
                      </a:r>
                      <a:endParaRPr lang="en-GB" sz="2400" kern="10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415806100"/>
                  </a:ext>
                </a:extLst>
              </a:tr>
              <a:tr h="442314">
                <a:tc vMerge="1">
                  <a:txBody>
                    <a:bodyPr/>
                    <a:lstStyle/>
                    <a:p>
                      <a:endParaRPr lang="en-GB"/>
                    </a:p>
                  </a:txBody>
                  <a:tcPr/>
                </a:tc>
                <a:tc>
                  <a:txBody>
                    <a:bodyPr/>
                    <a:lstStyle/>
                    <a:p>
                      <a:pPr marL="0" marR="0">
                        <a:lnSpc>
                          <a:spcPct val="115000"/>
                        </a:lnSpc>
                        <a:buNone/>
                      </a:pPr>
                      <a:r>
                        <a:rPr lang="en-GB" sz="2400" kern="100">
                          <a:effectLst/>
                        </a:rPr>
                        <a:t>Gate 2</a:t>
                      </a:r>
                      <a:endParaRPr lang="en-GB" sz="2400" kern="10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lnSpc>
                          <a:spcPct val="115000"/>
                        </a:lnSpc>
                        <a:buNone/>
                      </a:pPr>
                      <a:r>
                        <a:rPr lang="en-GB" sz="2400" kern="100" dirty="0">
                          <a:effectLst/>
                        </a:rPr>
                        <a:t>Saves no lives</a:t>
                      </a:r>
                      <a:endParaRPr lang="en-GB" sz="2400" kern="100" dirty="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GB" sz="2400" kern="100" dirty="0">
                          <a:effectLst/>
                        </a:rPr>
                        <a:t>Saves 100 lives</a:t>
                      </a:r>
                      <a:endParaRPr lang="en-GB" sz="2400" kern="100" dirty="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792050873"/>
                  </a:ext>
                </a:extLst>
              </a:tr>
              <a:tr h="442314">
                <a:tc vMerge="1">
                  <a:txBody>
                    <a:bodyPr/>
                    <a:lstStyle/>
                    <a:p>
                      <a:endParaRPr lang="en-GB"/>
                    </a:p>
                  </a:txBody>
                  <a:tcPr/>
                </a:tc>
                <a:tc>
                  <a:txBody>
                    <a:bodyPr/>
                    <a:lstStyle/>
                    <a:p>
                      <a:pPr marL="0" marR="0">
                        <a:lnSpc>
                          <a:spcPct val="115000"/>
                        </a:lnSpc>
                        <a:buNone/>
                      </a:pPr>
                      <a:r>
                        <a:rPr lang="en-GB" sz="2400" kern="100">
                          <a:effectLst/>
                        </a:rPr>
                        <a:t>Gate 3</a:t>
                      </a:r>
                      <a:endParaRPr lang="en-GB" sz="2400" kern="10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lnSpc>
                          <a:spcPct val="115000"/>
                        </a:lnSpc>
                        <a:buNone/>
                      </a:pPr>
                      <a:r>
                        <a:rPr lang="en-GB" sz="2400" kern="100" dirty="0">
                          <a:effectLst/>
                        </a:rPr>
                        <a:t>Saves 90 lives </a:t>
                      </a:r>
                      <a:endParaRPr lang="en-GB" sz="2400" kern="100" dirty="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GB" sz="2400" kern="100" dirty="0">
                          <a:effectLst/>
                        </a:rPr>
                        <a:t>Saves 90 lives</a:t>
                      </a:r>
                      <a:endParaRPr lang="en-GB" sz="2400" kern="100" dirty="0">
                        <a:effectLst/>
                        <a:latin typeface="Aptos" panose="020B0004020202020204" pitchFamily="34"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285043633"/>
                  </a:ext>
                </a:extLst>
              </a:tr>
            </a:tbl>
          </a:graphicData>
        </a:graphic>
      </p:graphicFrame>
    </p:spTree>
    <p:extLst>
      <p:ext uri="{BB962C8B-B14F-4D97-AF65-F5344CB8AC3E}">
        <p14:creationId xmlns:p14="http://schemas.microsoft.com/office/powerpoint/2010/main" val="2685132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6EE78-EC54-6E0B-99DC-C77AEA7EF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47F36-5EAB-4CAF-5EE9-FAD51DE6C071}"/>
              </a:ext>
            </a:extLst>
          </p:cNvPr>
          <p:cNvSpPr>
            <a:spLocks noGrp="1"/>
          </p:cNvSpPr>
          <p:nvPr>
            <p:ph type="title"/>
          </p:nvPr>
        </p:nvSpPr>
        <p:spPr>
          <a:xfrm>
            <a:off x="496389" y="559678"/>
            <a:ext cx="4099517" cy="2869322"/>
          </a:xfrm>
        </p:spPr>
        <p:txBody>
          <a:bodyPr rtlCol="0">
            <a:normAutofit fontScale="90000"/>
          </a:bodyPr>
          <a:lstStyle/>
          <a:p>
            <a:r>
              <a:rPr lang="en-US" sz="4400" b="1" dirty="0"/>
              <a:t>Actual vs</a:t>
            </a:r>
            <a:br>
              <a:rPr lang="en-US" sz="4400" b="1" dirty="0"/>
            </a:br>
            <a:r>
              <a:rPr lang="en-US" sz="4400" b="1" dirty="0"/>
              <a:t>Expected Consequences Utilitarianism</a:t>
            </a:r>
            <a:endParaRPr lang="en-GB" sz="4400" dirty="0"/>
          </a:p>
        </p:txBody>
      </p:sp>
      <p:sp>
        <p:nvSpPr>
          <p:cNvPr id="10" name="Slide Number Placeholder 9">
            <a:extLst>
              <a:ext uri="{FF2B5EF4-FFF2-40B4-BE49-F238E27FC236}">
                <a16:creationId xmlns:a16="http://schemas.microsoft.com/office/drawing/2014/main" id="{24BC99E0-D24B-D2FB-140E-476DAEFE0576}"/>
              </a:ext>
            </a:extLst>
          </p:cNvPr>
          <p:cNvSpPr>
            <a:spLocks noGrp="1"/>
          </p:cNvSpPr>
          <p:nvPr>
            <p:ph type="sldNum" sz="quarter" idx="12"/>
          </p:nvPr>
        </p:nvSpPr>
        <p:spPr/>
        <p:txBody>
          <a:bodyPr rtlCol="0"/>
          <a:lstStyle/>
          <a:p>
            <a:pPr rtl="0"/>
            <a:fld id="{13D2E340-0663-474B-992C-9192B5C45E57}" type="slidenum">
              <a:rPr lang="en-GB" smtClean="0"/>
              <a:t>25</a:t>
            </a:fld>
            <a:endParaRPr lang="en-GB"/>
          </a:p>
        </p:txBody>
      </p:sp>
      <p:sp>
        <p:nvSpPr>
          <p:cNvPr id="41" name="TextBox 40">
            <a:extLst>
              <a:ext uri="{FF2B5EF4-FFF2-40B4-BE49-F238E27FC236}">
                <a16:creationId xmlns:a16="http://schemas.microsoft.com/office/drawing/2014/main" id="{28D55EE5-0F10-C636-69F3-9063F76EB87D}"/>
              </a:ext>
            </a:extLst>
          </p:cNvPr>
          <p:cNvSpPr txBox="1"/>
          <p:nvPr/>
        </p:nvSpPr>
        <p:spPr>
          <a:xfrm>
            <a:off x="5181599" y="559678"/>
            <a:ext cx="6602412" cy="5078614"/>
          </a:xfrm>
          <a:prstGeom prst="rect">
            <a:avLst/>
          </a:prstGeom>
          <a:noFill/>
        </p:spPr>
        <p:txBody>
          <a:bodyPr wrap="square" rtlCol="0">
            <a:noAutofit/>
          </a:bodyPr>
          <a:lstStyle/>
          <a:p>
            <a:pPr marL="457200" indent="-457200">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It seems intuitively clear that Phil ought to close gate 3 and not take the risk of losing all 100 miners.</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a:t>
            </a:r>
            <a:r>
              <a:rPr lang="en-GB" sz="3200" dirty="0">
                <a:effectLst/>
                <a:latin typeface="Times New Roman" panose="02020603050405020304" pitchFamily="18" charset="0"/>
                <a:ea typeface="PMingLiU" panose="02020500000000000000" pitchFamily="18" charset="-120"/>
              </a:rPr>
              <a:t>fter closing gate 3, he finds out that the miners were actually trapped in shaft A. </a:t>
            </a:r>
          </a:p>
          <a:p>
            <a:pPr marL="914400" lvl="1" indent="-457200">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Closing gate 3 saved 90/100, 10 lost their lives.</a:t>
            </a:r>
          </a:p>
          <a:p>
            <a:pPr marL="457200" indent="-457200">
              <a:buFont typeface="Arial" panose="020B0604020202020204" pitchFamily="34" charset="0"/>
              <a:buChar char="•"/>
            </a:pPr>
            <a:r>
              <a:rPr lang="en-GB" sz="3200" i="1" dirty="0">
                <a:effectLst/>
                <a:latin typeface="Times New Roman" panose="02020603050405020304" pitchFamily="18" charset="0"/>
                <a:ea typeface="PMingLiU" panose="02020500000000000000" pitchFamily="18" charset="-120"/>
              </a:rPr>
              <a:t>“I ought to have closed gate 1, and then all 100 would have been saved.” </a:t>
            </a:r>
            <a:endParaRPr lang="en-US" sz="3200" i="1"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0582520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FDC1D-8D0E-226C-5FB0-D9E140351BB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ED5F431-F4B7-F769-DC66-B945CCF3960E}"/>
              </a:ext>
            </a:extLst>
          </p:cNvPr>
          <p:cNvSpPr txBox="1"/>
          <p:nvPr/>
        </p:nvSpPr>
        <p:spPr>
          <a:xfrm>
            <a:off x="5181599" y="655100"/>
            <a:ext cx="6602412" cy="5575012"/>
          </a:xfrm>
          <a:prstGeom prst="rect">
            <a:avLst/>
          </a:prstGeom>
          <a:noFill/>
        </p:spPr>
        <p:txBody>
          <a:bodyPr wrap="square" rtlCol="0">
            <a:noAutofit/>
          </a:bodyPr>
          <a:lstStyle/>
          <a:p>
            <a:pPr marL="342900" indent="-342900">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SPU: </a:t>
            </a:r>
            <a:r>
              <a:rPr lang="en-GB" sz="3200" dirty="0">
                <a:latin typeface="Times New Roman" panose="02020603050405020304" pitchFamily="18" charset="0"/>
                <a:ea typeface="PMingLiU" panose="02020500000000000000" pitchFamily="18" charset="-120"/>
                <a:cs typeface="Times New Roman" panose="02020603050405020304" pitchFamily="18" charset="0"/>
              </a:rPr>
              <a:t>An action A performed in circumstances C is (presumptively) </a:t>
            </a:r>
            <a:r>
              <a:rPr lang="en-GB" sz="3200" i="1" dirty="0">
                <a:latin typeface="Times New Roman" panose="02020603050405020304" pitchFamily="18" charset="0"/>
                <a:ea typeface="PMingLiU" panose="02020500000000000000" pitchFamily="18" charset="-120"/>
                <a:cs typeface="Times New Roman" panose="02020603050405020304" pitchFamily="18" charset="0"/>
              </a:rPr>
              <a:t>subjectively right if</a:t>
            </a:r>
            <a:r>
              <a:rPr lang="en-GB" sz="3200" dirty="0">
                <a:latin typeface="Times New Roman" panose="02020603050405020304" pitchFamily="18" charset="0"/>
                <a:ea typeface="PMingLiU" panose="02020500000000000000" pitchFamily="18" charset="-120"/>
                <a:cs typeface="Times New Roman" panose="02020603050405020304" pitchFamily="18" charset="0"/>
              </a:rPr>
              <a:t> (not </a:t>
            </a:r>
            <a:r>
              <a:rPr lang="en-GB" sz="3200" dirty="0" err="1">
                <a:latin typeface="Times New Roman" panose="02020603050405020304" pitchFamily="18" charset="0"/>
                <a:ea typeface="PMingLiU" panose="02020500000000000000" pitchFamily="18" charset="-120"/>
                <a:cs typeface="Times New Roman" panose="02020603050405020304" pitchFamily="18" charset="0"/>
              </a:rPr>
              <a:t>iff</a:t>
            </a:r>
            <a:r>
              <a:rPr lang="en-GB" sz="3200" dirty="0">
                <a:latin typeface="Times New Roman" panose="02020603050405020304" pitchFamily="18" charset="0"/>
                <a:ea typeface="PMingLiU" panose="02020500000000000000" pitchFamily="18" charset="-120"/>
                <a:cs typeface="Times New Roman" panose="02020603050405020304" pitchFamily="18" charset="0"/>
              </a:rPr>
              <a:t>!) the agent believes that A has as high an </a:t>
            </a:r>
            <a:r>
              <a:rPr lang="en-GB" sz="3200" i="1" dirty="0">
                <a:latin typeface="Times New Roman" panose="02020603050405020304" pitchFamily="18" charset="0"/>
                <a:ea typeface="PMingLiU" panose="02020500000000000000" pitchFamily="18" charset="-120"/>
                <a:cs typeface="Times New Roman" panose="02020603050405020304" pitchFamily="18" charset="0"/>
              </a:rPr>
              <a:t>expected</a:t>
            </a:r>
            <a:r>
              <a:rPr lang="en-GB" sz="3200" dirty="0">
                <a:latin typeface="Times New Roman" panose="02020603050405020304" pitchFamily="18" charset="0"/>
                <a:ea typeface="PMingLiU" panose="02020500000000000000" pitchFamily="18" charset="-120"/>
                <a:cs typeface="Times New Roman" panose="02020603050405020304" pitchFamily="18" charset="0"/>
              </a:rPr>
              <a:t> utility as does any of the available alternative actions that she believes are open to her in C. </a:t>
            </a:r>
          </a:p>
          <a:p>
            <a:pPr marL="342900" indent="-3429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The action judged to have the highest expected utility is subjectively obligatory, all others are subjectively wrong.</a:t>
            </a:r>
            <a:r>
              <a:rPr lang="en-US" sz="3200" dirty="0">
                <a:latin typeface="Times New Roman" panose="02020603050405020304" pitchFamily="18" charset="0"/>
                <a:ea typeface="PMingLiU" panose="02020500000000000000" pitchFamily="18" charset="-120"/>
                <a:cs typeface="Times New Roman" panose="02020603050405020304" pitchFamily="18" charset="0"/>
              </a:rPr>
              <a:t> </a:t>
            </a:r>
          </a:p>
        </p:txBody>
      </p:sp>
      <p:sp>
        <p:nvSpPr>
          <p:cNvPr id="5" name="Slide Number Placeholder 4">
            <a:extLst>
              <a:ext uri="{FF2B5EF4-FFF2-40B4-BE49-F238E27FC236}">
                <a16:creationId xmlns:a16="http://schemas.microsoft.com/office/drawing/2014/main" id="{537B537F-068E-8249-44FD-ADD2875813F7}"/>
              </a:ext>
            </a:extLst>
          </p:cNvPr>
          <p:cNvSpPr>
            <a:spLocks noGrp="1"/>
          </p:cNvSpPr>
          <p:nvPr>
            <p:ph type="sldNum" sz="quarter" idx="12"/>
          </p:nvPr>
        </p:nvSpPr>
        <p:spPr/>
        <p:txBody>
          <a:bodyPr rtlCol="0"/>
          <a:lstStyle/>
          <a:p>
            <a:pPr rtl="0"/>
            <a:fld id="{13D2E340-0663-474B-992C-9192B5C45E57}" type="slidenum">
              <a:rPr lang="en-GB" smtClean="0"/>
              <a:t>26</a:t>
            </a:fld>
            <a:endParaRPr lang="en-GB"/>
          </a:p>
        </p:txBody>
      </p:sp>
      <p:sp>
        <p:nvSpPr>
          <p:cNvPr id="2" name="Title 1">
            <a:extLst>
              <a:ext uri="{FF2B5EF4-FFF2-40B4-BE49-F238E27FC236}">
                <a16:creationId xmlns:a16="http://schemas.microsoft.com/office/drawing/2014/main" id="{1CD3FDBA-3A36-F02D-1308-D3EC3136BAA7}"/>
              </a:ext>
            </a:extLst>
          </p:cNvPr>
          <p:cNvSpPr txBox="1">
            <a:spLocks/>
          </p:cNvSpPr>
          <p:nvPr/>
        </p:nvSpPr>
        <p:spPr>
          <a:xfrm>
            <a:off x="407989" y="1220984"/>
            <a:ext cx="4065328" cy="2221622"/>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000" b="1" dirty="0"/>
              <a:t>Subjective vs Objective Rightness of Actions </a:t>
            </a:r>
            <a:endParaRPr lang="en-GB" sz="4000" dirty="0"/>
          </a:p>
        </p:txBody>
      </p:sp>
    </p:spTree>
    <p:extLst>
      <p:ext uri="{BB962C8B-B14F-4D97-AF65-F5344CB8AC3E}">
        <p14:creationId xmlns:p14="http://schemas.microsoft.com/office/powerpoint/2010/main" val="1768422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706B0-56E3-4746-5956-C92826004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8232E-A0FA-1C95-106A-AE4CD29612E0}"/>
              </a:ext>
            </a:extLst>
          </p:cNvPr>
          <p:cNvSpPr>
            <a:spLocks noGrp="1"/>
          </p:cNvSpPr>
          <p:nvPr>
            <p:ph type="title"/>
          </p:nvPr>
        </p:nvSpPr>
        <p:spPr>
          <a:xfrm>
            <a:off x="496389" y="559678"/>
            <a:ext cx="4099517" cy="2869322"/>
          </a:xfrm>
        </p:spPr>
        <p:txBody>
          <a:bodyPr rtlCol="0">
            <a:normAutofit/>
          </a:bodyPr>
          <a:lstStyle/>
          <a:p>
            <a:r>
              <a:rPr lang="en-US" sz="4400" b="1" dirty="0"/>
              <a:t>Subjective vs Objective Rightness of Actions </a:t>
            </a:r>
            <a:endParaRPr lang="en-GB" sz="4400" dirty="0"/>
          </a:p>
        </p:txBody>
      </p:sp>
      <p:sp>
        <p:nvSpPr>
          <p:cNvPr id="10" name="Slide Number Placeholder 9">
            <a:extLst>
              <a:ext uri="{FF2B5EF4-FFF2-40B4-BE49-F238E27FC236}">
                <a16:creationId xmlns:a16="http://schemas.microsoft.com/office/drawing/2014/main" id="{EAEB128A-6688-A9DA-4634-2FAE07116515}"/>
              </a:ext>
            </a:extLst>
          </p:cNvPr>
          <p:cNvSpPr>
            <a:spLocks noGrp="1"/>
          </p:cNvSpPr>
          <p:nvPr>
            <p:ph type="sldNum" sz="quarter" idx="12"/>
          </p:nvPr>
        </p:nvSpPr>
        <p:spPr/>
        <p:txBody>
          <a:bodyPr rtlCol="0"/>
          <a:lstStyle/>
          <a:p>
            <a:pPr rtl="0"/>
            <a:fld id="{13D2E340-0663-474B-992C-9192B5C45E57}" type="slidenum">
              <a:rPr lang="en-GB" smtClean="0"/>
              <a:t>27</a:t>
            </a:fld>
            <a:endParaRPr lang="en-GB"/>
          </a:p>
        </p:txBody>
      </p:sp>
      <p:sp>
        <p:nvSpPr>
          <p:cNvPr id="41" name="TextBox 40">
            <a:extLst>
              <a:ext uri="{FF2B5EF4-FFF2-40B4-BE49-F238E27FC236}">
                <a16:creationId xmlns:a16="http://schemas.microsoft.com/office/drawing/2014/main" id="{9C8A936B-97D6-2F38-A64B-E2E7BA98AA93}"/>
              </a:ext>
            </a:extLst>
          </p:cNvPr>
          <p:cNvSpPr txBox="1"/>
          <p:nvPr/>
        </p:nvSpPr>
        <p:spPr>
          <a:xfrm>
            <a:off x="5181599" y="559678"/>
            <a:ext cx="6602412" cy="5078614"/>
          </a:xfrm>
          <a:prstGeom prst="rect">
            <a:avLst/>
          </a:prstGeom>
          <a:noFill/>
        </p:spPr>
        <p:txBody>
          <a:bodyPr wrap="square" rtlCol="0">
            <a:noAutofit/>
          </a:bodyPr>
          <a:lstStyle/>
          <a:p>
            <a:pPr marL="457200" indent="-457200">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It seems intuitively clear that Phil ought to close gate 3 and not take the risk of losing all 100 miners.</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a:t>
            </a:r>
            <a:r>
              <a:rPr lang="en-GB" sz="3200" dirty="0">
                <a:effectLst/>
                <a:latin typeface="Times New Roman" panose="02020603050405020304" pitchFamily="18" charset="0"/>
                <a:ea typeface="PMingLiU" panose="02020500000000000000" pitchFamily="18" charset="-120"/>
              </a:rPr>
              <a:t>fter closing gate 3, he finds out that the miners were actually trapped in shaft A. </a:t>
            </a:r>
          </a:p>
          <a:p>
            <a:pPr marL="914400" lvl="1" indent="-457200">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Closing gate 3 saved 90/100, 10 lost their lives.</a:t>
            </a:r>
          </a:p>
          <a:p>
            <a:pPr marL="457200" indent="-457200">
              <a:buFont typeface="Arial" panose="020B0604020202020204" pitchFamily="34" charset="0"/>
              <a:buChar char="•"/>
            </a:pPr>
            <a:r>
              <a:rPr lang="en-GB" sz="3200" i="1" dirty="0">
                <a:effectLst/>
                <a:latin typeface="Times New Roman" panose="02020603050405020304" pitchFamily="18" charset="0"/>
                <a:ea typeface="PMingLiU" panose="02020500000000000000" pitchFamily="18" charset="-120"/>
              </a:rPr>
              <a:t>“I ought to have closed gate 1, and then all 100 would have been saved.” </a:t>
            </a:r>
            <a:endParaRPr lang="en-US" sz="3200" i="1"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500357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EB28B-FDBF-E65C-E888-1C2ADB513EE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BE429EE-0473-29F5-8F71-11622853E642}"/>
              </a:ext>
            </a:extLst>
          </p:cNvPr>
          <p:cNvSpPr txBox="1"/>
          <p:nvPr/>
        </p:nvSpPr>
        <p:spPr>
          <a:xfrm>
            <a:off x="5181599" y="655100"/>
            <a:ext cx="6602412" cy="5575012"/>
          </a:xfrm>
          <a:prstGeom prst="rect">
            <a:avLst/>
          </a:prstGeom>
          <a:noFill/>
        </p:spPr>
        <p:txBody>
          <a:bodyPr wrap="square" rtlCol="0">
            <a:noAutofit/>
          </a:bodyPr>
          <a:lstStyle/>
          <a:p>
            <a:pPr marL="514350" indent="-514350">
              <a:buFont typeface="+mj-lt"/>
              <a:buAutoNum type="arabicPeriod"/>
            </a:pPr>
            <a:r>
              <a:rPr lang="en-GB" sz="3200" dirty="0">
                <a:latin typeface="Times New Roman" panose="02020603050405020304" pitchFamily="18" charset="0"/>
                <a:ea typeface="PMingLiU" panose="02020500000000000000" pitchFamily="18" charset="-120"/>
                <a:cs typeface="Times New Roman" panose="02020603050405020304" pitchFamily="18" charset="0"/>
              </a:rPr>
              <a:t>SPU formulates only a </a:t>
            </a:r>
            <a:r>
              <a:rPr lang="en-GB" sz="3200" i="1" dirty="0">
                <a:latin typeface="Times New Roman" panose="02020603050405020304" pitchFamily="18" charset="0"/>
                <a:ea typeface="PMingLiU" panose="02020500000000000000" pitchFamily="18" charset="-120"/>
                <a:cs typeface="Times New Roman" panose="02020603050405020304" pitchFamily="18" charset="0"/>
              </a:rPr>
              <a:t>sufficient</a:t>
            </a:r>
            <a:r>
              <a:rPr lang="en-GB" sz="3200" dirty="0">
                <a:latin typeface="Times New Roman" panose="02020603050405020304" pitchFamily="18" charset="0"/>
                <a:ea typeface="PMingLiU" panose="02020500000000000000" pitchFamily="18" charset="-120"/>
                <a:cs typeface="Times New Roman" panose="02020603050405020304" pitchFamily="18" charset="0"/>
              </a:rPr>
              <a:t> condition, not a necessary one. </a:t>
            </a:r>
          </a:p>
          <a:p>
            <a:pPr marL="971550" lvl="1" indent="-514350">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Without beliefs about expected outcomes, the principle will not suffice as a guide.</a:t>
            </a:r>
          </a:p>
          <a:p>
            <a:pPr marL="514350" indent="-514350">
              <a:buFont typeface="+mj-lt"/>
              <a:buAutoNum type="arabicPeriod"/>
            </a:pPr>
            <a:r>
              <a:rPr lang="en-US" sz="3200" dirty="0">
                <a:latin typeface="Times New Roman" panose="02020603050405020304" pitchFamily="18" charset="0"/>
                <a:ea typeface="PMingLiU" panose="02020500000000000000" pitchFamily="18" charset="-120"/>
                <a:cs typeface="Times New Roman" panose="02020603050405020304" pitchFamily="18" charset="0"/>
              </a:rPr>
              <a:t>It provides only a </a:t>
            </a:r>
            <a:r>
              <a:rPr lang="en-US" sz="3200" i="1" dirty="0">
                <a:latin typeface="Times New Roman" panose="02020603050405020304" pitchFamily="18" charset="0"/>
                <a:ea typeface="PMingLiU" panose="02020500000000000000" pitchFamily="18" charset="-120"/>
                <a:cs typeface="Times New Roman" panose="02020603050405020304" pitchFamily="18" charset="0"/>
              </a:rPr>
              <a:t>presumptively</a:t>
            </a:r>
            <a:r>
              <a:rPr lang="en-US" sz="3200" dirty="0">
                <a:latin typeface="Times New Roman" panose="02020603050405020304" pitchFamily="18" charset="0"/>
                <a:ea typeface="PMingLiU" panose="02020500000000000000" pitchFamily="18" charset="-120"/>
                <a:cs typeface="Times New Roman" panose="02020603050405020304" pitchFamily="18" charset="0"/>
              </a:rPr>
              <a:t> sufficient condition for </a:t>
            </a:r>
            <a:r>
              <a:rPr lang="en-GB" sz="3200" dirty="0">
                <a:latin typeface="Times New Roman" panose="02020603050405020304" pitchFamily="18" charset="0"/>
                <a:ea typeface="PMingLiU" panose="02020500000000000000" pitchFamily="18" charset="-120"/>
                <a:cs typeface="Times New Roman" panose="02020603050405020304" pitchFamily="18" charset="0"/>
              </a:rPr>
              <a:t>an action’s being subjectively right.</a:t>
            </a:r>
          </a:p>
          <a:p>
            <a:pPr marL="971550" lvl="1"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In some cases, the presence of beliefs about expected outcomes does not warrant an act’s being subjectively right. </a:t>
            </a: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8DBC82B-A25C-E078-60B2-0FD7BFB64F0C}"/>
              </a:ext>
            </a:extLst>
          </p:cNvPr>
          <p:cNvSpPr>
            <a:spLocks noGrp="1"/>
          </p:cNvSpPr>
          <p:nvPr>
            <p:ph type="sldNum" sz="quarter" idx="12"/>
          </p:nvPr>
        </p:nvSpPr>
        <p:spPr/>
        <p:txBody>
          <a:bodyPr rtlCol="0"/>
          <a:lstStyle/>
          <a:p>
            <a:pPr rtl="0"/>
            <a:fld id="{13D2E340-0663-474B-992C-9192B5C45E57}" type="slidenum">
              <a:rPr lang="en-GB" smtClean="0"/>
              <a:t>28</a:t>
            </a:fld>
            <a:endParaRPr lang="en-GB"/>
          </a:p>
        </p:txBody>
      </p:sp>
      <p:sp>
        <p:nvSpPr>
          <p:cNvPr id="2" name="Title 1">
            <a:extLst>
              <a:ext uri="{FF2B5EF4-FFF2-40B4-BE49-F238E27FC236}">
                <a16:creationId xmlns:a16="http://schemas.microsoft.com/office/drawing/2014/main" id="{E951DEF7-309F-6153-FE20-CF8B89C3F50E}"/>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000" b="1" dirty="0"/>
              <a:t>Constraints</a:t>
            </a:r>
            <a:endParaRPr lang="en-GB" sz="4000" dirty="0"/>
          </a:p>
        </p:txBody>
      </p:sp>
    </p:spTree>
    <p:extLst>
      <p:ext uri="{BB962C8B-B14F-4D97-AF65-F5344CB8AC3E}">
        <p14:creationId xmlns:p14="http://schemas.microsoft.com/office/powerpoint/2010/main" val="1271381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C9051-DA93-57E5-32A0-C62BFC97B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95805B-4BFC-B4E9-E4FB-68EC13E10600}"/>
              </a:ext>
            </a:extLst>
          </p:cNvPr>
          <p:cNvSpPr>
            <a:spLocks noGrp="1"/>
          </p:cNvSpPr>
          <p:nvPr>
            <p:ph type="title"/>
          </p:nvPr>
        </p:nvSpPr>
        <p:spPr>
          <a:xfrm>
            <a:off x="496389" y="559678"/>
            <a:ext cx="4099517" cy="2869322"/>
          </a:xfrm>
        </p:spPr>
        <p:txBody>
          <a:bodyPr rtlCol="0">
            <a:normAutofit/>
          </a:bodyPr>
          <a:lstStyle/>
          <a:p>
            <a:r>
              <a:rPr lang="en-US" sz="4400" b="1" dirty="0"/>
              <a:t>Constraints</a:t>
            </a:r>
            <a:endParaRPr lang="en-GB" sz="4400" dirty="0"/>
          </a:p>
        </p:txBody>
      </p:sp>
      <p:sp>
        <p:nvSpPr>
          <p:cNvPr id="10" name="Slide Number Placeholder 9">
            <a:extLst>
              <a:ext uri="{FF2B5EF4-FFF2-40B4-BE49-F238E27FC236}">
                <a16:creationId xmlns:a16="http://schemas.microsoft.com/office/drawing/2014/main" id="{F331235F-EB53-7BB1-A549-7B1CACAE7FF9}"/>
              </a:ext>
            </a:extLst>
          </p:cNvPr>
          <p:cNvSpPr>
            <a:spLocks noGrp="1"/>
          </p:cNvSpPr>
          <p:nvPr>
            <p:ph type="sldNum" sz="quarter" idx="12"/>
          </p:nvPr>
        </p:nvSpPr>
        <p:spPr/>
        <p:txBody>
          <a:bodyPr rtlCol="0"/>
          <a:lstStyle/>
          <a:p>
            <a:pPr rtl="0"/>
            <a:fld id="{13D2E340-0663-474B-992C-9192B5C45E57}" type="slidenum">
              <a:rPr lang="en-GB" smtClean="0"/>
              <a:t>29</a:t>
            </a:fld>
            <a:endParaRPr lang="en-GB"/>
          </a:p>
        </p:txBody>
      </p:sp>
      <p:sp>
        <p:nvSpPr>
          <p:cNvPr id="41" name="TextBox 40">
            <a:extLst>
              <a:ext uri="{FF2B5EF4-FFF2-40B4-BE49-F238E27FC236}">
                <a16:creationId xmlns:a16="http://schemas.microsoft.com/office/drawing/2014/main" id="{7A151D67-EA42-214F-802C-90862AFF35EA}"/>
              </a:ext>
            </a:extLst>
          </p:cNvPr>
          <p:cNvSpPr txBox="1"/>
          <p:nvPr/>
        </p:nvSpPr>
        <p:spPr>
          <a:xfrm>
            <a:off x="5181599" y="559678"/>
            <a:ext cx="6602412" cy="5078614"/>
          </a:xfrm>
          <a:prstGeom prst="rect">
            <a:avLst/>
          </a:prstGeom>
          <a:noFill/>
        </p:spPr>
        <p:txBody>
          <a:bodyPr wrap="square" rtlCol="0">
            <a:noAutofit/>
          </a:bodyPr>
          <a:lstStyle/>
          <a:p>
            <a:pPr marL="457200" indent="-457200">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Suppose by closing gate 3 Phil can save only 50 of the 100 miners (regardless of where they are). </a:t>
            </a:r>
          </a:p>
          <a:p>
            <a:pPr marL="457200" indent="-457200">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The expected utility associated with closing gate 3 would then become +50 [</a:t>
            </a:r>
            <a:r>
              <a:rPr lang="en-GB" sz="2800" dirty="0">
                <a:latin typeface="Times New Roman" panose="02020603050405020304" pitchFamily="18" charset="0"/>
                <a:ea typeface="PMingLiU" panose="02020500000000000000" pitchFamily="18" charset="-120"/>
                <a:cs typeface="Times New Roman" panose="02020603050405020304" pitchFamily="18" charset="0"/>
              </a:rPr>
              <a:t>(0.5×50)+(0.5×50)=50</a:t>
            </a:r>
            <a:r>
              <a:rPr lang="en-GB" sz="2800" dirty="0">
                <a:effectLst/>
                <a:latin typeface="Times New Roman" panose="02020603050405020304" pitchFamily="18" charset="0"/>
                <a:ea typeface="PMingLiU" panose="02020500000000000000" pitchFamily="18" charset="-120"/>
              </a:rPr>
              <a:t>], equal to the expected utilities of the other two options. </a:t>
            </a:r>
          </a:p>
          <a:p>
            <a:pPr marL="457200" indent="-457200">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Does it mean that all three acts are subjectively right? </a:t>
            </a:r>
          </a:p>
          <a:p>
            <a:pPr marL="457200" indent="-457200">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Intuitively, closing gate 3 is </a:t>
            </a:r>
            <a:r>
              <a:rPr lang="en-GB" sz="2800" i="1" dirty="0">
                <a:effectLst/>
                <a:latin typeface="Times New Roman" panose="02020603050405020304" pitchFamily="18" charset="0"/>
                <a:ea typeface="PMingLiU" panose="02020500000000000000" pitchFamily="18" charset="-120"/>
              </a:rPr>
              <a:t>still</a:t>
            </a:r>
            <a:r>
              <a:rPr lang="en-GB" sz="2800" dirty="0">
                <a:effectLst/>
                <a:latin typeface="Times New Roman" panose="02020603050405020304" pitchFamily="18" charset="0"/>
                <a:ea typeface="PMingLiU" panose="02020500000000000000" pitchFamily="18" charset="-120"/>
              </a:rPr>
              <a:t> the subjectively right act. </a:t>
            </a:r>
            <a:endParaRPr lang="en-US" sz="28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886266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08DD1-69CB-773B-944D-2116655BAE7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932C41B-7203-3B25-D257-158FE37DED04}"/>
              </a:ext>
            </a:extLst>
          </p:cNvPr>
          <p:cNvSpPr txBox="1"/>
          <p:nvPr/>
        </p:nvSpPr>
        <p:spPr>
          <a:xfrm>
            <a:off x="5181599" y="655100"/>
            <a:ext cx="6602412" cy="5575012"/>
          </a:xfrm>
          <a:prstGeom prst="rect">
            <a:avLst/>
          </a:prstGeom>
          <a:noFill/>
        </p:spPr>
        <p:txBody>
          <a:bodyPr wrap="square" rtlCol="0">
            <a:noAutofit/>
          </a:bodyPr>
          <a:lstStyle/>
          <a:p>
            <a:pPr marL="514350" indent="-514350">
              <a:buFont typeface="+mj-lt"/>
              <a:buAutoNum type="arabicPeriod" startAt="3"/>
            </a:pPr>
            <a:r>
              <a:rPr lang="en-US" sz="3200" dirty="0">
                <a:latin typeface="Times New Roman" panose="02020603050405020304" pitchFamily="18" charset="0"/>
                <a:ea typeface="PMingLiU" panose="02020500000000000000" pitchFamily="18" charset="-120"/>
                <a:cs typeface="Times New Roman" panose="02020603050405020304" pitchFamily="18" charset="0"/>
              </a:rPr>
              <a:t>Blame-worthiness/ praise-worthiness ≠ objective wrongness/objective rightness</a:t>
            </a:r>
          </a:p>
          <a:p>
            <a:pPr marL="971550" lvl="1"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Considerations of moral praise and blame are sensitive to how morally conscientious a person is in choosing to perform an action.</a:t>
            </a:r>
          </a:p>
          <a:p>
            <a:pPr marL="971550" lvl="1"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Phil is not blameworthy, even though he performed an action that was objectively morally wrong. </a:t>
            </a: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174A2D55-D84D-06C2-519E-5B9905108180}"/>
              </a:ext>
            </a:extLst>
          </p:cNvPr>
          <p:cNvSpPr>
            <a:spLocks noGrp="1"/>
          </p:cNvSpPr>
          <p:nvPr>
            <p:ph type="sldNum" sz="quarter" idx="12"/>
          </p:nvPr>
        </p:nvSpPr>
        <p:spPr/>
        <p:txBody>
          <a:bodyPr rtlCol="0"/>
          <a:lstStyle/>
          <a:p>
            <a:pPr rtl="0"/>
            <a:fld id="{13D2E340-0663-474B-992C-9192B5C45E57}" type="slidenum">
              <a:rPr lang="en-GB" smtClean="0"/>
              <a:t>30</a:t>
            </a:fld>
            <a:endParaRPr lang="en-GB"/>
          </a:p>
        </p:txBody>
      </p:sp>
      <p:sp>
        <p:nvSpPr>
          <p:cNvPr id="2" name="Title 1">
            <a:extLst>
              <a:ext uri="{FF2B5EF4-FFF2-40B4-BE49-F238E27FC236}">
                <a16:creationId xmlns:a16="http://schemas.microsoft.com/office/drawing/2014/main" id="{E61D2ECE-A5E6-B966-5B81-CFB9C43C827A}"/>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000" b="1" dirty="0"/>
              <a:t>Constraints</a:t>
            </a:r>
            <a:endParaRPr lang="en-GB" sz="4000" dirty="0"/>
          </a:p>
        </p:txBody>
      </p:sp>
    </p:spTree>
    <p:extLst>
      <p:ext uri="{BB962C8B-B14F-4D97-AF65-F5344CB8AC3E}">
        <p14:creationId xmlns:p14="http://schemas.microsoft.com/office/powerpoint/2010/main" val="6762734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935D3-CEA2-11A2-693D-23E4AFF8A8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65223-CB29-32F0-A6CE-D1ED3F6D6385}"/>
              </a:ext>
            </a:extLst>
          </p:cNvPr>
          <p:cNvSpPr>
            <a:spLocks noGrp="1"/>
          </p:cNvSpPr>
          <p:nvPr>
            <p:ph type="title"/>
          </p:nvPr>
        </p:nvSpPr>
        <p:spPr>
          <a:xfrm>
            <a:off x="496389" y="559678"/>
            <a:ext cx="4099517" cy="2869322"/>
          </a:xfrm>
        </p:spPr>
        <p:txBody>
          <a:bodyPr rtlCol="0">
            <a:normAutofit/>
          </a:bodyPr>
          <a:lstStyle/>
          <a:p>
            <a:r>
              <a:rPr lang="en-US" sz="4400" b="1" dirty="0"/>
              <a:t>Constraints</a:t>
            </a:r>
            <a:endParaRPr lang="en-GB" sz="4400" dirty="0"/>
          </a:p>
        </p:txBody>
      </p:sp>
      <p:sp>
        <p:nvSpPr>
          <p:cNvPr id="10" name="Slide Number Placeholder 9">
            <a:extLst>
              <a:ext uri="{FF2B5EF4-FFF2-40B4-BE49-F238E27FC236}">
                <a16:creationId xmlns:a16="http://schemas.microsoft.com/office/drawing/2014/main" id="{6E44742A-A543-4AA8-2BCA-66B11695E357}"/>
              </a:ext>
            </a:extLst>
          </p:cNvPr>
          <p:cNvSpPr>
            <a:spLocks noGrp="1"/>
          </p:cNvSpPr>
          <p:nvPr>
            <p:ph type="sldNum" sz="quarter" idx="12"/>
          </p:nvPr>
        </p:nvSpPr>
        <p:spPr/>
        <p:txBody>
          <a:bodyPr rtlCol="0"/>
          <a:lstStyle/>
          <a:p>
            <a:pPr rtl="0"/>
            <a:fld id="{13D2E340-0663-474B-992C-9192B5C45E57}" type="slidenum">
              <a:rPr lang="en-GB" smtClean="0"/>
              <a:t>31</a:t>
            </a:fld>
            <a:endParaRPr lang="en-GB"/>
          </a:p>
        </p:txBody>
      </p:sp>
      <p:sp>
        <p:nvSpPr>
          <p:cNvPr id="41" name="TextBox 40">
            <a:extLst>
              <a:ext uri="{FF2B5EF4-FFF2-40B4-BE49-F238E27FC236}">
                <a16:creationId xmlns:a16="http://schemas.microsoft.com/office/drawing/2014/main" id="{DB047CA0-7C56-A8E4-14B2-124637CE6829}"/>
              </a:ext>
            </a:extLst>
          </p:cNvPr>
          <p:cNvSpPr txBox="1"/>
          <p:nvPr/>
        </p:nvSpPr>
        <p:spPr>
          <a:xfrm>
            <a:off x="5181599" y="559678"/>
            <a:ext cx="6602412" cy="5078614"/>
          </a:xfrm>
          <a:prstGeom prst="rect">
            <a:avLst/>
          </a:prstGeom>
          <a:noFill/>
        </p:spPr>
        <p:txBody>
          <a:bodyPr wrap="square" rtlCol="0">
            <a:noAutofit/>
          </a:bodyPr>
          <a:lstStyle/>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D</a:t>
            </a:r>
            <a:r>
              <a:rPr lang="en-GB" sz="3200" dirty="0">
                <a:effectLst/>
                <a:latin typeface="Times New Roman" panose="02020603050405020304" pitchFamily="18" charset="0"/>
                <a:ea typeface="PMingLiU" panose="02020500000000000000" pitchFamily="18" charset="-120"/>
              </a:rPr>
              <a:t>istinguish what one subjectively ought to do from what one objectively ought to do, and keeping in mind that blameworthiness is tied to the subjective notion of moral obligation, there can be</a:t>
            </a:r>
          </a:p>
          <a:p>
            <a:pPr marL="971550" lvl="1"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Cases of knowingly engaging in </a:t>
            </a:r>
            <a:r>
              <a:rPr lang="en-GB" sz="3200" i="1" dirty="0">
                <a:latin typeface="Times New Roman" panose="02020603050405020304" pitchFamily="18" charset="0"/>
                <a:ea typeface="PMingLiU" panose="02020500000000000000" pitchFamily="18" charset="-120"/>
              </a:rPr>
              <a:t>blameless wrongdoing</a:t>
            </a:r>
          </a:p>
          <a:p>
            <a:pPr marL="971550" lvl="1"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Cases of knowingly engaging in </a:t>
            </a:r>
            <a:r>
              <a:rPr lang="en-GB" sz="3200" i="1" dirty="0" err="1">
                <a:latin typeface="Times New Roman" panose="02020603050405020304" pitchFamily="18" charset="0"/>
                <a:ea typeface="PMingLiU" panose="02020500000000000000" pitchFamily="18" charset="-120"/>
              </a:rPr>
              <a:t>praiseless</a:t>
            </a:r>
            <a:r>
              <a:rPr lang="en-GB" sz="3200" i="1" dirty="0">
                <a:latin typeface="Times New Roman" panose="02020603050405020304" pitchFamily="18" charset="0"/>
                <a:ea typeface="PMingLiU" panose="02020500000000000000" pitchFamily="18" charset="-120"/>
              </a:rPr>
              <a:t> </a:t>
            </a:r>
            <a:r>
              <a:rPr lang="en-GB" sz="3200" i="1" dirty="0" err="1">
                <a:latin typeface="Times New Roman" panose="02020603050405020304" pitchFamily="18" charset="0"/>
                <a:ea typeface="PMingLiU" panose="02020500000000000000" pitchFamily="18" charset="-120"/>
              </a:rPr>
              <a:t>rightdoing</a:t>
            </a:r>
            <a:endParaRPr lang="en-GB" sz="3200" i="1" dirty="0">
              <a:latin typeface="Times New Roman" panose="02020603050405020304" pitchFamily="18" charset="0"/>
              <a:ea typeface="PMingLiU" panose="02020500000000000000" pitchFamily="18" charset="-120"/>
            </a:endParaRPr>
          </a:p>
          <a:p>
            <a:pPr marL="971550" lvl="1" indent="-514350">
              <a:buFont typeface="Arial" panose="020B0604020202020204" pitchFamily="34" charset="0"/>
              <a:buChar char="•"/>
            </a:pPr>
            <a:endParaRPr lang="en-US" sz="28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35965316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70CAD-5EEE-20AF-AD7D-C39E0879DD1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DA097B1-5343-D503-EA38-94129EB7A104}"/>
              </a:ext>
            </a:extLst>
          </p:cNvPr>
          <p:cNvSpPr txBox="1"/>
          <p:nvPr/>
        </p:nvSpPr>
        <p:spPr>
          <a:xfrm>
            <a:off x="5181599" y="655100"/>
            <a:ext cx="6602412" cy="5575012"/>
          </a:xfrm>
          <a:prstGeom prst="rect">
            <a:avLst/>
          </a:prstGeom>
          <a:noFill/>
        </p:spPr>
        <p:txBody>
          <a:bodyPr wrap="square" rtlCol="0">
            <a:noAutofit/>
          </a:bodyPr>
          <a:lstStyle/>
          <a:p>
            <a:pPr marL="514350" indent="-514350">
              <a:buFont typeface="+mj-lt"/>
              <a:buAutoNum type="arabicPeriod" startAt="4"/>
            </a:pPr>
            <a:r>
              <a:rPr lang="en-US" sz="3200" dirty="0">
                <a:latin typeface="Times New Roman" panose="02020603050405020304" pitchFamily="18" charset="0"/>
                <a:ea typeface="PMingLiU" panose="02020500000000000000" pitchFamily="18" charset="-120"/>
                <a:cs typeface="Times New Roman" panose="02020603050405020304" pitchFamily="18" charset="0"/>
              </a:rPr>
              <a:t>Not all situations allow for moral deliberation</a:t>
            </a:r>
          </a:p>
          <a:p>
            <a:pPr marL="514350" indent="-514350">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Two levels of moral thought</a:t>
            </a:r>
          </a:p>
          <a:p>
            <a:pPr marL="971550" lvl="1" indent="-514350">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Intuitive level</a:t>
            </a:r>
          </a:p>
          <a:p>
            <a:pPr marL="1428750" lvl="2" indent="-514350">
              <a:buFont typeface="Arial" panose="020B0604020202020204" pitchFamily="34" charset="0"/>
              <a:buChar char="•"/>
            </a:pPr>
            <a:r>
              <a:rPr lang="en-GB" sz="2800" dirty="0">
                <a:latin typeface="Times New Roman" panose="02020603050405020304" pitchFamily="18" charset="0"/>
                <a:ea typeface="PMingLiU" panose="02020500000000000000" pitchFamily="18" charset="-120"/>
                <a:cs typeface="Times New Roman" panose="02020603050405020304" pitchFamily="18" charset="0"/>
              </a:rPr>
              <a:t>Proceeds according to moral rules that we learn early on</a:t>
            </a:r>
            <a:endParaRPr lang="en-US" sz="2800" dirty="0">
              <a:latin typeface="Times New Roman" panose="02020603050405020304" pitchFamily="18" charset="0"/>
              <a:ea typeface="PMingLiU" panose="02020500000000000000" pitchFamily="18" charset="-120"/>
              <a:cs typeface="Times New Roman" panose="02020603050405020304" pitchFamily="18" charset="0"/>
            </a:endParaRPr>
          </a:p>
          <a:p>
            <a:pPr marL="971550" lvl="1" indent="-514350">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Critical level</a:t>
            </a:r>
          </a:p>
          <a:p>
            <a:pPr marL="1428750" lvl="2" indent="-514350">
              <a:buFont typeface="Arial" panose="020B0604020202020204" pitchFamily="34" charset="0"/>
              <a:buChar char="•"/>
            </a:pPr>
            <a:r>
              <a:rPr lang="en-GB" sz="2800" dirty="0">
                <a:latin typeface="Times New Roman" panose="02020603050405020304" pitchFamily="18" charset="0"/>
                <a:ea typeface="PMingLiU" panose="02020500000000000000" pitchFamily="18" charset="-120"/>
                <a:cs typeface="Times New Roman" panose="02020603050405020304" pitchFamily="18" charset="0"/>
              </a:rPr>
              <a:t>Ordinary moral rules come into conflict and we must deliberate about what to do</a:t>
            </a:r>
            <a:endParaRPr lang="en-US" sz="28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1819A16-35E5-97A0-38A7-A3EEDEC75DF6}"/>
              </a:ext>
            </a:extLst>
          </p:cNvPr>
          <p:cNvSpPr>
            <a:spLocks noGrp="1"/>
          </p:cNvSpPr>
          <p:nvPr>
            <p:ph type="sldNum" sz="quarter" idx="12"/>
          </p:nvPr>
        </p:nvSpPr>
        <p:spPr/>
        <p:txBody>
          <a:bodyPr rtlCol="0"/>
          <a:lstStyle/>
          <a:p>
            <a:pPr rtl="0"/>
            <a:fld id="{13D2E340-0663-474B-992C-9192B5C45E57}" type="slidenum">
              <a:rPr lang="en-GB" smtClean="0"/>
              <a:t>32</a:t>
            </a:fld>
            <a:endParaRPr lang="en-GB"/>
          </a:p>
        </p:txBody>
      </p:sp>
      <p:sp>
        <p:nvSpPr>
          <p:cNvPr id="2" name="Title 1">
            <a:extLst>
              <a:ext uri="{FF2B5EF4-FFF2-40B4-BE49-F238E27FC236}">
                <a16:creationId xmlns:a16="http://schemas.microsoft.com/office/drawing/2014/main" id="{04D12CAD-CB8F-CF7A-11C6-47D1EA8B074A}"/>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000" b="1" dirty="0"/>
              <a:t>Constraints</a:t>
            </a:r>
            <a:endParaRPr lang="en-GB" sz="4000" dirty="0"/>
          </a:p>
        </p:txBody>
      </p:sp>
    </p:spTree>
    <p:extLst>
      <p:ext uri="{BB962C8B-B14F-4D97-AF65-F5344CB8AC3E}">
        <p14:creationId xmlns:p14="http://schemas.microsoft.com/office/powerpoint/2010/main" val="1356516776"/>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1209485_TF45175639_Win32" id="{DA3BC7EA-B985-431E-917E-E4426AC6D1A1}" vid="{18535A56-0AAF-4A35-94B1-1693062433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Biography presentation</Template>
  <TotalTime>5129</TotalTime>
  <Words>2192</Words>
  <Application>Microsoft Office PowerPoint</Application>
  <PresentationFormat>Widescreen</PresentationFormat>
  <Paragraphs>256</Paragraphs>
  <Slides>32</Slides>
  <Notes>32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Arial</vt:lpstr>
      <vt:lpstr>Calibri</vt:lpstr>
      <vt:lpstr>Cambria Math</vt:lpstr>
      <vt:lpstr>Century Schoolbook</vt:lpstr>
      <vt:lpstr>Corbel</vt:lpstr>
      <vt:lpstr>Times New Roman</vt:lpstr>
      <vt:lpstr>Headlines</vt:lpstr>
      <vt:lpstr>HUMA2921 Ethical Theories and Contemporary Issues</vt:lpstr>
      <vt:lpstr>Consequentialism</vt:lpstr>
      <vt:lpstr>Classical Utilitarianism</vt:lpstr>
      <vt:lpstr>Utility</vt:lpstr>
      <vt:lpstr>Theory of Right Conduct</vt:lpstr>
      <vt:lpstr>Generic Principle of Utility</vt:lpstr>
      <vt:lpstr>Hedonistic Utilitarianism</vt:lpstr>
      <vt:lpstr>Hedonistic Utilitarianism</vt:lpstr>
      <vt:lpstr>Bentham’s Felicific Calculus</vt:lpstr>
      <vt:lpstr>Mill’s Utilitarianism</vt:lpstr>
      <vt:lpstr>Mill’s Utilitarianism</vt:lpstr>
      <vt:lpstr>Two Objections to Qualitative Hedonism </vt:lpstr>
      <vt:lpstr>Two Objections to Qualitative Hedonism </vt:lpstr>
      <vt:lpstr>Mill’s “Proof”</vt:lpstr>
      <vt:lpstr>Mill’s “Proof”</vt:lpstr>
      <vt:lpstr>PowerPoint Presentation</vt:lpstr>
      <vt:lpstr>Mill’s “Proof”</vt:lpstr>
      <vt:lpstr>PowerPoint Presentation</vt:lpstr>
      <vt:lpstr>Diagnosing Mill’s “Proof”</vt:lpstr>
      <vt:lpstr>PowerPoint Presentation</vt:lpstr>
      <vt:lpstr>Practical Objections</vt:lpstr>
      <vt:lpstr>PowerPoint Presentation</vt:lpstr>
      <vt:lpstr>Actual vs Expected Consequences Utilitarianism</vt:lpstr>
      <vt:lpstr>PowerPoint Presentation</vt:lpstr>
      <vt:lpstr>Actual vs Expected Consequences Utilitarianism</vt:lpstr>
      <vt:lpstr>PowerPoint Presentation</vt:lpstr>
      <vt:lpstr>Subjective vs Objective Rightness of Actions </vt:lpstr>
      <vt:lpstr>PowerPoint Presentation</vt:lpstr>
      <vt:lpstr>Constraints</vt:lpstr>
      <vt:lpstr>PowerPoint Presentation</vt:lpstr>
      <vt:lpstr>Constraints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Leibnizian Legacy in Fichte’s Grundlage der gesamten Wissenschaftslehre</dc:title>
  <dc:creator>Plato Tse</dc:creator>
  <cp:lastModifiedBy>Plato Tse</cp:lastModifiedBy>
  <cp:revision>82</cp:revision>
  <dcterms:created xsi:type="dcterms:W3CDTF">2024-11-29T15:39:14Z</dcterms:created>
  <dcterms:modified xsi:type="dcterms:W3CDTF">2026-03-17T03:29:15Z</dcterms:modified>
</cp:coreProperties>
</file>