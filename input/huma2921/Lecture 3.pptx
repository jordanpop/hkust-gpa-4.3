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32"/>
  </p:notesMasterIdLst>
  <p:handoutMasterIdLst>
    <p:handoutMasterId r:id="rId33"/>
  </p:handoutMasterIdLst>
  <p:sldIdLst>
    <p:sldId id="256" r:id="rId2"/>
    <p:sldId id="279" r:id="rId3"/>
    <p:sldId id="280" r:id="rId4"/>
    <p:sldId id="257" r:id="rId5"/>
    <p:sldId id="263" r:id="rId6"/>
    <p:sldId id="281" r:id="rId7"/>
    <p:sldId id="283" r:id="rId8"/>
    <p:sldId id="284" r:id="rId9"/>
    <p:sldId id="282" r:id="rId10"/>
    <p:sldId id="269" r:id="rId11"/>
    <p:sldId id="267" r:id="rId12"/>
    <p:sldId id="276" r:id="rId13"/>
    <p:sldId id="285" r:id="rId14"/>
    <p:sldId id="278" r:id="rId15"/>
    <p:sldId id="271" r:id="rId16"/>
    <p:sldId id="270" r:id="rId17"/>
    <p:sldId id="287"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84F31A-E916-402D-9232-0E83CE7A1135}" v="49" dt="2025-09-04T06:37:53.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7440" autoAdjust="0"/>
  </p:normalViewPr>
  <p:slideViewPr>
    <p:cSldViewPr snapToGrid="0">
      <p:cViewPr varScale="1">
        <p:scale>
          <a:sx n="43" d="100"/>
          <a:sy n="43" d="100"/>
        </p:scale>
        <p:origin x="68" y="768"/>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174202-076D-4FCC-BB1F-880F8A848A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5FAD0C0A-72EF-4EA2-8D6C-4938445A1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C6063AB-68DD-4467-B9F3-CFD39EF31317}" type="datetime1">
              <a:rPr lang="en-GB" smtClean="0"/>
              <a:t>24/02/2026</a:t>
            </a:fld>
            <a:endParaRPr lang="en-GB"/>
          </a:p>
        </p:txBody>
      </p:sp>
      <p:sp>
        <p:nvSpPr>
          <p:cNvPr id="4" name="Footer Placeholder 3">
            <a:extLst>
              <a:ext uri="{FF2B5EF4-FFF2-40B4-BE49-F238E27FC236}">
                <a16:creationId xmlns:a16="http://schemas.microsoft.com/office/drawing/2014/main" id="{58AB2131-4249-4045-A9F7-9BE0F73F0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72180F18-DB0C-473D-93EA-5E50BE9DE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F20474-88D6-46C9-AFA3-1C3CCC241887}" type="slidenum">
              <a:rPr lang="en-GB" smtClean="0"/>
              <a:t>‹#›</a:t>
            </a:fld>
            <a:endParaRPr lang="en-GB"/>
          </a:p>
        </p:txBody>
      </p:sp>
    </p:spTree>
    <p:extLst>
      <p:ext uri="{BB962C8B-B14F-4D97-AF65-F5344CB8AC3E}">
        <p14:creationId xmlns:p14="http://schemas.microsoft.com/office/powerpoint/2010/main" val="48219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17B0F02-3072-4C07-8D39-FB97D9D5FCA2}" type="datetime1">
              <a:rPr lang="en-GB" noProof="0" smtClean="0"/>
              <a:t>23/02/2026</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B68C18-1BF1-F447-95ED-60EAAE35426E}" type="slidenum">
              <a:rPr lang="en-GB" noProof="0" smtClean="0"/>
              <a:t>‹#›</a:t>
            </a:fld>
            <a:endParaRPr lang="en-GB" noProof="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a:t>
            </a:fld>
            <a:endParaRPr lang="en-GB"/>
          </a:p>
        </p:txBody>
      </p:sp>
    </p:spTree>
    <p:extLst>
      <p:ext uri="{BB962C8B-B14F-4D97-AF65-F5344CB8AC3E}">
        <p14:creationId xmlns:p14="http://schemas.microsoft.com/office/powerpoint/2010/main" val="423958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7612-D996-620F-D6F2-221667568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863-CADD-2793-FE8F-7EFCE8973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F3615-F3D4-E084-811B-5906A9DBC2A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6050B1B-98CF-FBD0-CBD3-89ED031E4A42}"/>
              </a:ext>
            </a:extLst>
          </p:cNvPr>
          <p:cNvSpPr>
            <a:spLocks noGrp="1"/>
          </p:cNvSpPr>
          <p:nvPr>
            <p:ph type="sldNum" sz="quarter" idx="5"/>
          </p:nvPr>
        </p:nvSpPr>
        <p:spPr/>
        <p:txBody>
          <a:bodyPr rtlCol="0"/>
          <a:lstStyle/>
          <a:p>
            <a:pPr rtl="0"/>
            <a:fld id="{68B68C18-1BF1-F447-95ED-60EAAE35426E}" type="slidenum">
              <a:rPr lang="en-GB" smtClean="0"/>
              <a:t>2</a:t>
            </a:fld>
            <a:endParaRPr lang="en-GB"/>
          </a:p>
        </p:txBody>
      </p:sp>
    </p:spTree>
    <p:extLst>
      <p:ext uri="{BB962C8B-B14F-4D97-AF65-F5344CB8AC3E}">
        <p14:creationId xmlns:p14="http://schemas.microsoft.com/office/powerpoint/2010/main" val="103427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4814-724B-ACCB-9AEF-3DCE9EFC7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1E334-FAD2-5B2D-5964-C53593EE4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1417E-FDEA-EC2A-E135-4BF7E4C13454}"/>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D15ECA9C-4B42-097B-8782-3AF0768558B2}"/>
              </a:ext>
            </a:extLst>
          </p:cNvPr>
          <p:cNvSpPr>
            <a:spLocks noGrp="1"/>
          </p:cNvSpPr>
          <p:nvPr>
            <p:ph type="sldNum" sz="quarter" idx="5"/>
          </p:nvPr>
        </p:nvSpPr>
        <p:spPr/>
        <p:txBody>
          <a:bodyPr rtlCol="0"/>
          <a:lstStyle/>
          <a:p>
            <a:pPr rtl="0"/>
            <a:fld id="{68B68C18-1BF1-F447-95ED-60EAAE35426E}" type="slidenum">
              <a:rPr lang="en-GB" smtClean="0"/>
              <a:t>3</a:t>
            </a:fld>
            <a:endParaRPr lang="en-GB"/>
          </a:p>
        </p:txBody>
      </p:sp>
    </p:spTree>
    <p:extLst>
      <p:ext uri="{BB962C8B-B14F-4D97-AF65-F5344CB8AC3E}">
        <p14:creationId xmlns:p14="http://schemas.microsoft.com/office/powerpoint/2010/main" val="67046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4</a:t>
            </a:fld>
            <a:endParaRPr lang="en-GB"/>
          </a:p>
        </p:txBody>
      </p:sp>
    </p:spTree>
    <p:extLst>
      <p:ext uri="{BB962C8B-B14F-4D97-AF65-F5344CB8AC3E}">
        <p14:creationId xmlns:p14="http://schemas.microsoft.com/office/powerpoint/2010/main" val="816922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5</a:t>
            </a:fld>
            <a:endParaRPr lang="en-GB"/>
          </a:p>
        </p:txBody>
      </p:sp>
    </p:spTree>
    <p:extLst>
      <p:ext uri="{BB962C8B-B14F-4D97-AF65-F5344CB8AC3E}">
        <p14:creationId xmlns:p14="http://schemas.microsoft.com/office/powerpoint/2010/main" val="1811415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385F-70FF-3FDC-8480-49891B8F1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2B1F4-77AB-6FA1-BE7B-8ED0E407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DABE8-2950-A539-718A-59E0D592D1F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770443B-9FD5-A744-8D8F-AFA6BCC6214E}"/>
              </a:ext>
            </a:extLst>
          </p:cNvPr>
          <p:cNvSpPr>
            <a:spLocks noGrp="1"/>
          </p:cNvSpPr>
          <p:nvPr>
            <p:ph type="sldNum" sz="quarter" idx="5"/>
          </p:nvPr>
        </p:nvSpPr>
        <p:spPr/>
        <p:txBody>
          <a:bodyPr rtlCol="0"/>
          <a:lstStyle/>
          <a:p>
            <a:pPr rtl="0"/>
            <a:fld id="{68B68C18-1BF1-F447-95ED-60EAAE35426E}" type="slidenum">
              <a:rPr lang="en-GB" smtClean="0"/>
              <a:t>6</a:t>
            </a:fld>
            <a:endParaRPr lang="en-GB"/>
          </a:p>
        </p:txBody>
      </p:sp>
    </p:spTree>
    <p:extLst>
      <p:ext uri="{BB962C8B-B14F-4D97-AF65-F5344CB8AC3E}">
        <p14:creationId xmlns:p14="http://schemas.microsoft.com/office/powerpoint/2010/main" val="301266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7</a:t>
            </a:fld>
            <a:endParaRPr lang="en-GB"/>
          </a:p>
        </p:txBody>
      </p:sp>
    </p:spTree>
    <p:extLst>
      <p:ext uri="{BB962C8B-B14F-4D97-AF65-F5344CB8AC3E}">
        <p14:creationId xmlns:p14="http://schemas.microsoft.com/office/powerpoint/2010/main" val="13377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EFB8-4858-5B8A-44E1-036090FF5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FD80D-6709-309F-89C4-21AB33C53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EF356-9ECC-92E4-4CD1-94338AE784D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CF82A8A-A479-741A-9F6B-F5B66A4FC661}"/>
              </a:ext>
            </a:extLst>
          </p:cNvPr>
          <p:cNvSpPr>
            <a:spLocks noGrp="1"/>
          </p:cNvSpPr>
          <p:nvPr>
            <p:ph type="sldNum" sz="quarter" idx="5"/>
          </p:nvPr>
        </p:nvSpPr>
        <p:spPr/>
        <p:txBody>
          <a:bodyPr rtlCol="0"/>
          <a:lstStyle/>
          <a:p>
            <a:pPr rtl="0"/>
            <a:fld id="{68B68C18-1BF1-F447-95ED-60EAAE35426E}" type="slidenum">
              <a:rPr lang="en-GB" smtClean="0"/>
              <a:t>8</a:t>
            </a:fld>
            <a:endParaRPr lang="en-GB"/>
          </a:p>
        </p:txBody>
      </p:sp>
    </p:spTree>
    <p:extLst>
      <p:ext uri="{BB962C8B-B14F-4D97-AF65-F5344CB8AC3E}">
        <p14:creationId xmlns:p14="http://schemas.microsoft.com/office/powerpoint/2010/main" val="921003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3A63-ED74-CC7F-B332-4F37188A8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5BC19-66F5-B809-4BB5-EAE898237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9E1D3-5F3B-2B2E-8F9E-04A3A68DDA4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B0653B2-1BA0-62D7-F969-C90AD3D00275}"/>
              </a:ext>
            </a:extLst>
          </p:cNvPr>
          <p:cNvSpPr>
            <a:spLocks noGrp="1"/>
          </p:cNvSpPr>
          <p:nvPr>
            <p:ph type="sldNum" sz="quarter" idx="5"/>
          </p:nvPr>
        </p:nvSpPr>
        <p:spPr/>
        <p:txBody>
          <a:bodyPr rtlCol="0"/>
          <a:lstStyle/>
          <a:p>
            <a:pPr rtl="0"/>
            <a:fld id="{68B68C18-1BF1-F447-95ED-60EAAE35426E}" type="slidenum">
              <a:rPr lang="en-GB" smtClean="0"/>
              <a:t>9</a:t>
            </a:fld>
            <a:endParaRPr lang="en-GB"/>
          </a:p>
        </p:txBody>
      </p:sp>
    </p:spTree>
    <p:extLst>
      <p:ext uri="{BB962C8B-B14F-4D97-AF65-F5344CB8AC3E}">
        <p14:creationId xmlns:p14="http://schemas.microsoft.com/office/powerpoint/2010/main" val="4261007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10</a:t>
            </a:fld>
            <a:endParaRPr lang="en-GB"/>
          </a:p>
        </p:txBody>
      </p:sp>
    </p:spTree>
    <p:extLst>
      <p:ext uri="{BB962C8B-B14F-4D97-AF65-F5344CB8AC3E}">
        <p14:creationId xmlns:p14="http://schemas.microsoft.com/office/powerpoint/2010/main" val="1263412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11</a:t>
            </a:fld>
            <a:endParaRPr lang="en-GB"/>
          </a:p>
        </p:txBody>
      </p:sp>
    </p:spTree>
    <p:extLst>
      <p:ext uri="{BB962C8B-B14F-4D97-AF65-F5344CB8AC3E}">
        <p14:creationId xmlns:p14="http://schemas.microsoft.com/office/powerpoint/2010/main" val="2456630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0BE2D-C774-8215-6A35-B346467F0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F4BC-1B1A-C730-DB0C-D7E62A04F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44EDF-6DEC-EA00-F476-E7323E573EF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E4E3EA4-87AD-7070-22C2-0E42169041A8}"/>
              </a:ext>
            </a:extLst>
          </p:cNvPr>
          <p:cNvSpPr>
            <a:spLocks noGrp="1"/>
          </p:cNvSpPr>
          <p:nvPr>
            <p:ph type="sldNum" sz="quarter" idx="5"/>
          </p:nvPr>
        </p:nvSpPr>
        <p:spPr/>
        <p:txBody>
          <a:bodyPr rtlCol="0"/>
          <a:lstStyle/>
          <a:p>
            <a:pPr rtl="0"/>
            <a:fld id="{68B68C18-1BF1-F447-95ED-60EAAE35426E}" type="slidenum">
              <a:rPr lang="en-GB" smtClean="0"/>
              <a:t>12</a:t>
            </a:fld>
            <a:endParaRPr lang="en-GB"/>
          </a:p>
        </p:txBody>
      </p:sp>
    </p:spTree>
    <p:extLst>
      <p:ext uri="{BB962C8B-B14F-4D97-AF65-F5344CB8AC3E}">
        <p14:creationId xmlns:p14="http://schemas.microsoft.com/office/powerpoint/2010/main" val="388401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0FB2-32E7-C5FB-949A-83E73F882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B8FA-315B-66B9-F9A7-E0E7911E6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90DC3-67E5-8129-48D0-A8CDF7D0DF0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83E071D-CE6F-5E7E-59BD-912865749777}"/>
              </a:ext>
            </a:extLst>
          </p:cNvPr>
          <p:cNvSpPr>
            <a:spLocks noGrp="1"/>
          </p:cNvSpPr>
          <p:nvPr>
            <p:ph type="sldNum" sz="quarter" idx="5"/>
          </p:nvPr>
        </p:nvSpPr>
        <p:spPr/>
        <p:txBody>
          <a:bodyPr rtlCol="0"/>
          <a:lstStyle/>
          <a:p>
            <a:pPr rtl="0"/>
            <a:fld id="{68B68C18-1BF1-F447-95ED-60EAAE35426E}" type="slidenum">
              <a:rPr lang="en-GB" smtClean="0"/>
              <a:t>13</a:t>
            </a:fld>
            <a:endParaRPr lang="en-GB"/>
          </a:p>
        </p:txBody>
      </p:sp>
    </p:spTree>
    <p:extLst>
      <p:ext uri="{BB962C8B-B14F-4D97-AF65-F5344CB8AC3E}">
        <p14:creationId xmlns:p14="http://schemas.microsoft.com/office/powerpoint/2010/main" val="2816678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EB30-2EFC-D903-5CC4-5B12BB560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28E68-5B4B-1AB7-C987-3929D04E5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49292-1CB6-BD46-6484-38BD6B2BDC11}"/>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14A86759-0037-53B1-2E4B-56CCF080BD24}"/>
              </a:ext>
            </a:extLst>
          </p:cNvPr>
          <p:cNvSpPr>
            <a:spLocks noGrp="1"/>
          </p:cNvSpPr>
          <p:nvPr>
            <p:ph type="sldNum" sz="quarter" idx="5"/>
          </p:nvPr>
        </p:nvSpPr>
        <p:spPr/>
        <p:txBody>
          <a:bodyPr rtlCol="0"/>
          <a:lstStyle/>
          <a:p>
            <a:pPr rtl="0"/>
            <a:fld id="{68B68C18-1BF1-F447-95ED-60EAAE35426E}" type="slidenum">
              <a:rPr lang="en-GB" smtClean="0"/>
              <a:t>14</a:t>
            </a:fld>
            <a:endParaRPr lang="en-GB"/>
          </a:p>
        </p:txBody>
      </p:sp>
    </p:spTree>
    <p:extLst>
      <p:ext uri="{BB962C8B-B14F-4D97-AF65-F5344CB8AC3E}">
        <p14:creationId xmlns:p14="http://schemas.microsoft.com/office/powerpoint/2010/main" val="56324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15</a:t>
            </a:fld>
            <a:endParaRPr lang="en-GB"/>
          </a:p>
        </p:txBody>
      </p:sp>
    </p:spTree>
    <p:extLst>
      <p:ext uri="{BB962C8B-B14F-4D97-AF65-F5344CB8AC3E}">
        <p14:creationId xmlns:p14="http://schemas.microsoft.com/office/powerpoint/2010/main" val="2422605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16</a:t>
            </a:fld>
            <a:endParaRPr lang="en-GB"/>
          </a:p>
        </p:txBody>
      </p:sp>
    </p:spTree>
    <p:extLst>
      <p:ext uri="{BB962C8B-B14F-4D97-AF65-F5344CB8AC3E}">
        <p14:creationId xmlns:p14="http://schemas.microsoft.com/office/powerpoint/2010/main" val="2834362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82476-5AB4-0D42-0723-7CD61BFCC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F12E3-1B42-F8B1-B0B9-08E52E7CC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4ABF9-863B-3E10-A796-8E6BA23FC36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05800E1-9757-789B-1975-831670101F06}"/>
              </a:ext>
            </a:extLst>
          </p:cNvPr>
          <p:cNvSpPr>
            <a:spLocks noGrp="1"/>
          </p:cNvSpPr>
          <p:nvPr>
            <p:ph type="sldNum" sz="quarter" idx="5"/>
          </p:nvPr>
        </p:nvSpPr>
        <p:spPr/>
        <p:txBody>
          <a:bodyPr rtlCol="0"/>
          <a:lstStyle/>
          <a:p>
            <a:pPr rtl="0"/>
            <a:fld id="{68B68C18-1BF1-F447-95ED-60EAAE35426E}" type="slidenum">
              <a:rPr lang="en-GB" smtClean="0"/>
              <a:t>17</a:t>
            </a:fld>
            <a:endParaRPr lang="en-GB"/>
          </a:p>
        </p:txBody>
      </p:sp>
    </p:spTree>
    <p:extLst>
      <p:ext uri="{BB962C8B-B14F-4D97-AF65-F5344CB8AC3E}">
        <p14:creationId xmlns:p14="http://schemas.microsoft.com/office/powerpoint/2010/main" val="3234279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EF8F-3B32-9324-51FC-3A917E3D8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FD296-0AB2-829E-2DB2-2F7EB8E84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70744-1B04-56E1-A722-E64553FBD58E}"/>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E8F8644-A99A-3E73-2B53-E0C958E3183B}"/>
              </a:ext>
            </a:extLst>
          </p:cNvPr>
          <p:cNvSpPr>
            <a:spLocks noGrp="1"/>
          </p:cNvSpPr>
          <p:nvPr>
            <p:ph type="sldNum" sz="quarter" idx="5"/>
          </p:nvPr>
        </p:nvSpPr>
        <p:spPr/>
        <p:txBody>
          <a:bodyPr rtlCol="0"/>
          <a:lstStyle/>
          <a:p>
            <a:pPr rtl="0"/>
            <a:fld id="{68B68C18-1BF1-F447-95ED-60EAAE35426E}" type="slidenum">
              <a:rPr lang="en-GB" smtClean="0"/>
              <a:t>18</a:t>
            </a:fld>
            <a:endParaRPr lang="en-GB"/>
          </a:p>
        </p:txBody>
      </p:sp>
    </p:spTree>
    <p:extLst>
      <p:ext uri="{BB962C8B-B14F-4D97-AF65-F5344CB8AC3E}">
        <p14:creationId xmlns:p14="http://schemas.microsoft.com/office/powerpoint/2010/main" val="982088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6C549-A7F9-04FE-4CCB-DEA305013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42B89-A7E2-8F76-0CA8-70CEA771E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2183E-DB4A-6971-9A49-F375E0D7B25C}"/>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59876BA-F1E8-1C30-D4F5-90BFE5085401}"/>
              </a:ext>
            </a:extLst>
          </p:cNvPr>
          <p:cNvSpPr>
            <a:spLocks noGrp="1"/>
          </p:cNvSpPr>
          <p:nvPr>
            <p:ph type="sldNum" sz="quarter" idx="5"/>
          </p:nvPr>
        </p:nvSpPr>
        <p:spPr/>
        <p:txBody>
          <a:bodyPr rtlCol="0"/>
          <a:lstStyle/>
          <a:p>
            <a:pPr rtl="0"/>
            <a:fld id="{68B68C18-1BF1-F447-95ED-60EAAE35426E}" type="slidenum">
              <a:rPr lang="en-GB" smtClean="0"/>
              <a:t>19</a:t>
            </a:fld>
            <a:endParaRPr lang="en-GB"/>
          </a:p>
        </p:txBody>
      </p:sp>
    </p:spTree>
    <p:extLst>
      <p:ext uri="{BB962C8B-B14F-4D97-AF65-F5344CB8AC3E}">
        <p14:creationId xmlns:p14="http://schemas.microsoft.com/office/powerpoint/2010/main" val="2275579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7ACA-64F9-D28A-08B6-CB985DDA8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4A179-5144-5F30-5569-0F7D439F5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FA636-A0BB-4A96-1738-C0439A0E7C22}"/>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D985364D-9E92-B4F6-96AA-BC7EA4CEE9FE}"/>
              </a:ext>
            </a:extLst>
          </p:cNvPr>
          <p:cNvSpPr>
            <a:spLocks noGrp="1"/>
          </p:cNvSpPr>
          <p:nvPr>
            <p:ph type="sldNum" sz="quarter" idx="5"/>
          </p:nvPr>
        </p:nvSpPr>
        <p:spPr/>
        <p:txBody>
          <a:bodyPr rtlCol="0"/>
          <a:lstStyle/>
          <a:p>
            <a:pPr rtl="0"/>
            <a:fld id="{68B68C18-1BF1-F447-95ED-60EAAE35426E}" type="slidenum">
              <a:rPr lang="en-GB" smtClean="0"/>
              <a:t>20</a:t>
            </a:fld>
            <a:endParaRPr lang="en-GB"/>
          </a:p>
        </p:txBody>
      </p:sp>
    </p:spTree>
    <p:extLst>
      <p:ext uri="{BB962C8B-B14F-4D97-AF65-F5344CB8AC3E}">
        <p14:creationId xmlns:p14="http://schemas.microsoft.com/office/powerpoint/2010/main" val="3264928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16154-95DF-5012-8589-2725E9BA10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E37AE2-EAF4-473A-3A05-BFB34BD6F0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F37316-F818-BF9D-050B-CDCDDA85FA23}"/>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CAB5B2F-506B-87D4-C868-B041D9586691}"/>
              </a:ext>
            </a:extLst>
          </p:cNvPr>
          <p:cNvSpPr>
            <a:spLocks noGrp="1"/>
          </p:cNvSpPr>
          <p:nvPr>
            <p:ph type="sldNum" sz="quarter" idx="5"/>
          </p:nvPr>
        </p:nvSpPr>
        <p:spPr/>
        <p:txBody>
          <a:bodyPr rtlCol="0"/>
          <a:lstStyle/>
          <a:p>
            <a:pPr rtl="0"/>
            <a:fld id="{68B68C18-1BF1-F447-95ED-60EAAE35426E}" type="slidenum">
              <a:rPr lang="en-GB" smtClean="0"/>
              <a:t>21</a:t>
            </a:fld>
            <a:endParaRPr lang="en-GB"/>
          </a:p>
        </p:txBody>
      </p:sp>
    </p:spTree>
    <p:extLst>
      <p:ext uri="{BB962C8B-B14F-4D97-AF65-F5344CB8AC3E}">
        <p14:creationId xmlns:p14="http://schemas.microsoft.com/office/powerpoint/2010/main" val="18946967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786FE-3E43-445E-C5D8-77A715727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78F82-53E4-32B6-8CE4-1C0C917FC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92A59-8CBB-FEA9-5D3E-3073549B7D1E}"/>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AF4F8E20-8FEA-2416-3534-629B185382FC}"/>
              </a:ext>
            </a:extLst>
          </p:cNvPr>
          <p:cNvSpPr>
            <a:spLocks noGrp="1"/>
          </p:cNvSpPr>
          <p:nvPr>
            <p:ph type="sldNum" sz="quarter" idx="5"/>
          </p:nvPr>
        </p:nvSpPr>
        <p:spPr/>
        <p:txBody>
          <a:bodyPr rtlCol="0"/>
          <a:lstStyle/>
          <a:p>
            <a:pPr rtl="0"/>
            <a:fld id="{68B68C18-1BF1-F447-95ED-60EAAE35426E}" type="slidenum">
              <a:rPr lang="en-GB" smtClean="0"/>
              <a:t>22</a:t>
            </a:fld>
            <a:endParaRPr lang="en-GB"/>
          </a:p>
        </p:txBody>
      </p:sp>
    </p:spTree>
    <p:extLst>
      <p:ext uri="{BB962C8B-B14F-4D97-AF65-F5344CB8AC3E}">
        <p14:creationId xmlns:p14="http://schemas.microsoft.com/office/powerpoint/2010/main" val="2612493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C2E7A-3AC9-FA4D-8D37-436FAF943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5D9A3-A8CF-AFB2-8212-E7C2E5C8A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FFB482-CDC0-E8DA-DE60-0864E22336FD}"/>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861A8948-1048-79F8-92B9-E5E50ADEF6E6}"/>
              </a:ext>
            </a:extLst>
          </p:cNvPr>
          <p:cNvSpPr>
            <a:spLocks noGrp="1"/>
          </p:cNvSpPr>
          <p:nvPr>
            <p:ph type="sldNum" sz="quarter" idx="5"/>
          </p:nvPr>
        </p:nvSpPr>
        <p:spPr/>
        <p:txBody>
          <a:bodyPr rtlCol="0"/>
          <a:lstStyle/>
          <a:p>
            <a:pPr rtl="0"/>
            <a:fld id="{68B68C18-1BF1-F447-95ED-60EAAE35426E}" type="slidenum">
              <a:rPr lang="en-GB" smtClean="0"/>
              <a:t>23</a:t>
            </a:fld>
            <a:endParaRPr lang="en-GB"/>
          </a:p>
        </p:txBody>
      </p:sp>
    </p:spTree>
    <p:extLst>
      <p:ext uri="{BB962C8B-B14F-4D97-AF65-F5344CB8AC3E}">
        <p14:creationId xmlns:p14="http://schemas.microsoft.com/office/powerpoint/2010/main" val="2242670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B54F0-C69A-7E1F-5FD4-0CFB445F5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2BF01-5EEB-68A9-44B5-76741F6E3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085D1-EAFE-7A35-C537-27CAC516B6E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4E50089D-0DD7-93CA-4E87-B98C9E7E5DA3}"/>
              </a:ext>
            </a:extLst>
          </p:cNvPr>
          <p:cNvSpPr>
            <a:spLocks noGrp="1"/>
          </p:cNvSpPr>
          <p:nvPr>
            <p:ph type="sldNum" sz="quarter" idx="5"/>
          </p:nvPr>
        </p:nvSpPr>
        <p:spPr/>
        <p:txBody>
          <a:bodyPr rtlCol="0"/>
          <a:lstStyle/>
          <a:p>
            <a:pPr rtl="0"/>
            <a:fld id="{68B68C18-1BF1-F447-95ED-60EAAE35426E}" type="slidenum">
              <a:rPr lang="en-GB" smtClean="0"/>
              <a:t>24</a:t>
            </a:fld>
            <a:endParaRPr lang="en-GB"/>
          </a:p>
        </p:txBody>
      </p:sp>
    </p:spTree>
    <p:extLst>
      <p:ext uri="{BB962C8B-B14F-4D97-AF65-F5344CB8AC3E}">
        <p14:creationId xmlns:p14="http://schemas.microsoft.com/office/powerpoint/2010/main" val="1359227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C4D8E-B500-015C-3640-93F261703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B6D16-134B-091A-1E73-5209756AA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D8DC65-3A06-CB07-4834-3D5DF2C013B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D3219E6-10AA-A4B2-BF0C-5BDDBD7078C7}"/>
              </a:ext>
            </a:extLst>
          </p:cNvPr>
          <p:cNvSpPr>
            <a:spLocks noGrp="1"/>
          </p:cNvSpPr>
          <p:nvPr>
            <p:ph type="sldNum" sz="quarter" idx="5"/>
          </p:nvPr>
        </p:nvSpPr>
        <p:spPr/>
        <p:txBody>
          <a:bodyPr rtlCol="0"/>
          <a:lstStyle/>
          <a:p>
            <a:pPr rtl="0"/>
            <a:fld id="{68B68C18-1BF1-F447-95ED-60EAAE35426E}" type="slidenum">
              <a:rPr lang="en-GB" smtClean="0"/>
              <a:t>25</a:t>
            </a:fld>
            <a:endParaRPr lang="en-GB"/>
          </a:p>
        </p:txBody>
      </p:sp>
    </p:spTree>
    <p:extLst>
      <p:ext uri="{BB962C8B-B14F-4D97-AF65-F5344CB8AC3E}">
        <p14:creationId xmlns:p14="http://schemas.microsoft.com/office/powerpoint/2010/main" val="1871817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357B7-40AC-A2D8-2384-91BC8D480B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68583-07CC-2198-AF10-009C6E426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36E055-5B2E-E3F9-A9E4-A1325BBE7313}"/>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72555ADB-BC47-1724-4548-B99A672E3D2C}"/>
              </a:ext>
            </a:extLst>
          </p:cNvPr>
          <p:cNvSpPr>
            <a:spLocks noGrp="1"/>
          </p:cNvSpPr>
          <p:nvPr>
            <p:ph type="sldNum" sz="quarter" idx="5"/>
          </p:nvPr>
        </p:nvSpPr>
        <p:spPr/>
        <p:txBody>
          <a:bodyPr rtlCol="0"/>
          <a:lstStyle/>
          <a:p>
            <a:pPr rtl="0"/>
            <a:fld id="{68B68C18-1BF1-F447-95ED-60EAAE35426E}" type="slidenum">
              <a:rPr lang="en-GB" smtClean="0"/>
              <a:t>26</a:t>
            </a:fld>
            <a:endParaRPr lang="en-GB"/>
          </a:p>
        </p:txBody>
      </p:sp>
    </p:spTree>
    <p:extLst>
      <p:ext uri="{BB962C8B-B14F-4D97-AF65-F5344CB8AC3E}">
        <p14:creationId xmlns:p14="http://schemas.microsoft.com/office/powerpoint/2010/main" val="42821048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DAF9D-889B-CC7D-ECBC-3E29C3377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1F652-BFB8-062D-64CE-0455E64BB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435CB-8939-50E0-E92B-943BB214E18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880C090F-654B-7A74-6798-C3A4C8D141C3}"/>
              </a:ext>
            </a:extLst>
          </p:cNvPr>
          <p:cNvSpPr>
            <a:spLocks noGrp="1"/>
          </p:cNvSpPr>
          <p:nvPr>
            <p:ph type="sldNum" sz="quarter" idx="5"/>
          </p:nvPr>
        </p:nvSpPr>
        <p:spPr/>
        <p:txBody>
          <a:bodyPr rtlCol="0"/>
          <a:lstStyle/>
          <a:p>
            <a:pPr rtl="0"/>
            <a:fld id="{68B68C18-1BF1-F447-95ED-60EAAE35426E}" type="slidenum">
              <a:rPr lang="en-GB" smtClean="0"/>
              <a:t>27</a:t>
            </a:fld>
            <a:endParaRPr lang="en-GB"/>
          </a:p>
        </p:txBody>
      </p:sp>
    </p:spTree>
    <p:extLst>
      <p:ext uri="{BB962C8B-B14F-4D97-AF65-F5344CB8AC3E}">
        <p14:creationId xmlns:p14="http://schemas.microsoft.com/office/powerpoint/2010/main" val="25084586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71290-8B8D-8BCD-E056-F40C20CFB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C73BC-534E-706D-2707-CB3F0B5ED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A744B-1B84-63AC-8730-7135B990ED73}"/>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63580D98-D284-0D8B-B53B-A00A21F93F83}"/>
              </a:ext>
            </a:extLst>
          </p:cNvPr>
          <p:cNvSpPr>
            <a:spLocks noGrp="1"/>
          </p:cNvSpPr>
          <p:nvPr>
            <p:ph type="sldNum" sz="quarter" idx="5"/>
          </p:nvPr>
        </p:nvSpPr>
        <p:spPr/>
        <p:txBody>
          <a:bodyPr rtlCol="0"/>
          <a:lstStyle/>
          <a:p>
            <a:pPr rtl="0"/>
            <a:fld id="{68B68C18-1BF1-F447-95ED-60EAAE35426E}" type="slidenum">
              <a:rPr lang="en-GB" smtClean="0"/>
              <a:t>28</a:t>
            </a:fld>
            <a:endParaRPr lang="en-GB"/>
          </a:p>
        </p:txBody>
      </p:sp>
    </p:spTree>
    <p:extLst>
      <p:ext uri="{BB962C8B-B14F-4D97-AF65-F5344CB8AC3E}">
        <p14:creationId xmlns:p14="http://schemas.microsoft.com/office/powerpoint/2010/main" val="27032015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CF084-F208-7EFC-591E-5541901A6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1814D-CDF2-9A7C-3A58-C8C78116A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544E6-7DCB-BBAE-F113-800829847C1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CA6E5C70-47FD-FEBC-E2DA-D12EC7B44A05}"/>
              </a:ext>
            </a:extLst>
          </p:cNvPr>
          <p:cNvSpPr>
            <a:spLocks noGrp="1"/>
          </p:cNvSpPr>
          <p:nvPr>
            <p:ph type="sldNum" sz="quarter" idx="5"/>
          </p:nvPr>
        </p:nvSpPr>
        <p:spPr/>
        <p:txBody>
          <a:bodyPr rtlCol="0"/>
          <a:lstStyle/>
          <a:p>
            <a:pPr rtl="0"/>
            <a:fld id="{68B68C18-1BF1-F447-95ED-60EAAE35426E}" type="slidenum">
              <a:rPr lang="en-GB" smtClean="0"/>
              <a:t>29</a:t>
            </a:fld>
            <a:endParaRPr lang="en-GB"/>
          </a:p>
        </p:txBody>
      </p:sp>
    </p:spTree>
    <p:extLst>
      <p:ext uri="{BB962C8B-B14F-4D97-AF65-F5344CB8AC3E}">
        <p14:creationId xmlns:p14="http://schemas.microsoft.com/office/powerpoint/2010/main" val="857012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A9FC4-A937-5175-BD18-62D776D17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6B600-D16D-EA05-6A3E-D0A83C3FC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94D27-8947-3C3D-0DC8-0CE130DCF3DA}"/>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05FBBA1B-0ACD-EA4A-4F95-D5AB94E80E4F}"/>
              </a:ext>
            </a:extLst>
          </p:cNvPr>
          <p:cNvSpPr>
            <a:spLocks noGrp="1"/>
          </p:cNvSpPr>
          <p:nvPr>
            <p:ph type="sldNum" sz="quarter" idx="5"/>
          </p:nvPr>
        </p:nvSpPr>
        <p:spPr/>
        <p:txBody>
          <a:bodyPr rtlCol="0"/>
          <a:lstStyle/>
          <a:p>
            <a:pPr rtl="0"/>
            <a:fld id="{68B68C18-1BF1-F447-95ED-60EAAE35426E}" type="slidenum">
              <a:rPr lang="en-GB" smtClean="0"/>
              <a:t>30</a:t>
            </a:fld>
            <a:endParaRPr lang="en-GB"/>
          </a:p>
        </p:txBody>
      </p:sp>
    </p:spTree>
    <p:extLst>
      <p:ext uri="{BB962C8B-B14F-4D97-AF65-F5344CB8AC3E}">
        <p14:creationId xmlns:p14="http://schemas.microsoft.com/office/powerpoint/2010/main" val="3538595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en-GB" noProof="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sp>
        <p:nvSpPr>
          <p:cNvPr id="3" name="Content Placeholder 2"/>
          <p:cNvSpPr>
            <a:spLocks noGrp="1"/>
          </p:cNvSpPr>
          <p:nvPr>
            <p:ph idx="1" hasCustomPrompt="1"/>
          </p:nvPr>
        </p:nvSpPr>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076178D-3F32-40F0-BDF4-CDEBDAACF6DF}"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p>
            <a:pPr rtl="0"/>
            <a:fld id="{77402A71-B2DA-4640-AFBC-A08F749C812D}"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4" name="Date Placeholder 3"/>
          <p:cNvSpPr>
            <a:spLocks noGrp="1"/>
          </p:cNvSpPr>
          <p:nvPr>
            <p:ph type="dt" sz="half" idx="10"/>
          </p:nvPr>
        </p:nvSpPr>
        <p:spPr/>
        <p:txBody>
          <a:bodyPr rtlCol="0"/>
          <a:lstStyle/>
          <a:p>
            <a:pPr rtl="0"/>
            <a:fld id="{03735262-5D60-41D9-A9B6-FF5E468F41DF}"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a:solidFill>
                  <a:schemeClr val="bg1"/>
                </a:solidFill>
                <a:latin typeface="+mj-lt"/>
              </a:defRPr>
            </a:lvl1pPr>
          </a:lstStyle>
          <a:p>
            <a:pPr lvl="0" rtl="0"/>
            <a:r>
              <a:rPr lang="en-GB"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ED3A9150-039F-4FB9-B8A2-F8F4040C0201}"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72DDA0E7-BF30-41B3-BA7F-0CB648457625}"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hasCustomPrompt="1"/>
          </p:nvPr>
        </p:nvSpPr>
        <p:spPr>
          <a:xfrm>
            <a:off x="762000" y="2831932"/>
            <a:ext cx="3833906" cy="1562638"/>
          </a:xfrm>
        </p:spPr>
        <p:txBody>
          <a:bodyPr rtlCol="0" anchor="b"/>
          <a:lstStyle>
            <a:lvl1pPr>
              <a:defRPr/>
            </a:lvl1pPr>
          </a:lstStyle>
          <a:p>
            <a:pPr rtl="0"/>
            <a:r>
              <a:rPr lang="en-GB" noProof="0"/>
              <a:t>Click to edit your title</a:t>
            </a:r>
          </a:p>
        </p:txBody>
      </p:sp>
      <p:sp>
        <p:nvSpPr>
          <p:cNvPr id="4" name="Date Placeholder 3"/>
          <p:cNvSpPr>
            <a:spLocks noGrp="1"/>
          </p:cNvSpPr>
          <p:nvPr>
            <p:ph type="dt" sz="half" idx="10"/>
          </p:nvPr>
        </p:nvSpPr>
        <p:spPr/>
        <p:txBody>
          <a:bodyPr rtlCol="0"/>
          <a:lstStyle/>
          <a:p>
            <a:pPr rtl="0"/>
            <a:fld id="{80F5BBF8-60EF-4A58-8AA1-0E5D107F711D}"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a:lvl1pPr>
          </a:lstStyle>
          <a:p>
            <a:pPr rtl="0"/>
            <a:r>
              <a:rPr lang="en-GB" noProof="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1C896760-A52A-4B0A-9FCE-F159B68F95D1}" type="datetime1">
              <a:rPr lang="en-GB" noProof="0" smtClean="0"/>
              <a:t>23/02/2026</a:t>
            </a:fld>
            <a:endParaRPr lang="en-GB" noProof="0"/>
          </a:p>
        </p:txBody>
      </p:sp>
      <p:sp>
        <p:nvSpPr>
          <p:cNvPr id="5" name="Footer Placeholder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en-GB" noProof="0"/>
          </a:p>
        </p:txBody>
      </p:sp>
      <p:sp>
        <p:nvSpPr>
          <p:cNvPr id="6" name="Slide Number Placeholder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n-GB" noProof="0" smtClean="0"/>
              <a:t>‹#›</a:t>
            </a:fld>
            <a:endParaRPr lang="en-GB" noProof="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DAB8D192-CAF1-4A2C-85C9-1EDA35A31CD8}"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114259A3-C037-4D15-8CC5-E62C0AAC312D}"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7"/>
            <a:ext cx="3833906" cy="5274923"/>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3591F197-EE82-41CF-B217-E65F4EC035C7}" type="datetime1">
              <a:rPr lang="en-GB" noProof="0" smtClean="0"/>
              <a:t>23/02/2026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181600" y="540628"/>
            <a:ext cx="6248400" cy="248894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5181600" y="3712467"/>
            <a:ext cx="6248400" cy="248222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5529CDE9-2DFB-42D0-9AF7-220768F44449}" type="datetime1">
              <a:rPr lang="en-GB" noProof="0" smtClean="0"/>
              <a:t>23/02/2026</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95259DA5-60B7-4DC7-997E-4ADDE1E2373F}" type="datetime1">
              <a:rPr lang="en-GB" noProof="0" smtClean="0"/>
              <a:t>23/02/2026</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7B74DD31-347E-4B54-B7FB-ECCF31FD43E0}" type="datetime1">
              <a:rPr lang="en-GB" noProof="0" smtClean="0"/>
              <a:t>23/02/2026</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D69DEBE6-9705-4629-B2E2-B813F3EFD0D0}" type="datetime1">
              <a:rPr lang="en-GB" noProof="0" smtClean="0"/>
              <a:t>23/02/2026</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pPr rtl="0"/>
            <a:fld id="{F887B716-D79C-4B40-B931-1D91F43C7E50}" type="datetime1">
              <a:rPr lang="en-GB" noProof="0" smtClean="0"/>
              <a:t>23/02/2026</a:t>
            </a:fld>
            <a:endParaRPr lang="en-GB" noProof="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pPr rtl="0"/>
            <a:endParaRPr lang="en-GB" noProof="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pPr rtl="0"/>
            <a:fld id="{13D2E340-0663-474B-992C-9192B5C45E57}" type="slidenum">
              <a:rPr lang="en-GB" noProof="0" smtClean="0"/>
              <a:t>‹#›</a:t>
            </a:fld>
            <a:endParaRPr lang="en-GB" noProof="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nthropedia.org/the-science-of-well-be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5747656" y="1264197"/>
            <a:ext cx="5776678" cy="4268965"/>
          </a:xfrm>
        </p:spPr>
        <p:txBody>
          <a:bodyPr rtlCol="0">
            <a:normAutofit/>
          </a:bodyPr>
          <a:lstStyle/>
          <a:p>
            <a:pPr rtl="0"/>
            <a:r>
              <a:rPr lang="en-GB" sz="4000" dirty="0">
                <a:solidFill>
                  <a:schemeClr val="tx1">
                    <a:lumMod val="85000"/>
                    <a:lumOff val="15000"/>
                  </a:schemeClr>
                </a:solidFill>
              </a:rPr>
              <a:t>HUMA2921</a:t>
            </a:r>
            <a:br>
              <a:rPr lang="en-GB" sz="4000" dirty="0">
                <a:solidFill>
                  <a:schemeClr val="tx1">
                    <a:lumMod val="85000"/>
                    <a:lumOff val="15000"/>
                  </a:schemeClr>
                </a:solidFill>
              </a:rPr>
            </a:br>
            <a:r>
              <a:rPr lang="en-GB" sz="4000" dirty="0">
                <a:solidFill>
                  <a:schemeClr val="tx1">
                    <a:lumMod val="85000"/>
                    <a:lumOff val="15000"/>
                  </a:schemeClr>
                </a:solidFill>
              </a:rPr>
              <a:t>Ethical Theories and Contemporary Issues</a:t>
            </a:r>
            <a:endParaRPr lang="en-GB" sz="5400" dirty="0">
              <a:solidFill>
                <a:schemeClr val="tx1">
                  <a:lumMod val="85000"/>
                  <a:lumOff val="15000"/>
                </a:schemeClr>
              </a:solidFill>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667666" y="3880237"/>
            <a:ext cx="4633806" cy="1862029"/>
          </a:xfrm>
        </p:spPr>
        <p:txBody>
          <a:bodyPr rtlCol="0"/>
          <a:lstStyle/>
          <a:p>
            <a:r>
              <a:rPr lang="en-US" sz="2800" dirty="0">
                <a:solidFill>
                  <a:schemeClr val="tx1">
                    <a:lumMod val="85000"/>
                    <a:lumOff val="15000"/>
                  </a:schemeClr>
                </a:solidFill>
              </a:rPr>
              <a:t>Prof. Plato Tse</a:t>
            </a:r>
          </a:p>
          <a:p>
            <a:r>
              <a:rPr lang="en-US" sz="2800" dirty="0">
                <a:solidFill>
                  <a:schemeClr val="tx1">
                    <a:lumMod val="85000"/>
                    <a:lumOff val="15000"/>
                  </a:schemeClr>
                </a:solidFill>
              </a:rPr>
              <a:t>NCCU &amp; HKUST</a:t>
            </a:r>
          </a:p>
        </p:txBody>
      </p:sp>
      <p:pic>
        <p:nvPicPr>
          <p:cNvPr id="8" name="Picture Placeholder 7" descr="A painting of a person holding a pole&#10;&#10;AI-generated content may be incorrect.">
            <a:extLst>
              <a:ext uri="{FF2B5EF4-FFF2-40B4-BE49-F238E27FC236}">
                <a16:creationId xmlns:a16="http://schemas.microsoft.com/office/drawing/2014/main" id="{BD5FA3F6-CA85-B6A3-1D00-424D54426976}"/>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a:stretch>
            <a:fillRect/>
          </a:stretch>
        </p:blipFill>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5D44-7BC4-72CB-A87D-4792E14CD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065B57-247B-FEF7-35BC-F85D1F59EC80}"/>
              </a:ext>
            </a:extLst>
          </p:cNvPr>
          <p:cNvSpPr>
            <a:spLocks noGrp="1"/>
          </p:cNvSpPr>
          <p:nvPr>
            <p:ph type="title"/>
          </p:nvPr>
        </p:nvSpPr>
        <p:spPr>
          <a:xfrm>
            <a:off x="304800" y="559678"/>
            <a:ext cx="4291106" cy="4952492"/>
          </a:xfrm>
        </p:spPr>
        <p:txBody>
          <a:bodyPr rtlCol="0"/>
          <a:lstStyle/>
          <a:p>
            <a:pPr rtl="0"/>
            <a:r>
              <a:rPr lang="en-US" dirty="0"/>
              <a:t>Moral Relativism</a:t>
            </a:r>
            <a:endParaRPr lang="en-GB" dirty="0"/>
          </a:p>
        </p:txBody>
      </p:sp>
      <p:sp>
        <p:nvSpPr>
          <p:cNvPr id="8" name="TextBox 7">
            <a:extLst>
              <a:ext uri="{FF2B5EF4-FFF2-40B4-BE49-F238E27FC236}">
                <a16:creationId xmlns:a16="http://schemas.microsoft.com/office/drawing/2014/main" id="{685B037A-5AD3-86F6-5942-22B3F7E933EF}"/>
              </a:ext>
            </a:extLst>
          </p:cNvPr>
          <p:cNvSpPr txBox="1"/>
          <p:nvPr/>
        </p:nvSpPr>
        <p:spPr>
          <a:xfrm>
            <a:off x="5181599" y="559677"/>
            <a:ext cx="6602412" cy="5681731"/>
          </a:xfrm>
          <a:prstGeom prst="rect">
            <a:avLst/>
          </a:prstGeom>
          <a:noFill/>
        </p:spPr>
        <p:txBody>
          <a:bodyPr wrap="square" rtlCol="0">
            <a:noAutofit/>
          </a:bodyPr>
          <a:lstStyle/>
          <a:p>
            <a:pPr algn="just"/>
            <a:r>
              <a:rPr lang="en-US" sz="3600" i="1" dirty="0">
                <a:latin typeface="Times New Roman" panose="02020603050405020304" pitchFamily="18" charset="0"/>
                <a:ea typeface="PMingLiU" panose="02020500000000000000" pitchFamily="18" charset="-120"/>
              </a:rPr>
              <a:t>Theory of Right Conduct</a:t>
            </a:r>
          </a:p>
          <a:p>
            <a:pPr marL="571500" indent="-5715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An action A, performed by a member of C, is </a:t>
            </a:r>
            <a:r>
              <a:rPr lang="en-GB" sz="2800" i="1" dirty="0">
                <a:latin typeface="Times New Roman" panose="02020603050405020304" pitchFamily="18" charset="0"/>
                <a:ea typeface="PMingLiU" panose="02020500000000000000" pitchFamily="18" charset="-120"/>
              </a:rPr>
              <a:t>obligatory</a:t>
            </a:r>
            <a:r>
              <a:rPr lang="en-GB" sz="2800" dirty="0">
                <a:latin typeface="Times New Roman" panose="02020603050405020304" pitchFamily="18" charset="0"/>
                <a:ea typeface="PMingLiU" panose="02020500000000000000" pitchFamily="18" charset="-120"/>
              </a:rPr>
              <a:t> </a:t>
            </a:r>
            <a:r>
              <a:rPr lang="en-GB" sz="2800" dirty="0" err="1">
                <a:latin typeface="Times New Roman" panose="02020603050405020304" pitchFamily="18" charset="0"/>
                <a:ea typeface="PMingLiU" panose="02020500000000000000" pitchFamily="18" charset="-120"/>
              </a:rPr>
              <a:t>iff</a:t>
            </a:r>
            <a:r>
              <a:rPr lang="en-GB" sz="2800" dirty="0">
                <a:latin typeface="Times New Roman" panose="02020603050405020304" pitchFamily="18" charset="0"/>
                <a:ea typeface="PMingLiU" panose="02020500000000000000" pitchFamily="18" charset="-120"/>
              </a:rPr>
              <a:t>, according to the basic moral norms of C, A is required.</a:t>
            </a:r>
          </a:p>
          <a:p>
            <a:pPr marL="571500" indent="-5715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An action A, performed by a member of C, is </a:t>
            </a:r>
            <a:r>
              <a:rPr lang="en-GB" sz="2800" i="1" dirty="0">
                <a:latin typeface="Times New Roman" panose="02020603050405020304" pitchFamily="18" charset="0"/>
                <a:ea typeface="PMingLiU" panose="02020500000000000000" pitchFamily="18" charset="-120"/>
              </a:rPr>
              <a:t>wrong</a:t>
            </a:r>
            <a:r>
              <a:rPr lang="en-GB" sz="2800" dirty="0">
                <a:latin typeface="Times New Roman" panose="02020603050405020304" pitchFamily="18" charset="0"/>
                <a:ea typeface="PMingLiU" panose="02020500000000000000" pitchFamily="18" charset="-120"/>
              </a:rPr>
              <a:t> </a:t>
            </a:r>
            <a:r>
              <a:rPr lang="en-GB" sz="2800" dirty="0" err="1">
                <a:latin typeface="Times New Roman" panose="02020603050405020304" pitchFamily="18" charset="0"/>
                <a:ea typeface="PMingLiU" panose="02020500000000000000" pitchFamily="18" charset="-120"/>
              </a:rPr>
              <a:t>iff</a:t>
            </a:r>
            <a:r>
              <a:rPr lang="en-GB" sz="2800" dirty="0">
                <a:latin typeface="Times New Roman" panose="02020603050405020304" pitchFamily="18" charset="0"/>
                <a:ea typeface="PMingLiU" panose="02020500000000000000" pitchFamily="18" charset="-120"/>
              </a:rPr>
              <a:t>, according to the basic moral norms of C, A is prohibited.</a:t>
            </a:r>
          </a:p>
          <a:p>
            <a:pPr marL="571500" indent="-5715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An action A, performed by a member of C, is </a:t>
            </a:r>
            <a:r>
              <a:rPr lang="en-GB" sz="2800" i="1" dirty="0">
                <a:latin typeface="Times New Roman" panose="02020603050405020304" pitchFamily="18" charset="0"/>
                <a:ea typeface="PMingLiU" panose="02020500000000000000" pitchFamily="18" charset="-120"/>
              </a:rPr>
              <a:t>optional</a:t>
            </a:r>
            <a:r>
              <a:rPr lang="en-GB" sz="2800" dirty="0">
                <a:latin typeface="Times New Roman" panose="02020603050405020304" pitchFamily="18" charset="0"/>
                <a:ea typeface="PMingLiU" panose="02020500000000000000" pitchFamily="18" charset="-120"/>
              </a:rPr>
              <a:t> </a:t>
            </a:r>
            <a:r>
              <a:rPr lang="en-GB" sz="2800" dirty="0" err="1">
                <a:latin typeface="Times New Roman" panose="02020603050405020304" pitchFamily="18" charset="0"/>
                <a:ea typeface="PMingLiU" panose="02020500000000000000" pitchFamily="18" charset="-120"/>
              </a:rPr>
              <a:t>iff</a:t>
            </a:r>
            <a:r>
              <a:rPr lang="en-GB" sz="2800" dirty="0">
                <a:latin typeface="Times New Roman" panose="02020603050405020304" pitchFamily="18" charset="0"/>
                <a:ea typeface="PMingLiU" panose="02020500000000000000" pitchFamily="18" charset="-120"/>
              </a:rPr>
              <a:t>, according to the moral norms of C, A is neither required nor prohibited.</a:t>
            </a:r>
          </a:p>
        </p:txBody>
      </p:sp>
      <p:sp>
        <p:nvSpPr>
          <p:cNvPr id="5" name="Slide Number Placeholder 4">
            <a:extLst>
              <a:ext uri="{FF2B5EF4-FFF2-40B4-BE49-F238E27FC236}">
                <a16:creationId xmlns:a16="http://schemas.microsoft.com/office/drawing/2014/main" id="{C665AFD4-B7AE-8BAF-6EB4-727A283BAF2D}"/>
              </a:ext>
            </a:extLst>
          </p:cNvPr>
          <p:cNvSpPr>
            <a:spLocks noGrp="1"/>
          </p:cNvSpPr>
          <p:nvPr>
            <p:ph type="sldNum" sz="quarter" idx="12"/>
          </p:nvPr>
        </p:nvSpPr>
        <p:spPr/>
        <p:txBody>
          <a:bodyPr rtlCol="0"/>
          <a:lstStyle/>
          <a:p>
            <a:pPr rtl="0"/>
            <a:fld id="{13D2E340-0663-474B-992C-9192B5C45E57}" type="slidenum">
              <a:rPr lang="en-GB" smtClean="0"/>
              <a:t>2</a:t>
            </a:fld>
            <a:endParaRPr lang="en-GB"/>
          </a:p>
        </p:txBody>
      </p:sp>
    </p:spTree>
    <p:extLst>
      <p:ext uri="{BB962C8B-B14F-4D97-AF65-F5344CB8AC3E}">
        <p14:creationId xmlns:p14="http://schemas.microsoft.com/office/powerpoint/2010/main" val="39748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E9BC-EFE7-8138-3BD0-F32624A8B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9CFFB-2C33-F99E-4D4B-B23ADBF5AB11}"/>
              </a:ext>
            </a:extLst>
          </p:cNvPr>
          <p:cNvSpPr>
            <a:spLocks noGrp="1"/>
          </p:cNvSpPr>
          <p:nvPr>
            <p:ph type="title"/>
          </p:nvPr>
        </p:nvSpPr>
        <p:spPr>
          <a:xfrm>
            <a:off x="478971" y="305053"/>
            <a:ext cx="4116935" cy="2480091"/>
          </a:xfrm>
        </p:spPr>
        <p:txBody>
          <a:bodyPr rtlCol="0">
            <a:noAutofit/>
          </a:bodyPr>
          <a:lstStyle/>
          <a:p>
            <a:r>
              <a:rPr lang="en-US" dirty="0"/>
              <a:t>Context Sensitivity Thesis</a:t>
            </a:r>
            <a:endParaRPr lang="en-GB" dirty="0"/>
          </a:p>
        </p:txBody>
      </p:sp>
      <p:sp>
        <p:nvSpPr>
          <p:cNvPr id="3" name="Slide Number Placeholder 2">
            <a:extLst>
              <a:ext uri="{FF2B5EF4-FFF2-40B4-BE49-F238E27FC236}">
                <a16:creationId xmlns:a16="http://schemas.microsoft.com/office/drawing/2014/main" id="{C047B17F-ECA2-8582-2E9E-41BF6476404F}"/>
              </a:ext>
            </a:extLst>
          </p:cNvPr>
          <p:cNvSpPr>
            <a:spLocks noGrp="1"/>
          </p:cNvSpPr>
          <p:nvPr>
            <p:ph type="sldNum" sz="quarter" idx="12"/>
          </p:nvPr>
        </p:nvSpPr>
        <p:spPr/>
        <p:txBody>
          <a:bodyPr rtlCol="0"/>
          <a:lstStyle/>
          <a:p>
            <a:pPr rtl="0"/>
            <a:fld id="{13D2E340-0663-474B-992C-9192B5C45E57}" type="slidenum">
              <a:rPr lang="en-GB" smtClean="0"/>
              <a:t>3</a:t>
            </a:fld>
            <a:endParaRPr lang="en-GB" dirty="0"/>
          </a:p>
        </p:txBody>
      </p:sp>
      <p:sp>
        <p:nvSpPr>
          <p:cNvPr id="13" name="TextBox 12">
            <a:extLst>
              <a:ext uri="{FF2B5EF4-FFF2-40B4-BE49-F238E27FC236}">
                <a16:creationId xmlns:a16="http://schemas.microsoft.com/office/drawing/2014/main" id="{B5C3795E-6FC3-81C9-9A90-042DF215BA4B}"/>
              </a:ext>
            </a:extLst>
          </p:cNvPr>
          <p:cNvSpPr txBox="1"/>
          <p:nvPr/>
        </p:nvSpPr>
        <p:spPr>
          <a:xfrm>
            <a:off x="5181599" y="305054"/>
            <a:ext cx="6602412" cy="4952492"/>
          </a:xfrm>
          <a:prstGeom prst="rect">
            <a:avLst/>
          </a:prstGeom>
          <a:noFill/>
        </p:spPr>
        <p:txBody>
          <a:bodyPr wrap="square" rtlCol="0">
            <a:noAutofit/>
          </a:bodyPr>
          <a:lstStyle/>
          <a:p>
            <a:pPr marL="457200" indent="-457200" algn="just" rtl="0">
              <a:buFont typeface="Arial" panose="020B0604020202020204" pitchFamily="34" charset="0"/>
              <a:buChar char="•"/>
            </a:pPr>
            <a:r>
              <a:rPr lang="en-US" sz="3200" i="1" dirty="0">
                <a:latin typeface="Times New Roman" panose="02020603050405020304" pitchFamily="18" charset="0"/>
                <a:ea typeface="PMingLiU" panose="02020500000000000000" pitchFamily="18" charset="-120"/>
              </a:rPr>
              <a:t>MR: </a:t>
            </a:r>
            <a:r>
              <a:rPr lang="en-GB" sz="3200" i="1" dirty="0">
                <a:latin typeface="Times New Roman" panose="02020603050405020304" pitchFamily="18" charset="0"/>
                <a:ea typeface="PMingLiU" panose="02020500000000000000" pitchFamily="18" charset="-120"/>
              </a:rPr>
              <a:t>What is right and what is wrong for the members of a culture depend on (are ultimately determined by) the basic moral norms of their culture.</a:t>
            </a:r>
            <a:endParaRPr lang="en-US" sz="3200" i="1" dirty="0">
              <a:latin typeface="Times New Roman" panose="02020603050405020304" pitchFamily="18" charset="0"/>
              <a:ea typeface="PMingLiU" panose="02020500000000000000" pitchFamily="18" charset="-120"/>
            </a:endParaRPr>
          </a:p>
          <a:p>
            <a:pPr marL="457200" indent="-457200" algn="just" rtl="0">
              <a:buFont typeface="Arial" panose="020B0604020202020204" pitchFamily="34" charset="0"/>
              <a:buChar char="•"/>
            </a:pPr>
            <a:r>
              <a:rPr lang="en-GB" sz="3200" i="1" dirty="0">
                <a:latin typeface="Times New Roman" panose="02020603050405020304" pitchFamily="18" charset="0"/>
                <a:ea typeface="PMingLiU" panose="02020500000000000000" pitchFamily="18" charset="-120"/>
              </a:rPr>
              <a:t>MO: There are at least some moral norms whose correctness or truth is independent of the moral norms a culture does or might accept. Such norms express objectively true moral standards for all cultures regardless of whether they recognize or heed them.</a:t>
            </a:r>
          </a:p>
        </p:txBody>
      </p:sp>
    </p:spTree>
    <p:extLst>
      <p:ext uri="{BB962C8B-B14F-4D97-AF65-F5344CB8AC3E}">
        <p14:creationId xmlns:p14="http://schemas.microsoft.com/office/powerpoint/2010/main" val="127078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304800" y="559678"/>
            <a:ext cx="4291106" cy="4952492"/>
          </a:xfrm>
        </p:spPr>
        <p:txBody>
          <a:bodyPr rtlCol="0"/>
          <a:lstStyle/>
          <a:p>
            <a:r>
              <a:rPr lang="en-US" dirty="0"/>
              <a:t>Context Sensitivity Thesis</a:t>
            </a:r>
            <a:endParaRPr lang="en-GB" dirty="0"/>
          </a:p>
        </p:txBody>
      </p:sp>
      <p:sp>
        <p:nvSpPr>
          <p:cNvPr id="8" name="TextBox 7">
            <a:extLst>
              <a:ext uri="{FF2B5EF4-FFF2-40B4-BE49-F238E27FC236}">
                <a16:creationId xmlns:a16="http://schemas.microsoft.com/office/drawing/2014/main" id="{5FC6C278-4035-446A-A94B-030E792FDDF5}"/>
              </a:ext>
            </a:extLst>
          </p:cNvPr>
          <p:cNvSpPr txBox="1"/>
          <p:nvPr/>
        </p:nvSpPr>
        <p:spPr>
          <a:xfrm>
            <a:off x="4823791" y="559678"/>
            <a:ext cx="6960220" cy="5078614"/>
          </a:xfrm>
          <a:prstGeom prst="rect">
            <a:avLst/>
          </a:prstGeom>
          <a:noFill/>
        </p:spPr>
        <p:txBody>
          <a:bodyPr wrap="square" rtlCol="0">
            <a:noAutofit/>
          </a:bodyPr>
          <a:lstStyle/>
          <a:p>
            <a:pPr marL="742950" indent="-742950">
              <a:buFont typeface="Arial" panose="020B0604020202020204" pitchFamily="34" charset="0"/>
              <a:buChar char="•"/>
            </a:pPr>
            <a:r>
              <a:rPr lang="en-US" sz="3600" i="1" dirty="0">
                <a:latin typeface="Times New Roman" panose="02020603050405020304" pitchFamily="18" charset="0"/>
                <a:ea typeface="PMingLiU" panose="02020500000000000000" pitchFamily="18" charset="-120"/>
              </a:rPr>
              <a:t>CS: </a:t>
            </a:r>
            <a:r>
              <a:rPr lang="en-GB" sz="3600" i="1" dirty="0">
                <a:latin typeface="Times New Roman" panose="02020603050405020304" pitchFamily="18" charset="0"/>
                <a:ea typeface="PMingLiU" panose="02020500000000000000" pitchFamily="18" charset="-120"/>
              </a:rPr>
              <a:t>what is right or wrong for someone to do often depends on one’s circumstances, including facts about one’s culture.</a:t>
            </a:r>
          </a:p>
          <a:p>
            <a:pPr marL="742950" indent="-74295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CS is not equivalent to MR. Why? </a:t>
            </a:r>
          </a:p>
          <a:p>
            <a:pPr marL="1200150" lvl="1" indent="-74295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Because CS is (while MR is not) compatible with MO. </a:t>
            </a:r>
          </a:p>
          <a:p>
            <a:pPr marL="742950" indent="-742950">
              <a:buFont typeface="Arial" panose="020B0604020202020204" pitchFamily="34" charset="0"/>
              <a:buChar char="•"/>
            </a:pPr>
            <a:endParaRPr lang="en-GB" sz="3600" i="1"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4</a:t>
            </a:fld>
            <a:endParaRPr lang="en-GB"/>
          </a:p>
        </p:txBody>
      </p:sp>
    </p:spTree>
    <p:extLst>
      <p:ext uri="{BB962C8B-B14F-4D97-AF65-F5344CB8AC3E}">
        <p14:creationId xmlns:p14="http://schemas.microsoft.com/office/powerpoint/2010/main" val="239459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a:xfrm>
            <a:off x="478971" y="559678"/>
            <a:ext cx="4116935" cy="2221622"/>
          </a:xfrm>
        </p:spPr>
        <p:txBody>
          <a:bodyPr rtlCol="0">
            <a:normAutofit/>
          </a:bodyPr>
          <a:lstStyle/>
          <a:p>
            <a:r>
              <a:rPr lang="en-US" dirty="0"/>
              <a:t>Context Sensitivity Thesis</a:t>
            </a:r>
            <a:endParaRPr lang="en-GB" dirty="0"/>
          </a:p>
        </p:txBody>
      </p:sp>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n-GB" smtClean="0"/>
              <a:t>5</a:t>
            </a:fld>
            <a:endParaRPr lang="en-GB" dirty="0"/>
          </a:p>
        </p:txBody>
      </p:sp>
      <p:sp>
        <p:nvSpPr>
          <p:cNvPr id="13" name="TextBox 12">
            <a:extLst>
              <a:ext uri="{FF2B5EF4-FFF2-40B4-BE49-F238E27FC236}">
                <a16:creationId xmlns:a16="http://schemas.microsoft.com/office/drawing/2014/main" id="{B079FE37-E63F-6B83-3B38-614E7772BF5D}"/>
              </a:ext>
            </a:extLst>
          </p:cNvPr>
          <p:cNvSpPr txBox="1"/>
          <p:nvPr/>
        </p:nvSpPr>
        <p:spPr>
          <a:xfrm>
            <a:off x="5181599" y="305054"/>
            <a:ext cx="6602412" cy="4952492"/>
          </a:xfrm>
          <a:prstGeom prst="rect">
            <a:avLst/>
          </a:prstGeom>
          <a:noFill/>
        </p:spPr>
        <p:txBody>
          <a:bodyPr wrap="square" rtlCol="0">
            <a:noAutofit/>
          </a:bodyPr>
          <a:lstStyle/>
          <a:p>
            <a:pPr marL="742950" indent="-742950">
              <a:buFont typeface="+mj-lt"/>
              <a:buAutoNum type="arabicPeriod"/>
            </a:pPr>
            <a:r>
              <a:rPr lang="en-GB" sz="3600" dirty="0">
                <a:latin typeface="Times New Roman" panose="02020603050405020304" pitchFamily="18" charset="0"/>
                <a:ea typeface="PMingLiU" panose="02020500000000000000" pitchFamily="18" charset="-120"/>
              </a:rPr>
              <a:t>Suppose you are an expert swimmer and one day while walking along a deserted beach, you see a young child struggling in the water, obviously in immediate danger of drowning. </a:t>
            </a:r>
            <a:r>
              <a:rPr lang="en-GB" sz="3600" i="1" dirty="0">
                <a:latin typeface="Times New Roman" panose="02020603050405020304" pitchFamily="18" charset="0"/>
                <a:ea typeface="PMingLiU" panose="02020500000000000000" pitchFamily="18" charset="-120"/>
              </a:rPr>
              <a:t>What should you do? </a:t>
            </a: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Suppose I am in the same situation, but I can’t swim. </a:t>
            </a:r>
            <a:r>
              <a:rPr lang="en-GB" sz="3600" i="1" dirty="0">
                <a:latin typeface="Times New Roman" panose="02020603050405020304" pitchFamily="18" charset="0"/>
                <a:ea typeface="PMingLiU" panose="02020500000000000000" pitchFamily="18" charset="-120"/>
              </a:rPr>
              <a:t>What should I do? </a:t>
            </a:r>
          </a:p>
        </p:txBody>
      </p:sp>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3EB3-9E33-A774-40CE-4653C9CC6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58094-FAFA-0AF5-4688-6E97661AB9E2}"/>
              </a:ext>
            </a:extLst>
          </p:cNvPr>
          <p:cNvSpPr>
            <a:spLocks noGrp="1"/>
          </p:cNvSpPr>
          <p:nvPr>
            <p:ph type="title"/>
          </p:nvPr>
        </p:nvSpPr>
        <p:spPr>
          <a:xfrm>
            <a:off x="530578" y="559678"/>
            <a:ext cx="4065328" cy="2221622"/>
          </a:xfrm>
        </p:spPr>
        <p:txBody>
          <a:bodyPr rtlCol="0">
            <a:normAutofit/>
          </a:bodyPr>
          <a:lstStyle/>
          <a:p>
            <a:r>
              <a:rPr lang="en-US" dirty="0"/>
              <a:t>Context Sensitivity Thesis</a:t>
            </a:r>
            <a:endParaRPr lang="en-GB" dirty="0"/>
          </a:p>
        </p:txBody>
      </p:sp>
      <p:sp>
        <p:nvSpPr>
          <p:cNvPr id="7" name="Slide Number Placeholder 6">
            <a:extLst>
              <a:ext uri="{FF2B5EF4-FFF2-40B4-BE49-F238E27FC236}">
                <a16:creationId xmlns:a16="http://schemas.microsoft.com/office/drawing/2014/main" id="{8DAF5447-EB0B-C3D3-9C29-329E67F6EAFA}"/>
              </a:ext>
            </a:extLst>
          </p:cNvPr>
          <p:cNvSpPr>
            <a:spLocks noGrp="1"/>
          </p:cNvSpPr>
          <p:nvPr>
            <p:ph type="sldNum" sz="quarter" idx="12"/>
          </p:nvPr>
        </p:nvSpPr>
        <p:spPr/>
        <p:txBody>
          <a:bodyPr rtlCol="0"/>
          <a:lstStyle/>
          <a:p>
            <a:pPr rtl="0"/>
            <a:fld id="{13D2E340-0663-474B-992C-9192B5C45E57}" type="slidenum">
              <a:rPr lang="en-GB" smtClean="0"/>
              <a:t>6</a:t>
            </a:fld>
            <a:endParaRPr lang="en-GB"/>
          </a:p>
        </p:txBody>
      </p:sp>
      <p:sp>
        <p:nvSpPr>
          <p:cNvPr id="23" name="TextBox 22">
            <a:extLst>
              <a:ext uri="{FF2B5EF4-FFF2-40B4-BE49-F238E27FC236}">
                <a16:creationId xmlns:a16="http://schemas.microsoft.com/office/drawing/2014/main" id="{B3924C4A-5D52-2E83-5910-D093650F9298}"/>
              </a:ext>
            </a:extLst>
          </p:cNvPr>
          <p:cNvSpPr txBox="1"/>
          <p:nvPr/>
        </p:nvSpPr>
        <p:spPr>
          <a:xfrm>
            <a:off x="4943061" y="424070"/>
            <a:ext cx="6832306" cy="5214222"/>
          </a:xfrm>
          <a:prstGeom prst="rect">
            <a:avLst/>
          </a:prstGeom>
          <a:noFill/>
        </p:spPr>
        <p:txBody>
          <a:bodyPr wrap="square" rtlCol="0">
            <a:noAutofit/>
          </a:bodyPr>
          <a:lstStyle/>
          <a:p>
            <a:pPr marL="457200"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While what you ought to do and what I ought to do are different, they may well be determined by an objective moral principle, i.e.: </a:t>
            </a:r>
            <a:r>
              <a:rPr lang="en-GB" sz="3200" dirty="0">
                <a:latin typeface="Times New Roman" panose="02020603050405020304" pitchFamily="18" charset="0"/>
                <a:ea typeface="PMingLiU" panose="02020500000000000000" pitchFamily="18" charset="-120"/>
              </a:rPr>
              <a:t>One ought to help those in need of help when one can do so while avoiding a serious risk of life and limb to oneself.</a:t>
            </a:r>
          </a:p>
          <a:p>
            <a:pPr marL="457200" indent="-457200" algn="just">
              <a:buFont typeface="Arial" panose="020B0604020202020204" pitchFamily="34" charset="0"/>
              <a:buChar char="•"/>
            </a:pPr>
            <a:r>
              <a:rPr lang="en-GB" sz="3200" i="1" dirty="0">
                <a:latin typeface="Times New Roman" panose="02020603050405020304" pitchFamily="18" charset="0"/>
                <a:ea typeface="PMingLiU" panose="02020500000000000000" pitchFamily="18" charset="-120"/>
              </a:rPr>
              <a:t>The rightness or wrongness of an action partly depends on non-moral facts that hold in the context in question—facts concerning agents and their circumstances.</a:t>
            </a:r>
          </a:p>
        </p:txBody>
      </p:sp>
    </p:spTree>
    <p:extLst>
      <p:ext uri="{BB962C8B-B14F-4D97-AF65-F5344CB8AC3E}">
        <p14:creationId xmlns:p14="http://schemas.microsoft.com/office/powerpoint/2010/main" val="405167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478971" y="559678"/>
            <a:ext cx="4116935" cy="2221622"/>
          </a:xfrm>
        </p:spPr>
        <p:txBody>
          <a:bodyPr rtlCol="0">
            <a:normAutofit/>
          </a:bodyPr>
          <a:lstStyle/>
          <a:p>
            <a:r>
              <a:rPr lang="en-HK" dirty="0"/>
              <a:t>Moral Diversity Thesis</a:t>
            </a:r>
            <a:endParaRPr lang="en-GB" dirty="0"/>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7</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4"/>
            <a:ext cx="6602412" cy="4952492"/>
          </a:xfrm>
          <a:prstGeom prst="rect">
            <a:avLst/>
          </a:prstGeom>
          <a:noFill/>
        </p:spPr>
        <p:txBody>
          <a:bodyPr wrap="square" rtlCol="0">
            <a:noAutofit/>
          </a:bodyPr>
          <a:lstStyle/>
          <a:p>
            <a:pPr algn="just" rtl="0"/>
            <a:r>
              <a:rPr lang="en-US" sz="4000" i="1" dirty="0">
                <a:latin typeface="Times New Roman" panose="02020603050405020304" pitchFamily="18" charset="0"/>
                <a:ea typeface="PMingLiU" panose="02020500000000000000" pitchFamily="18" charset="-120"/>
              </a:rPr>
              <a:t>MD:</a:t>
            </a:r>
          </a:p>
          <a:p>
            <a:pPr marL="742950" indent="-742950" algn="just" rtl="0">
              <a:buFont typeface="+mj-lt"/>
              <a:buAutoNum type="arabicPeriod"/>
            </a:pPr>
            <a:r>
              <a:rPr lang="en-GB" sz="4000" i="1" dirty="0">
                <a:latin typeface="Times New Roman" panose="02020603050405020304" pitchFamily="18" charset="0"/>
                <a:ea typeface="PMingLiU" panose="02020500000000000000" pitchFamily="18" charset="-120"/>
              </a:rPr>
              <a:t>The moral codes of some cultures include basic moral norms that conflict with the basic moral norms that are part of the moral codes of other cultures.</a:t>
            </a:r>
          </a:p>
          <a:p>
            <a:pPr marL="742950" indent="-742950" algn="just" rtl="0">
              <a:buFont typeface="+mj-lt"/>
              <a:buAutoNum type="arabicPeriod"/>
            </a:pPr>
            <a:r>
              <a:rPr lang="en-GB" sz="4000" i="1" dirty="0">
                <a:latin typeface="Times New Roman" panose="02020603050405020304" pitchFamily="18" charset="0"/>
                <a:ea typeface="PMingLiU" panose="02020500000000000000" pitchFamily="18" charset="-120"/>
              </a:rPr>
              <a:t>Such fundamental conflicts are widespread.</a:t>
            </a:r>
            <a:r>
              <a:rPr lang="en-US" sz="4000" i="1" dirty="0">
                <a:latin typeface="Times New Roman" panose="02020603050405020304" pitchFamily="18" charset="0"/>
                <a:ea typeface="PMingLiU" panose="02020500000000000000" pitchFamily="18" charset="-120"/>
              </a:rPr>
              <a:t> </a:t>
            </a:r>
            <a:endParaRPr lang="en-GB" sz="4000" i="1"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6363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120E-9627-E8B6-0676-481535574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200BE-D86B-A4A6-DE70-CA6F3D690F37}"/>
              </a:ext>
            </a:extLst>
          </p:cNvPr>
          <p:cNvSpPr>
            <a:spLocks noGrp="1"/>
          </p:cNvSpPr>
          <p:nvPr>
            <p:ph type="title"/>
          </p:nvPr>
        </p:nvSpPr>
        <p:spPr>
          <a:xfrm>
            <a:off x="530578" y="559678"/>
            <a:ext cx="4065328" cy="2221622"/>
          </a:xfrm>
        </p:spPr>
        <p:txBody>
          <a:bodyPr rtlCol="0">
            <a:normAutofit/>
          </a:bodyPr>
          <a:lstStyle/>
          <a:p>
            <a:r>
              <a:rPr lang="en-HK" dirty="0"/>
              <a:t>Moral Diversity Thesis</a:t>
            </a:r>
            <a:endParaRPr lang="en-GB" dirty="0"/>
          </a:p>
        </p:txBody>
      </p:sp>
      <p:sp>
        <p:nvSpPr>
          <p:cNvPr id="7" name="Slide Number Placeholder 6">
            <a:extLst>
              <a:ext uri="{FF2B5EF4-FFF2-40B4-BE49-F238E27FC236}">
                <a16:creationId xmlns:a16="http://schemas.microsoft.com/office/drawing/2014/main" id="{DA6ECA03-3A27-17E7-F62F-84CE53157262}"/>
              </a:ext>
            </a:extLst>
          </p:cNvPr>
          <p:cNvSpPr>
            <a:spLocks noGrp="1"/>
          </p:cNvSpPr>
          <p:nvPr>
            <p:ph type="sldNum" sz="quarter" idx="12"/>
          </p:nvPr>
        </p:nvSpPr>
        <p:spPr/>
        <p:txBody>
          <a:bodyPr rtlCol="0"/>
          <a:lstStyle/>
          <a:p>
            <a:pPr rtl="0"/>
            <a:fld id="{13D2E340-0663-474B-992C-9192B5C45E57}" type="slidenum">
              <a:rPr lang="en-GB" smtClean="0"/>
              <a:t>8</a:t>
            </a:fld>
            <a:endParaRPr lang="en-GB"/>
          </a:p>
        </p:txBody>
      </p:sp>
      <p:sp>
        <p:nvSpPr>
          <p:cNvPr id="23" name="TextBox 22">
            <a:extLst>
              <a:ext uri="{FF2B5EF4-FFF2-40B4-BE49-F238E27FC236}">
                <a16:creationId xmlns:a16="http://schemas.microsoft.com/office/drawing/2014/main" id="{3CA1E901-2F79-6974-E428-93399DC0DC0E}"/>
              </a:ext>
            </a:extLst>
          </p:cNvPr>
          <p:cNvSpPr txBox="1"/>
          <p:nvPr/>
        </p:nvSpPr>
        <p:spPr>
          <a:xfrm>
            <a:off x="5181599" y="559678"/>
            <a:ext cx="6593768" cy="5078614"/>
          </a:xfrm>
          <a:prstGeom prst="rect">
            <a:avLst/>
          </a:prstGeom>
          <a:noFill/>
        </p:spPr>
        <p:txBody>
          <a:bodyPr wrap="square" rtlCol="0">
            <a:noAutofit/>
          </a:bodyPr>
          <a:lstStyle/>
          <a:p>
            <a:pPr algn="just"/>
            <a:r>
              <a:rPr lang="en-GB" sz="4000" i="1" dirty="0">
                <a:latin typeface="Times New Roman" panose="02020603050405020304" pitchFamily="18" charset="0"/>
                <a:ea typeface="PMingLiU" panose="02020500000000000000" pitchFamily="18" charset="-120"/>
              </a:rPr>
              <a:t>Question: If MR is true, does it follow that MD must also be true? </a:t>
            </a:r>
            <a:r>
              <a:rPr lang="en-US" sz="4000" i="1" dirty="0">
                <a:latin typeface="Times New Roman" panose="02020603050405020304" pitchFamily="18" charset="0"/>
                <a:ea typeface="PMingLiU" panose="02020500000000000000" pitchFamily="18" charset="-120"/>
              </a:rPr>
              <a:t> </a:t>
            </a:r>
          </a:p>
          <a:p>
            <a:pPr marL="571500" indent="-5715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Even if it turns out (now or sometime in the future) that all cultures accept the same set of basic moral norms, moral relativism might still be true.</a:t>
            </a:r>
          </a:p>
          <a:p>
            <a:pPr marL="571500" indent="-5715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Analogy: It could be universal to drive on the right-hand side and still be a matter of convention. </a:t>
            </a:r>
          </a:p>
        </p:txBody>
      </p:sp>
    </p:spTree>
    <p:extLst>
      <p:ext uri="{BB962C8B-B14F-4D97-AF65-F5344CB8AC3E}">
        <p14:creationId xmlns:p14="http://schemas.microsoft.com/office/powerpoint/2010/main" val="2284613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5B4A-A9AF-F20C-341C-3A544060B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A5C96-AB1E-E384-CC3E-59F711918FF2}"/>
              </a:ext>
            </a:extLst>
          </p:cNvPr>
          <p:cNvSpPr>
            <a:spLocks noGrp="1"/>
          </p:cNvSpPr>
          <p:nvPr>
            <p:ph type="title"/>
          </p:nvPr>
        </p:nvSpPr>
        <p:spPr>
          <a:xfrm>
            <a:off x="1" y="559678"/>
            <a:ext cx="4595906" cy="2766618"/>
          </a:xfrm>
        </p:spPr>
        <p:txBody>
          <a:bodyPr rtlCol="0">
            <a:normAutofit/>
          </a:bodyPr>
          <a:lstStyle/>
          <a:p>
            <a:pPr rtl="0"/>
            <a:r>
              <a:rPr lang="en-GB" sz="3600" dirty="0"/>
              <a:t>Anthropologist’s Argument – ver. 1</a:t>
            </a:r>
            <a:endParaRPr lang="en-GB" dirty="0"/>
          </a:p>
        </p:txBody>
      </p:sp>
      <p:sp>
        <p:nvSpPr>
          <p:cNvPr id="3" name="Slide Number Placeholder 2">
            <a:extLst>
              <a:ext uri="{FF2B5EF4-FFF2-40B4-BE49-F238E27FC236}">
                <a16:creationId xmlns:a16="http://schemas.microsoft.com/office/drawing/2014/main" id="{2EC99ABB-F367-3BC5-2017-FB8F8742C503}"/>
              </a:ext>
            </a:extLst>
          </p:cNvPr>
          <p:cNvSpPr>
            <a:spLocks noGrp="1"/>
          </p:cNvSpPr>
          <p:nvPr>
            <p:ph type="sldNum" sz="quarter" idx="12"/>
          </p:nvPr>
        </p:nvSpPr>
        <p:spPr/>
        <p:txBody>
          <a:bodyPr rtlCol="0"/>
          <a:lstStyle/>
          <a:p>
            <a:pPr rtl="0"/>
            <a:fld id="{13D2E340-0663-474B-992C-9192B5C45E57}" type="slidenum">
              <a:rPr lang="en-GB" smtClean="0"/>
              <a:t>9</a:t>
            </a:fld>
            <a:endParaRPr lang="en-GB" dirty="0"/>
          </a:p>
        </p:txBody>
      </p:sp>
      <p:sp>
        <p:nvSpPr>
          <p:cNvPr id="13" name="TextBox 12">
            <a:extLst>
              <a:ext uri="{FF2B5EF4-FFF2-40B4-BE49-F238E27FC236}">
                <a16:creationId xmlns:a16="http://schemas.microsoft.com/office/drawing/2014/main" id="{F29A0C60-3916-4BD3-EE6E-3BC8CFF43339}"/>
              </a:ext>
            </a:extLst>
          </p:cNvPr>
          <p:cNvSpPr txBox="1"/>
          <p:nvPr/>
        </p:nvSpPr>
        <p:spPr>
          <a:xfrm>
            <a:off x="5181599" y="305054"/>
            <a:ext cx="6602412" cy="4952492"/>
          </a:xfrm>
          <a:prstGeom prst="rect">
            <a:avLst/>
          </a:prstGeom>
          <a:noFill/>
        </p:spPr>
        <p:txBody>
          <a:bodyPr wrap="square" rtlCol="0">
            <a:noAutofit/>
          </a:bodyPr>
          <a:lstStyle/>
          <a:p>
            <a:pPr marL="514350" indent="-514350" algn="just" rtl="0">
              <a:buFont typeface="+mj-lt"/>
              <a:buAutoNum type="arabicPeriod"/>
            </a:pPr>
            <a:r>
              <a:rPr lang="en-US" sz="3200" dirty="0">
                <a:latin typeface="Times New Roman" panose="02020603050405020304" pitchFamily="18" charset="0"/>
                <a:ea typeface="PMingLiU" panose="02020500000000000000" pitchFamily="18" charset="-120"/>
              </a:rPr>
              <a:t>Different cultures have different moral codes. (=MD)</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If MD is true, then there are no objectively true moral norms applying to all cultures.</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If there are no universally valid moral norms applying to all cultures, then what is right and what is wrong for the members of a culture depend on the basic moral norms of their culture (= MR).</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Thus, MR is true. </a:t>
            </a:r>
          </a:p>
        </p:txBody>
      </p:sp>
    </p:spTree>
    <p:extLst>
      <p:ext uri="{BB962C8B-B14F-4D97-AF65-F5344CB8AC3E}">
        <p14:creationId xmlns:p14="http://schemas.microsoft.com/office/powerpoint/2010/main" val="4982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a:xfrm>
            <a:off x="530578" y="559678"/>
            <a:ext cx="4065328" cy="2221622"/>
          </a:xfrm>
        </p:spPr>
        <p:txBody>
          <a:bodyPr rtlCol="0">
            <a:normAutofit/>
          </a:bodyPr>
          <a:lstStyle/>
          <a:p>
            <a:r>
              <a:rPr lang="en-GB" dirty="0"/>
              <a:t>Challenges</a:t>
            </a:r>
          </a:p>
        </p:txBody>
      </p:sp>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n-GB" smtClean="0"/>
              <a:t>10</a:t>
            </a:fld>
            <a:endParaRPr lang="en-GB"/>
          </a:p>
        </p:txBody>
      </p:sp>
      <p:sp>
        <p:nvSpPr>
          <p:cNvPr id="23" name="TextBox 22">
            <a:extLst>
              <a:ext uri="{FF2B5EF4-FFF2-40B4-BE49-F238E27FC236}">
                <a16:creationId xmlns:a16="http://schemas.microsoft.com/office/drawing/2014/main" id="{764A365B-4C2F-2351-93F8-FD34668116E1}"/>
              </a:ext>
            </a:extLst>
          </p:cNvPr>
          <p:cNvSpPr txBox="1"/>
          <p:nvPr/>
        </p:nvSpPr>
        <p:spPr>
          <a:xfrm>
            <a:off x="5181599" y="559678"/>
            <a:ext cx="6593768" cy="5078614"/>
          </a:xfrm>
          <a:prstGeom prst="rect">
            <a:avLst/>
          </a:prstGeom>
          <a:noFill/>
        </p:spPr>
        <p:txBody>
          <a:bodyPr wrap="square" rtlCol="0">
            <a:noAutofit/>
          </a:bodyPr>
          <a:lstStyle/>
          <a:p>
            <a:pPr algn="just"/>
            <a:r>
              <a:rPr lang="en-US" sz="3600" i="1" dirty="0">
                <a:latin typeface="Times New Roman" panose="02020603050405020304" pitchFamily="18" charset="0"/>
                <a:ea typeface="PMingLiU" panose="02020500000000000000" pitchFamily="18" charset="-120"/>
              </a:rPr>
              <a:t>Against P2</a:t>
            </a:r>
          </a:p>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mere difference in belief over some issue does not imply that there is no single correct belief about that issue.</a:t>
            </a:r>
          </a:p>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Take for example the historical dispute in belief about the shape of the earth.</a:t>
            </a:r>
          </a:p>
        </p:txBody>
      </p:sp>
    </p:spTree>
    <p:extLst>
      <p:ext uri="{BB962C8B-B14F-4D97-AF65-F5344CB8AC3E}">
        <p14:creationId xmlns:p14="http://schemas.microsoft.com/office/powerpoint/2010/main" val="170747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516834" y="230819"/>
            <a:ext cx="4079071" cy="3198181"/>
          </a:xfrm>
        </p:spPr>
        <p:txBody>
          <a:bodyPr rtlCol="0">
            <a:normAutofit/>
          </a:bodyPr>
          <a:lstStyle/>
          <a:p>
            <a:r>
              <a:rPr lang="en-US" sz="4400" b="1" dirty="0"/>
              <a:t>Challenges</a:t>
            </a:r>
            <a:endParaRPr lang="en-GB" sz="4400" dirty="0"/>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11</a:t>
            </a:fld>
            <a:endParaRPr lang="en-GB"/>
          </a:p>
        </p:txBody>
      </p:sp>
      <p:sp>
        <p:nvSpPr>
          <p:cNvPr id="41" name="TextBox 40">
            <a:extLst>
              <a:ext uri="{FF2B5EF4-FFF2-40B4-BE49-F238E27FC236}">
                <a16:creationId xmlns:a16="http://schemas.microsoft.com/office/drawing/2014/main" id="{E70AB508-2913-4EE2-5303-4456A2553371}"/>
              </a:ext>
            </a:extLst>
          </p:cNvPr>
          <p:cNvSpPr txBox="1"/>
          <p:nvPr/>
        </p:nvSpPr>
        <p:spPr>
          <a:xfrm>
            <a:off x="5181599" y="230819"/>
            <a:ext cx="6248401" cy="5407473"/>
          </a:xfrm>
          <a:prstGeom prst="rect">
            <a:avLst/>
          </a:prstGeom>
          <a:noFill/>
        </p:spPr>
        <p:txBody>
          <a:bodyPr wrap="square" rtlCol="0">
            <a:noAutofit/>
          </a:bodyPr>
          <a:lstStyle/>
          <a:p>
            <a:r>
              <a:rPr lang="en-US" sz="3600" i="1" dirty="0">
                <a:effectLst/>
                <a:latin typeface="Times New Roman" panose="02020603050405020304" pitchFamily="18" charset="0"/>
                <a:ea typeface="PMingLiU" panose="02020500000000000000" pitchFamily="18" charset="-120"/>
              </a:rPr>
              <a:t>Against P1</a:t>
            </a:r>
          </a:p>
          <a:p>
            <a:pPr marL="571500" indent="-571500">
              <a:buFont typeface="Arial" panose="020B0604020202020204" pitchFamily="34" charset="0"/>
              <a:buChar char="•"/>
            </a:pPr>
            <a:r>
              <a:rPr lang="en-US" sz="3600" dirty="0">
                <a:effectLst/>
                <a:latin typeface="Times New Roman" panose="02020603050405020304" pitchFamily="18" charset="0"/>
                <a:ea typeface="PMingLiU" panose="02020500000000000000" pitchFamily="18" charset="-120"/>
              </a:rPr>
              <a:t>It is possible for there to be differences </a:t>
            </a:r>
            <a:r>
              <a:rPr lang="en-GB" sz="3600" dirty="0">
                <a:effectLst/>
                <a:latin typeface="Times New Roman" panose="02020603050405020304" pitchFamily="18" charset="0"/>
                <a:ea typeface="PMingLiU" panose="02020500000000000000" pitchFamily="18" charset="-120"/>
              </a:rPr>
              <a:t>across cultures in their moral beliefs without </a:t>
            </a:r>
            <a:r>
              <a:rPr lang="en-GB" sz="3600" i="1" dirty="0">
                <a:effectLst/>
                <a:latin typeface="Times New Roman" panose="02020603050405020304" pitchFamily="18" charset="0"/>
                <a:ea typeface="PMingLiU" panose="02020500000000000000" pitchFamily="18" charset="-120"/>
              </a:rPr>
              <a:t>fundamental moral disagreements</a:t>
            </a:r>
            <a:r>
              <a:rPr lang="en-GB" sz="3600" dirty="0">
                <a:effectLst/>
                <a:latin typeface="Times New Roman" panose="02020603050405020304" pitchFamily="18" charset="0"/>
                <a:ea typeface="PMingLiU" panose="02020500000000000000" pitchFamily="18" charset="-120"/>
              </a:rPr>
              <a:t>. </a:t>
            </a:r>
          </a:p>
          <a:p>
            <a:pPr marL="571500" indent="-571500">
              <a:buFont typeface="Arial" panose="020B0604020202020204" pitchFamily="34" charset="0"/>
              <a:buChar char="•"/>
            </a:pPr>
            <a:r>
              <a:rPr lang="en-US" sz="3600" dirty="0">
                <a:effectLst/>
                <a:latin typeface="Times New Roman" panose="02020603050405020304" pitchFamily="18" charset="0"/>
                <a:ea typeface="PMingLiU" panose="02020500000000000000" pitchFamily="18" charset="-120"/>
              </a:rPr>
              <a:t>A deeper analysis is required. </a:t>
            </a:r>
          </a:p>
          <a:p>
            <a:pPr marL="514350" indent="-514350">
              <a:buFont typeface="Arial" panose="020B0604020202020204" pitchFamily="34" charset="0"/>
              <a:buChar char="•"/>
            </a:pPr>
            <a:endParaRPr lang="en-GB" sz="26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28979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B3C1-A37E-886A-909B-53E077AC0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908A0-65FF-2705-D664-4522AA4546BE}"/>
              </a:ext>
            </a:extLst>
          </p:cNvPr>
          <p:cNvSpPr>
            <a:spLocks noGrp="1"/>
          </p:cNvSpPr>
          <p:nvPr>
            <p:ph type="title"/>
          </p:nvPr>
        </p:nvSpPr>
        <p:spPr>
          <a:xfrm>
            <a:off x="0" y="559678"/>
            <a:ext cx="4595906" cy="2602622"/>
          </a:xfrm>
        </p:spPr>
        <p:txBody>
          <a:bodyPr rtlCol="0">
            <a:normAutofit/>
          </a:bodyPr>
          <a:lstStyle/>
          <a:p>
            <a:r>
              <a:rPr lang="en-HK" sz="4400" dirty="0"/>
              <a:t>Nonfundamental Moral Disagreements</a:t>
            </a:r>
            <a:endParaRPr lang="en-GB" sz="3600" dirty="0"/>
          </a:p>
        </p:txBody>
      </p:sp>
      <p:sp>
        <p:nvSpPr>
          <p:cNvPr id="7" name="Slide Number Placeholder 6">
            <a:extLst>
              <a:ext uri="{FF2B5EF4-FFF2-40B4-BE49-F238E27FC236}">
                <a16:creationId xmlns:a16="http://schemas.microsoft.com/office/drawing/2014/main" id="{C21A53E5-FEE5-118D-CD36-C66764E3A3B5}"/>
              </a:ext>
            </a:extLst>
          </p:cNvPr>
          <p:cNvSpPr>
            <a:spLocks noGrp="1"/>
          </p:cNvSpPr>
          <p:nvPr>
            <p:ph type="sldNum" sz="quarter" idx="12"/>
          </p:nvPr>
        </p:nvSpPr>
        <p:spPr/>
        <p:txBody>
          <a:bodyPr rtlCol="0"/>
          <a:lstStyle/>
          <a:p>
            <a:pPr rtl="0"/>
            <a:fld id="{13D2E340-0663-474B-992C-9192B5C45E57}" type="slidenum">
              <a:rPr lang="en-GB" smtClean="0"/>
              <a:t>12</a:t>
            </a:fld>
            <a:endParaRPr lang="en-GB"/>
          </a:p>
        </p:txBody>
      </p:sp>
      <p:sp>
        <p:nvSpPr>
          <p:cNvPr id="23" name="TextBox 22">
            <a:extLst>
              <a:ext uri="{FF2B5EF4-FFF2-40B4-BE49-F238E27FC236}">
                <a16:creationId xmlns:a16="http://schemas.microsoft.com/office/drawing/2014/main" id="{44D17366-2D5D-EBCB-C069-47BBF0111A8A}"/>
              </a:ext>
            </a:extLst>
          </p:cNvPr>
          <p:cNvSpPr txBox="1"/>
          <p:nvPr/>
        </p:nvSpPr>
        <p:spPr>
          <a:xfrm>
            <a:off x="5181599" y="559678"/>
            <a:ext cx="6593768" cy="5078614"/>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Imagine</a:t>
            </a:r>
            <a:r>
              <a:rPr lang="en-US" sz="3600" i="1" dirty="0">
                <a:latin typeface="Times New Roman" panose="02020603050405020304" pitchFamily="18" charset="0"/>
                <a:ea typeface="PMingLiU" panose="02020500000000000000" pitchFamily="18" charset="-120"/>
              </a:rPr>
              <a:t> </a:t>
            </a:r>
            <a:r>
              <a:rPr lang="en-GB" sz="3200" i="1" dirty="0">
                <a:latin typeface="Times New Roman" panose="02020603050405020304" pitchFamily="18" charset="0"/>
                <a:ea typeface="PMingLiU" panose="02020500000000000000" pitchFamily="18" charset="-120"/>
              </a:rPr>
              <a:t>we hold contrary views regarding the morality of capital punishment. Your line of reasoning: </a:t>
            </a:r>
          </a:p>
          <a:p>
            <a:pPr marL="514350" indent="-514350">
              <a:buFont typeface="+mj-lt"/>
              <a:buAutoNum type="arabicPeriod"/>
            </a:pPr>
            <a:r>
              <a:rPr lang="en-GB" sz="3200" dirty="0">
                <a:solidFill>
                  <a:srgbClr val="FF0000"/>
                </a:solidFill>
                <a:latin typeface="Times New Roman" panose="02020603050405020304" pitchFamily="18" charset="0"/>
                <a:ea typeface="PMingLiU" panose="02020500000000000000" pitchFamily="18" charset="-120"/>
              </a:rPr>
              <a:t>A society ought to employ only those punishments that have overall uniquely beneficial consequences for society.</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Capital punishment </a:t>
            </a:r>
            <a:r>
              <a:rPr lang="en-GB" sz="3200" dirty="0">
                <a:solidFill>
                  <a:srgbClr val="FF0000"/>
                </a:solidFill>
                <a:latin typeface="Times New Roman" panose="02020603050405020304" pitchFamily="18" charset="0"/>
                <a:ea typeface="PMingLiU" panose="02020500000000000000" pitchFamily="18" charset="-120"/>
              </a:rPr>
              <a:t>does not have </a:t>
            </a:r>
            <a:r>
              <a:rPr lang="en-GB" sz="3200" dirty="0">
                <a:latin typeface="Times New Roman" panose="02020603050405020304" pitchFamily="18" charset="0"/>
                <a:ea typeface="PMingLiU" panose="02020500000000000000" pitchFamily="18" charset="-120"/>
              </a:rPr>
              <a:t>overall uniquely beneficial consequences for society.</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Therefore, capital punishments ought to be abolished.</a:t>
            </a:r>
          </a:p>
        </p:txBody>
      </p:sp>
    </p:spTree>
    <p:extLst>
      <p:ext uri="{BB962C8B-B14F-4D97-AF65-F5344CB8AC3E}">
        <p14:creationId xmlns:p14="http://schemas.microsoft.com/office/powerpoint/2010/main" val="219516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F37F-3E74-594E-C7DE-E08CA8A5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C0E1-92E9-F470-195D-C5A870DBDD32}"/>
              </a:ext>
            </a:extLst>
          </p:cNvPr>
          <p:cNvSpPr>
            <a:spLocks noGrp="1"/>
          </p:cNvSpPr>
          <p:nvPr>
            <p:ph type="title"/>
          </p:nvPr>
        </p:nvSpPr>
        <p:spPr>
          <a:xfrm>
            <a:off x="0" y="230819"/>
            <a:ext cx="4595906" cy="3198181"/>
          </a:xfrm>
        </p:spPr>
        <p:txBody>
          <a:bodyPr rtlCol="0">
            <a:normAutofit/>
          </a:bodyPr>
          <a:lstStyle/>
          <a:p>
            <a:r>
              <a:rPr lang="en-HK" sz="4400" dirty="0"/>
              <a:t>Nonfundamental Moral Disagreements</a:t>
            </a:r>
            <a:endParaRPr lang="en-GB" sz="4400" dirty="0"/>
          </a:p>
        </p:txBody>
      </p:sp>
      <p:sp>
        <p:nvSpPr>
          <p:cNvPr id="10" name="Slide Number Placeholder 9">
            <a:extLst>
              <a:ext uri="{FF2B5EF4-FFF2-40B4-BE49-F238E27FC236}">
                <a16:creationId xmlns:a16="http://schemas.microsoft.com/office/drawing/2014/main" id="{85B71140-9C05-953D-8182-42956B2C1751}"/>
              </a:ext>
            </a:extLst>
          </p:cNvPr>
          <p:cNvSpPr>
            <a:spLocks noGrp="1"/>
          </p:cNvSpPr>
          <p:nvPr>
            <p:ph type="sldNum" sz="quarter" idx="12"/>
          </p:nvPr>
        </p:nvSpPr>
        <p:spPr/>
        <p:txBody>
          <a:bodyPr rtlCol="0"/>
          <a:lstStyle/>
          <a:p>
            <a:pPr rtl="0"/>
            <a:fld id="{13D2E340-0663-474B-992C-9192B5C45E57}" type="slidenum">
              <a:rPr lang="en-GB" smtClean="0"/>
              <a:t>13</a:t>
            </a:fld>
            <a:endParaRPr lang="en-GB"/>
          </a:p>
        </p:txBody>
      </p:sp>
      <p:sp>
        <p:nvSpPr>
          <p:cNvPr id="41" name="TextBox 40">
            <a:extLst>
              <a:ext uri="{FF2B5EF4-FFF2-40B4-BE49-F238E27FC236}">
                <a16:creationId xmlns:a16="http://schemas.microsoft.com/office/drawing/2014/main" id="{E0699548-9BE0-D501-1E59-8D8CC60A2A49}"/>
              </a:ext>
            </a:extLst>
          </p:cNvPr>
          <p:cNvSpPr txBox="1"/>
          <p:nvPr/>
        </p:nvSpPr>
        <p:spPr>
          <a:xfrm>
            <a:off x="5181599" y="230819"/>
            <a:ext cx="6811618" cy="5407473"/>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My line of reasoning: </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A society ought to employ only those punishments that have overall uniquely beneficial consequences for society.</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Capital punishment </a:t>
            </a:r>
            <a:r>
              <a:rPr lang="en-GB" sz="3200" dirty="0">
                <a:solidFill>
                  <a:srgbClr val="0070C0"/>
                </a:solidFill>
                <a:latin typeface="Times New Roman" panose="02020603050405020304" pitchFamily="18" charset="0"/>
                <a:ea typeface="PMingLiU" panose="02020500000000000000" pitchFamily="18" charset="-120"/>
              </a:rPr>
              <a:t>does have </a:t>
            </a:r>
            <a:r>
              <a:rPr lang="en-GB" sz="3200" dirty="0">
                <a:latin typeface="Times New Roman" panose="02020603050405020304" pitchFamily="18" charset="0"/>
                <a:ea typeface="PMingLiU" panose="02020500000000000000" pitchFamily="18" charset="-120"/>
              </a:rPr>
              <a:t>overall uniquely beneficial consequences for society.</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Therefore, it is not the case that capital punishments ought to be abolished.</a:t>
            </a:r>
          </a:p>
          <a:p>
            <a:pPr marL="514350"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Non-fundamental: </a:t>
            </a:r>
            <a:r>
              <a:rPr lang="en-GB" sz="3200" i="1" dirty="0">
                <a:latin typeface="Times New Roman" panose="02020603050405020304" pitchFamily="18" charset="0"/>
                <a:ea typeface="PMingLiU" panose="02020500000000000000" pitchFamily="18" charset="-120"/>
              </a:rPr>
              <a:t>disagreement due to differences in non-moral beliefs</a:t>
            </a:r>
          </a:p>
        </p:txBody>
      </p:sp>
    </p:spTree>
    <p:extLst>
      <p:ext uri="{BB962C8B-B14F-4D97-AF65-F5344CB8AC3E}">
        <p14:creationId xmlns:p14="http://schemas.microsoft.com/office/powerpoint/2010/main" val="32335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6A52-D0EF-2DB8-E3D9-AA5A27FD9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3335-C8F6-0B4A-66B9-BF39D79CB760}"/>
              </a:ext>
            </a:extLst>
          </p:cNvPr>
          <p:cNvSpPr>
            <a:spLocks noGrp="1"/>
          </p:cNvSpPr>
          <p:nvPr>
            <p:ph type="title"/>
          </p:nvPr>
        </p:nvSpPr>
        <p:spPr>
          <a:xfrm>
            <a:off x="530578" y="559678"/>
            <a:ext cx="4065328" cy="2221622"/>
          </a:xfrm>
        </p:spPr>
        <p:txBody>
          <a:bodyPr rtlCol="0">
            <a:normAutofit fontScale="90000"/>
          </a:bodyPr>
          <a:lstStyle/>
          <a:p>
            <a:r>
              <a:rPr lang="en-US" sz="4400" b="1" dirty="0"/>
              <a:t>Fundamental Moral Disagreements</a:t>
            </a:r>
            <a:endParaRPr lang="en-GB" sz="4400" dirty="0"/>
          </a:p>
        </p:txBody>
      </p:sp>
      <p:sp>
        <p:nvSpPr>
          <p:cNvPr id="7" name="Slide Number Placeholder 6">
            <a:extLst>
              <a:ext uri="{FF2B5EF4-FFF2-40B4-BE49-F238E27FC236}">
                <a16:creationId xmlns:a16="http://schemas.microsoft.com/office/drawing/2014/main" id="{234FD86E-89DD-02B2-93BC-6F34B6FD3DEA}"/>
              </a:ext>
            </a:extLst>
          </p:cNvPr>
          <p:cNvSpPr>
            <a:spLocks noGrp="1"/>
          </p:cNvSpPr>
          <p:nvPr>
            <p:ph type="sldNum" sz="quarter" idx="12"/>
          </p:nvPr>
        </p:nvSpPr>
        <p:spPr/>
        <p:txBody>
          <a:bodyPr rtlCol="0"/>
          <a:lstStyle/>
          <a:p>
            <a:pPr rtl="0"/>
            <a:fld id="{13D2E340-0663-474B-992C-9192B5C45E57}" type="slidenum">
              <a:rPr lang="en-GB" smtClean="0"/>
              <a:t>14</a:t>
            </a:fld>
            <a:endParaRPr lang="en-GB"/>
          </a:p>
        </p:txBody>
      </p:sp>
      <p:sp>
        <p:nvSpPr>
          <p:cNvPr id="23" name="TextBox 22">
            <a:extLst>
              <a:ext uri="{FF2B5EF4-FFF2-40B4-BE49-F238E27FC236}">
                <a16:creationId xmlns:a16="http://schemas.microsoft.com/office/drawing/2014/main" id="{8CF09343-1CC0-6B70-EF46-FD8285E176D3}"/>
              </a:ext>
            </a:extLst>
          </p:cNvPr>
          <p:cNvSpPr txBox="1"/>
          <p:nvPr/>
        </p:nvSpPr>
        <p:spPr>
          <a:xfrm>
            <a:off x="5181599" y="331304"/>
            <a:ext cx="6593768" cy="5306988"/>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My line of reasoning: </a:t>
            </a:r>
          </a:p>
          <a:p>
            <a:pPr marL="514350" indent="-514350">
              <a:buFont typeface="+mj-lt"/>
              <a:buAutoNum type="arabicPeriod"/>
            </a:pPr>
            <a:r>
              <a:rPr lang="en-GB" sz="3200" dirty="0">
                <a:solidFill>
                  <a:srgbClr val="0070C0"/>
                </a:solidFill>
                <a:latin typeface="Times New Roman" panose="02020603050405020304" pitchFamily="18" charset="0"/>
                <a:ea typeface="PMingLiU" panose="02020500000000000000" pitchFamily="18" charset="-120"/>
              </a:rPr>
              <a:t>A society ought to employ only those punishments that involve inflicting harm on the wrongdoer that is equivalent to the harm that the wrongdoer inflicted on his or her victim.</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Capital punishment inflicts harm on the wrongdoer that is equivalent to the harm that the wrongdoer inflicted on his or her victim.</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Thus, capital punishment ought to be employed. </a:t>
            </a:r>
          </a:p>
          <a:p>
            <a:pPr marL="514350" indent="-514350">
              <a:buFont typeface="+mj-lt"/>
              <a:buAutoNum type="arabicPeriod"/>
            </a:pPr>
            <a:endParaRPr lang="en-US"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1800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119270" y="559677"/>
            <a:ext cx="4476636" cy="2435313"/>
          </a:xfrm>
        </p:spPr>
        <p:txBody>
          <a:bodyPr rtlCol="0">
            <a:normAutofit/>
          </a:bodyPr>
          <a:lstStyle/>
          <a:p>
            <a:r>
              <a:rPr lang="en-US" sz="3600" b="1" dirty="0"/>
              <a:t>MD Revisited</a:t>
            </a:r>
            <a:endParaRPr lang="en-GB" sz="3600" dirty="0"/>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15</a:t>
            </a:fld>
            <a:endParaRPr lang="en-GB"/>
          </a:p>
        </p:txBody>
      </p:sp>
      <p:sp>
        <p:nvSpPr>
          <p:cNvPr id="41" name="TextBox 40">
            <a:extLst>
              <a:ext uri="{FF2B5EF4-FFF2-40B4-BE49-F238E27FC236}">
                <a16:creationId xmlns:a16="http://schemas.microsoft.com/office/drawing/2014/main" id="{E70AB508-2913-4EE2-5303-4456A2553371}"/>
              </a:ext>
            </a:extLst>
          </p:cNvPr>
          <p:cNvSpPr txBox="1"/>
          <p:nvPr/>
        </p:nvSpPr>
        <p:spPr>
          <a:xfrm>
            <a:off x="4956313" y="559676"/>
            <a:ext cx="6970644" cy="5078615"/>
          </a:xfrm>
          <a:prstGeom prst="rect">
            <a:avLst/>
          </a:prstGeom>
          <a:noFill/>
        </p:spPr>
        <p:txBody>
          <a:bodyPr wrap="square" rtlCol="0">
            <a:noAutofit/>
          </a:bodyPr>
          <a:lstStyle/>
          <a:p>
            <a:pPr marL="742950" indent="-742950">
              <a:buFont typeface="+mj-lt"/>
              <a:buAutoNum type="arabicPeriod"/>
            </a:pPr>
            <a:r>
              <a:rPr lang="en-GB" sz="3200" dirty="0">
                <a:effectLst/>
                <a:latin typeface="Times New Roman" panose="02020603050405020304" pitchFamily="18" charset="0"/>
                <a:ea typeface="PMingLiU" panose="02020500000000000000" pitchFamily="18" charset="-120"/>
              </a:rPr>
              <a:t>If intercultural moral disagreements can almost always be explained in terms of intercultural differences in the relevant non-moral beliefs, then the second claim of the MD thesis is false. </a:t>
            </a:r>
          </a:p>
          <a:p>
            <a:pPr marL="742950" indent="-742950">
              <a:buFont typeface="+mj-lt"/>
              <a:buAutoNum type="arabicPeriod"/>
            </a:pPr>
            <a:r>
              <a:rPr lang="en-GB" sz="3200" dirty="0">
                <a:effectLst/>
                <a:latin typeface="Times New Roman" panose="02020603050405020304" pitchFamily="18" charset="0"/>
                <a:ea typeface="PMingLiU" panose="02020500000000000000" pitchFamily="18" charset="-120"/>
              </a:rPr>
              <a:t>MD requires evidence of widespread fundamental disagreements, which is far from being firmly established.</a:t>
            </a:r>
          </a:p>
          <a:p>
            <a:pPr marL="742950" indent="-742950">
              <a:buFont typeface="+mj-lt"/>
              <a:buAutoNum type="arabicPeriod"/>
            </a:pPr>
            <a:r>
              <a:rPr lang="en-GB" sz="3200" dirty="0">
                <a:effectLst/>
                <a:latin typeface="Times New Roman" panose="02020603050405020304" pitchFamily="18" charset="0"/>
                <a:ea typeface="PMingLiU" panose="02020500000000000000" pitchFamily="18" charset="-120"/>
              </a:rPr>
              <a:t>Difference of the two types of disagreements</a:t>
            </a:r>
            <a:r>
              <a:rPr lang="en-GB" sz="3200" dirty="0">
                <a:latin typeface="Times New Roman" panose="02020603050405020304" pitchFamily="18" charset="0"/>
                <a:ea typeface="PMingLiU" panose="02020500000000000000" pitchFamily="18" charset="-120"/>
              </a:rPr>
              <a:t>: resolvability by rational means</a:t>
            </a:r>
            <a:endParaRPr lang="en-GB"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039832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FC6C278-4035-446A-A94B-030E792FDDF5}"/>
              </a:ext>
            </a:extLst>
          </p:cNvPr>
          <p:cNvSpPr txBox="1"/>
          <p:nvPr/>
        </p:nvSpPr>
        <p:spPr>
          <a:xfrm>
            <a:off x="5181599" y="655100"/>
            <a:ext cx="6602412" cy="5575012"/>
          </a:xfrm>
          <a:prstGeom prst="rect">
            <a:avLst/>
          </a:prstGeom>
          <a:noFill/>
        </p:spPr>
        <p:txBody>
          <a:bodyPr wrap="square" rtlCol="0">
            <a:noAutofit/>
          </a:bodyPr>
          <a:lstStyle/>
          <a:p>
            <a:pPr marL="514350" indent="-514350">
              <a:buFont typeface="+mj-lt"/>
              <a:buAutoNum type="arabicPeriod"/>
            </a:pPr>
            <a:r>
              <a:rPr lang="en-US" sz="3200" dirty="0">
                <a:latin typeface="Times New Roman" panose="02020603050405020304" pitchFamily="18" charset="0"/>
                <a:ea typeface="PMingLiU" panose="02020500000000000000" pitchFamily="18" charset="-120"/>
                <a:cs typeface="Times New Roman" panose="02020603050405020304" pitchFamily="18" charset="0"/>
              </a:rPr>
              <a:t>Different cultures have different moral codes. (=MD)</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Such conflicts cannot be resolved by rational means.</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There are widespread and rationally irresolvable intercultural conflicts over basic moral norms.</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best explanation for such irresolvable conflicts is that there are no objectively true moral norms applying to all cultures.</a:t>
            </a: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16</a:t>
            </a:fld>
            <a:endParaRPr lang="en-GB"/>
          </a:p>
        </p:txBody>
      </p:sp>
      <p:sp>
        <p:nvSpPr>
          <p:cNvPr id="2" name="Title 1">
            <a:extLst>
              <a:ext uri="{FF2B5EF4-FFF2-40B4-BE49-F238E27FC236}">
                <a16:creationId xmlns:a16="http://schemas.microsoft.com/office/drawing/2014/main" id="{0DD71B7C-1714-5F7C-11A5-D2C788A7767C}"/>
              </a:ext>
            </a:extLst>
          </p:cNvPr>
          <p:cNvSpPr txBox="1">
            <a:spLocks/>
          </p:cNvSpPr>
          <p:nvPr/>
        </p:nvSpPr>
        <p:spPr>
          <a:xfrm>
            <a:off x="132522" y="1220984"/>
            <a:ext cx="4340795"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Anthropologist’s Argument – ver. 2 </a:t>
            </a:r>
            <a:endParaRPr lang="en-GB" sz="3600" dirty="0"/>
          </a:p>
        </p:txBody>
      </p:sp>
    </p:spTree>
    <p:extLst>
      <p:ext uri="{BB962C8B-B14F-4D97-AF65-F5344CB8AC3E}">
        <p14:creationId xmlns:p14="http://schemas.microsoft.com/office/powerpoint/2010/main" val="1337185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BDBB-490C-21D7-AD60-057F169C5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23F05-3D40-CD2F-A710-126D69C68DFC}"/>
              </a:ext>
            </a:extLst>
          </p:cNvPr>
          <p:cNvSpPr>
            <a:spLocks noGrp="1"/>
          </p:cNvSpPr>
          <p:nvPr>
            <p:ph type="title"/>
          </p:nvPr>
        </p:nvSpPr>
        <p:spPr>
          <a:xfrm>
            <a:off x="159026" y="559678"/>
            <a:ext cx="4436880" cy="2221622"/>
          </a:xfrm>
        </p:spPr>
        <p:txBody>
          <a:bodyPr rtlCol="0">
            <a:normAutofit/>
          </a:bodyPr>
          <a:lstStyle/>
          <a:p>
            <a:r>
              <a:rPr lang="en-US" sz="3600" b="1" dirty="0"/>
              <a:t>Anthropologist’s Argument – ver. 2 </a:t>
            </a:r>
          </a:p>
        </p:txBody>
      </p:sp>
      <p:sp>
        <p:nvSpPr>
          <p:cNvPr id="10" name="Slide Number Placeholder 9">
            <a:extLst>
              <a:ext uri="{FF2B5EF4-FFF2-40B4-BE49-F238E27FC236}">
                <a16:creationId xmlns:a16="http://schemas.microsoft.com/office/drawing/2014/main" id="{3B4984A1-F58D-9827-DA3E-B329B8A19908}"/>
              </a:ext>
            </a:extLst>
          </p:cNvPr>
          <p:cNvSpPr>
            <a:spLocks noGrp="1"/>
          </p:cNvSpPr>
          <p:nvPr>
            <p:ph type="sldNum" sz="quarter" idx="12"/>
          </p:nvPr>
        </p:nvSpPr>
        <p:spPr/>
        <p:txBody>
          <a:bodyPr rtlCol="0"/>
          <a:lstStyle/>
          <a:p>
            <a:pPr rtl="0"/>
            <a:fld id="{13D2E340-0663-474B-992C-9192B5C45E57}" type="slidenum">
              <a:rPr lang="en-GB" smtClean="0"/>
              <a:t>17</a:t>
            </a:fld>
            <a:endParaRPr lang="en-GB"/>
          </a:p>
        </p:txBody>
      </p:sp>
      <p:sp>
        <p:nvSpPr>
          <p:cNvPr id="41" name="TextBox 40">
            <a:extLst>
              <a:ext uri="{FF2B5EF4-FFF2-40B4-BE49-F238E27FC236}">
                <a16:creationId xmlns:a16="http://schemas.microsoft.com/office/drawing/2014/main" id="{C89A87D9-5A68-FF6A-CF23-1B35D417E51D}"/>
              </a:ext>
            </a:extLst>
          </p:cNvPr>
          <p:cNvSpPr txBox="1"/>
          <p:nvPr/>
        </p:nvSpPr>
        <p:spPr>
          <a:xfrm>
            <a:off x="5181599" y="559678"/>
            <a:ext cx="6602412" cy="5078614"/>
          </a:xfrm>
          <a:prstGeom prst="rect">
            <a:avLst/>
          </a:prstGeom>
          <a:noFill/>
        </p:spPr>
        <p:txBody>
          <a:bodyPr wrap="square" rtlCol="0">
            <a:noAutofit/>
          </a:bodyPr>
          <a:lstStyle/>
          <a:p>
            <a:pPr marL="514350" indent="-514350">
              <a:buFont typeface="+mj-lt"/>
              <a:buAutoNum type="arabicPeriod" startAt="5"/>
            </a:pPr>
            <a:r>
              <a:rPr lang="en-GB" sz="3200" dirty="0">
                <a:effectLst/>
                <a:latin typeface="Times New Roman" panose="02020603050405020304" pitchFamily="18" charset="0"/>
                <a:ea typeface="PMingLiU" panose="02020500000000000000" pitchFamily="18" charset="-120"/>
              </a:rPr>
              <a:t>If there are no objectively true moral norms applying to all cultures (= denial of MO), then what is right and what is wrong for the members of a culture depend on the basic moral norms of their culture (= MR).</a:t>
            </a:r>
          </a:p>
          <a:p>
            <a:pPr marL="514350" indent="-514350">
              <a:buFont typeface="+mj-lt"/>
              <a:buAutoNum type="arabicPeriod" startAt="5"/>
            </a:pPr>
            <a:r>
              <a:rPr lang="en-GB" sz="3200" dirty="0">
                <a:effectLst/>
                <a:latin typeface="Times New Roman" panose="02020603050405020304" pitchFamily="18" charset="0"/>
                <a:ea typeface="PMingLiU" panose="02020500000000000000" pitchFamily="18" charset="-120"/>
              </a:rPr>
              <a:t>Thus, what is right or wrong depends on the basic moral norms of the culture in which the action is performed (MR). </a:t>
            </a:r>
          </a:p>
        </p:txBody>
      </p:sp>
    </p:spTree>
    <p:extLst>
      <p:ext uri="{BB962C8B-B14F-4D97-AF65-F5344CB8AC3E}">
        <p14:creationId xmlns:p14="http://schemas.microsoft.com/office/powerpoint/2010/main" val="3609285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A033-96ED-23F2-708D-64665EAA472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25BE152-C1CF-04DE-757B-653B3C215612}"/>
              </a:ext>
            </a:extLst>
          </p:cNvPr>
          <p:cNvSpPr txBox="1"/>
          <p:nvPr/>
        </p:nvSpPr>
        <p:spPr>
          <a:xfrm>
            <a:off x="5181599" y="655100"/>
            <a:ext cx="6602412" cy="5575012"/>
          </a:xfrm>
          <a:prstGeom prst="rect">
            <a:avLst/>
          </a:prstGeom>
          <a:noFill/>
        </p:spPr>
        <p:txBody>
          <a:bodyPr wrap="square" rtlCol="0">
            <a:noAutofit/>
          </a:bodyPr>
          <a:lstStyle/>
          <a:p>
            <a:r>
              <a:rPr lang="en-GB" sz="3200" dirty="0">
                <a:latin typeface="Times New Roman" panose="02020603050405020304" pitchFamily="18" charset="0"/>
                <a:ea typeface="PMingLiU" panose="02020500000000000000" pitchFamily="18" charset="-120"/>
                <a:cs typeface="Times New Roman" panose="02020603050405020304" pitchFamily="18" charset="0"/>
              </a:rPr>
              <a:t>Suppose we encounter someone who does not think it is morally wrong to engage “games” like “chicken pull.”</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individual shares the same non-moral beliefs about animals.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It is just that his moral code does not include a norm prohibiting such treatment of animals.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proper response is to insist that this individual is mistaken and to urge him to exercise sympathy. </a:t>
            </a: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9B560F1-99D4-642C-F3AB-A206E299A379}"/>
              </a:ext>
            </a:extLst>
          </p:cNvPr>
          <p:cNvSpPr>
            <a:spLocks noGrp="1"/>
          </p:cNvSpPr>
          <p:nvPr>
            <p:ph type="sldNum" sz="quarter" idx="12"/>
          </p:nvPr>
        </p:nvSpPr>
        <p:spPr/>
        <p:txBody>
          <a:bodyPr rtlCol="0"/>
          <a:lstStyle/>
          <a:p>
            <a:pPr rtl="0"/>
            <a:fld id="{13D2E340-0663-474B-992C-9192B5C45E57}" type="slidenum">
              <a:rPr lang="en-GB" smtClean="0"/>
              <a:t>18</a:t>
            </a:fld>
            <a:endParaRPr lang="en-GB"/>
          </a:p>
        </p:txBody>
      </p:sp>
      <p:sp>
        <p:nvSpPr>
          <p:cNvPr id="2" name="Title 1">
            <a:extLst>
              <a:ext uri="{FF2B5EF4-FFF2-40B4-BE49-F238E27FC236}">
                <a16:creationId xmlns:a16="http://schemas.microsoft.com/office/drawing/2014/main" id="{B32F4C31-1E58-34D1-1712-8D743CC76747}"/>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800" b="1" dirty="0"/>
              <a:t>An Objectivist Response</a:t>
            </a:r>
            <a:endParaRPr lang="en-GB" sz="4800" dirty="0"/>
          </a:p>
        </p:txBody>
      </p:sp>
    </p:spTree>
    <p:extLst>
      <p:ext uri="{BB962C8B-B14F-4D97-AF65-F5344CB8AC3E}">
        <p14:creationId xmlns:p14="http://schemas.microsoft.com/office/powerpoint/2010/main" val="458496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90BE-ED03-A479-6E8D-A045746A4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7B745-99DE-21FE-CBBA-84A780E3F7E1}"/>
              </a:ext>
            </a:extLst>
          </p:cNvPr>
          <p:cNvSpPr>
            <a:spLocks noGrp="1"/>
          </p:cNvSpPr>
          <p:nvPr>
            <p:ph type="title"/>
          </p:nvPr>
        </p:nvSpPr>
        <p:spPr>
          <a:xfrm>
            <a:off x="762000" y="559678"/>
            <a:ext cx="3833906" cy="1726322"/>
          </a:xfrm>
        </p:spPr>
        <p:txBody>
          <a:bodyPr rtlCol="0">
            <a:normAutofit fontScale="90000"/>
          </a:bodyPr>
          <a:lstStyle/>
          <a:p>
            <a:r>
              <a:rPr lang="en-US" sz="4400" b="1" dirty="0"/>
              <a:t>Problems of Formulation</a:t>
            </a:r>
            <a:endParaRPr lang="en-GB" sz="4400" dirty="0"/>
          </a:p>
        </p:txBody>
      </p:sp>
      <p:sp>
        <p:nvSpPr>
          <p:cNvPr id="10" name="Slide Number Placeholder 9">
            <a:extLst>
              <a:ext uri="{FF2B5EF4-FFF2-40B4-BE49-F238E27FC236}">
                <a16:creationId xmlns:a16="http://schemas.microsoft.com/office/drawing/2014/main" id="{85518A08-C94B-3764-5B99-F68013B81BA7}"/>
              </a:ext>
            </a:extLst>
          </p:cNvPr>
          <p:cNvSpPr>
            <a:spLocks noGrp="1"/>
          </p:cNvSpPr>
          <p:nvPr>
            <p:ph type="sldNum" sz="quarter" idx="12"/>
          </p:nvPr>
        </p:nvSpPr>
        <p:spPr/>
        <p:txBody>
          <a:bodyPr rtlCol="0"/>
          <a:lstStyle/>
          <a:p>
            <a:pPr rtl="0"/>
            <a:fld id="{13D2E340-0663-474B-992C-9192B5C45E57}" type="slidenum">
              <a:rPr lang="en-GB" smtClean="0"/>
              <a:t>19</a:t>
            </a:fld>
            <a:endParaRPr lang="en-GB"/>
          </a:p>
        </p:txBody>
      </p:sp>
      <p:sp>
        <p:nvSpPr>
          <p:cNvPr id="41" name="TextBox 40">
            <a:extLst>
              <a:ext uri="{FF2B5EF4-FFF2-40B4-BE49-F238E27FC236}">
                <a16:creationId xmlns:a16="http://schemas.microsoft.com/office/drawing/2014/main" id="{B88E10D4-EDDE-2CBD-7896-AA10D691CF83}"/>
              </a:ext>
            </a:extLst>
          </p:cNvPr>
          <p:cNvSpPr txBox="1"/>
          <p:nvPr/>
        </p:nvSpPr>
        <p:spPr>
          <a:xfrm>
            <a:off x="5181599" y="559678"/>
            <a:ext cx="6602412" cy="5078614"/>
          </a:xfrm>
          <a:prstGeom prst="rect">
            <a:avLst/>
          </a:prstGeom>
          <a:noFill/>
        </p:spPr>
        <p:txBody>
          <a:bodyPr wrap="square" rtlCol="0">
            <a:noAutofit/>
          </a:bodyPr>
          <a:lstStyle/>
          <a:p>
            <a:r>
              <a:rPr lang="en-US" sz="3600" i="1" dirty="0">
                <a:effectLst/>
                <a:latin typeface="Times New Roman" panose="02020603050405020304" pitchFamily="18" charset="0"/>
                <a:ea typeface="PMingLiU" panose="02020500000000000000" pitchFamily="18" charset="-120"/>
              </a:rPr>
              <a:t>Consistency</a:t>
            </a:r>
          </a:p>
          <a:p>
            <a:pPr marL="571500" indent="-5715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Suppose that Susan is a member of the Roman Catholic Church, which forbids almost all abortions, but that she is also a member of the Democratic Party, whose moral code does not forbid abortion and condones it in a wide variety of cases.</a:t>
            </a:r>
          </a:p>
          <a:p>
            <a:pPr marL="571500" indent="-5715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Having an abortion would be both right and wrong, if moral relativism is true. </a:t>
            </a:r>
            <a:endParaRPr lang="en-US" sz="3200" dirty="0">
              <a:effectLst/>
              <a:latin typeface="Times New Roman" panose="02020603050405020304" pitchFamily="18" charset="0"/>
              <a:ea typeface="PMingLiU" panose="02020500000000000000" pitchFamily="18" charset="-120"/>
            </a:endParaRPr>
          </a:p>
          <a:p>
            <a:endParaRPr lang="en-US" sz="25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3971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1BC9A-137A-75ED-5A47-47A6FC6DE71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52650B4-F076-8C3D-9283-6840DB303234}"/>
              </a:ext>
            </a:extLst>
          </p:cNvPr>
          <p:cNvSpPr txBox="1"/>
          <p:nvPr/>
        </p:nvSpPr>
        <p:spPr>
          <a:xfrm>
            <a:off x="5181599" y="655100"/>
            <a:ext cx="6602412" cy="5575012"/>
          </a:xfrm>
          <a:prstGeom prst="rect">
            <a:avLst/>
          </a:prstGeom>
          <a:noFill/>
        </p:spPr>
        <p:txBody>
          <a:bodyPr wrap="square" rtlCol="0">
            <a:noAutofit/>
          </a:bodyPr>
          <a:lstStyle/>
          <a:p>
            <a:r>
              <a:rPr lang="en-US" sz="3600" i="1" dirty="0">
                <a:latin typeface="Times New Roman" panose="02020603050405020304" pitchFamily="18" charset="0"/>
                <a:ea typeface="PMingLiU" panose="02020500000000000000" pitchFamily="18" charset="-120"/>
                <a:cs typeface="Times New Roman" panose="02020603050405020304" pitchFamily="18" charset="0"/>
              </a:rPr>
              <a:t>Usability &amp; Determinacy</a:t>
            </a:r>
          </a:p>
          <a:p>
            <a:pPr marL="571500" indent="-571500">
              <a:buFont typeface="Arial" panose="020B0604020202020204" pitchFamily="34" charset="0"/>
              <a:buChar char="•"/>
            </a:pPr>
            <a:r>
              <a:rPr lang="en-US" sz="3600" dirty="0">
                <a:latin typeface="Times New Roman" panose="02020603050405020304" pitchFamily="18" charset="0"/>
                <a:ea typeface="PMingLiU" panose="02020500000000000000" pitchFamily="18" charset="-120"/>
                <a:cs typeface="Times New Roman" panose="02020603050405020304" pitchFamily="18" charset="0"/>
              </a:rPr>
              <a:t>Absent a determinate account of what counts as a culture, one would not be able to specify what it is that makes an action right or wrong.</a:t>
            </a:r>
          </a:p>
          <a:p>
            <a:pPr marL="571500" indent="-571500">
              <a:buFont typeface="Arial" panose="020B0604020202020204" pitchFamily="34" charset="0"/>
              <a:buChar char="•"/>
            </a:pPr>
            <a:r>
              <a:rPr lang="en-US" sz="3600" dirty="0">
                <a:latin typeface="Times New Roman" panose="02020603050405020304" pitchFamily="18" charset="0"/>
                <a:ea typeface="PMingLiU" panose="02020500000000000000" pitchFamily="18" charset="-120"/>
                <a:cs typeface="Times New Roman" panose="02020603050405020304" pitchFamily="18" charset="0"/>
              </a:rPr>
              <a:t>By language? Ethnic origins? Religious affiliations? Political views?  </a:t>
            </a:r>
          </a:p>
        </p:txBody>
      </p:sp>
      <p:sp>
        <p:nvSpPr>
          <p:cNvPr id="5" name="Slide Number Placeholder 4">
            <a:extLst>
              <a:ext uri="{FF2B5EF4-FFF2-40B4-BE49-F238E27FC236}">
                <a16:creationId xmlns:a16="http://schemas.microsoft.com/office/drawing/2014/main" id="{379E02BD-6EB1-6196-7926-24805B23C692}"/>
              </a:ext>
            </a:extLst>
          </p:cNvPr>
          <p:cNvSpPr>
            <a:spLocks noGrp="1"/>
          </p:cNvSpPr>
          <p:nvPr>
            <p:ph type="sldNum" sz="quarter" idx="12"/>
          </p:nvPr>
        </p:nvSpPr>
        <p:spPr/>
        <p:txBody>
          <a:bodyPr rtlCol="0"/>
          <a:lstStyle/>
          <a:p>
            <a:pPr rtl="0"/>
            <a:fld id="{13D2E340-0663-474B-992C-9192B5C45E57}" type="slidenum">
              <a:rPr lang="en-GB" smtClean="0"/>
              <a:t>20</a:t>
            </a:fld>
            <a:endParaRPr lang="en-GB"/>
          </a:p>
        </p:txBody>
      </p:sp>
      <p:sp>
        <p:nvSpPr>
          <p:cNvPr id="2" name="Title 1">
            <a:extLst>
              <a:ext uri="{FF2B5EF4-FFF2-40B4-BE49-F238E27FC236}">
                <a16:creationId xmlns:a16="http://schemas.microsoft.com/office/drawing/2014/main" id="{D1C641B0-E966-4EEC-BE2B-FD1F70B5AF16}"/>
              </a:ext>
            </a:extLst>
          </p:cNvPr>
          <p:cNvSpPr txBox="1">
            <a:spLocks/>
          </p:cNvSpPr>
          <p:nvPr/>
        </p:nvSpPr>
        <p:spPr>
          <a:xfrm>
            <a:off x="185530" y="1220984"/>
            <a:ext cx="4287787"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800" b="1" dirty="0"/>
              <a:t>Problems of Formulation</a:t>
            </a:r>
            <a:endParaRPr lang="en-GB" sz="4800" dirty="0"/>
          </a:p>
        </p:txBody>
      </p:sp>
    </p:spTree>
    <p:extLst>
      <p:ext uri="{BB962C8B-B14F-4D97-AF65-F5344CB8AC3E}">
        <p14:creationId xmlns:p14="http://schemas.microsoft.com/office/powerpoint/2010/main" val="3041542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44CA8-240E-B719-50C3-D49290713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7AEF9-CF44-71EB-B4EA-B4988F6B1F28}"/>
              </a:ext>
            </a:extLst>
          </p:cNvPr>
          <p:cNvSpPr>
            <a:spLocks noGrp="1"/>
          </p:cNvSpPr>
          <p:nvPr>
            <p:ph type="title"/>
          </p:nvPr>
        </p:nvSpPr>
        <p:spPr>
          <a:xfrm>
            <a:off x="762000" y="559678"/>
            <a:ext cx="3833906" cy="1726322"/>
          </a:xfrm>
        </p:spPr>
        <p:txBody>
          <a:bodyPr rtlCol="0">
            <a:normAutofit fontScale="90000"/>
          </a:bodyPr>
          <a:lstStyle/>
          <a:p>
            <a:r>
              <a:rPr lang="en-US" sz="4400" b="1" dirty="0"/>
              <a:t>Problem of Intercultural Evaluation</a:t>
            </a:r>
            <a:endParaRPr lang="en-GB" sz="4400" dirty="0"/>
          </a:p>
        </p:txBody>
      </p:sp>
      <p:sp>
        <p:nvSpPr>
          <p:cNvPr id="10" name="Slide Number Placeholder 9">
            <a:extLst>
              <a:ext uri="{FF2B5EF4-FFF2-40B4-BE49-F238E27FC236}">
                <a16:creationId xmlns:a16="http://schemas.microsoft.com/office/drawing/2014/main" id="{D9CF755A-AA36-8384-8545-B08D581CC7B2}"/>
              </a:ext>
            </a:extLst>
          </p:cNvPr>
          <p:cNvSpPr>
            <a:spLocks noGrp="1"/>
          </p:cNvSpPr>
          <p:nvPr>
            <p:ph type="sldNum" sz="quarter" idx="12"/>
          </p:nvPr>
        </p:nvSpPr>
        <p:spPr/>
        <p:txBody>
          <a:bodyPr rtlCol="0"/>
          <a:lstStyle/>
          <a:p>
            <a:pPr rtl="0"/>
            <a:fld id="{13D2E340-0663-474B-992C-9192B5C45E57}" type="slidenum">
              <a:rPr lang="en-GB" smtClean="0"/>
              <a:t>21</a:t>
            </a:fld>
            <a:endParaRPr lang="en-GB"/>
          </a:p>
        </p:txBody>
      </p:sp>
      <p:sp>
        <p:nvSpPr>
          <p:cNvPr id="41" name="TextBox 40">
            <a:extLst>
              <a:ext uri="{FF2B5EF4-FFF2-40B4-BE49-F238E27FC236}">
                <a16:creationId xmlns:a16="http://schemas.microsoft.com/office/drawing/2014/main" id="{2AA37BEF-2A13-A87D-87A1-1C0667C51DD0}"/>
              </a:ext>
            </a:extLst>
          </p:cNvPr>
          <p:cNvSpPr txBox="1"/>
          <p:nvPr/>
        </p:nvSpPr>
        <p:spPr>
          <a:xfrm>
            <a:off x="5181599" y="559677"/>
            <a:ext cx="6602412" cy="5413039"/>
          </a:xfrm>
          <a:prstGeom prst="rect">
            <a:avLst/>
          </a:prstGeom>
          <a:noFill/>
        </p:spPr>
        <p:txBody>
          <a:bodyPr wrap="square" rtlCol="0">
            <a:noAutofit/>
          </a:bodyPr>
          <a:lstStyle/>
          <a:p>
            <a:pPr marL="571500" indent="-571500">
              <a:buFont typeface="Arial" panose="020B0604020202020204" pitchFamily="34" charset="0"/>
              <a:buChar char="•"/>
            </a:pPr>
            <a:r>
              <a:rPr lang="en-GB" sz="3600" dirty="0">
                <a:effectLst/>
                <a:latin typeface="Times New Roman" panose="02020603050405020304" pitchFamily="18" charset="0"/>
                <a:ea typeface="PMingLiU" panose="02020500000000000000" pitchFamily="18" charset="-120"/>
              </a:rPr>
              <a:t>If MR is true, the basic moral norms of a culture set the very standard for right and wrong, then it makes no sense to question the correctness of those norms—they just are the ultimate standards for the relevant culture.</a:t>
            </a:r>
          </a:p>
          <a:p>
            <a:pPr marL="571500" indent="-571500">
              <a:buFont typeface="Arial" panose="020B0604020202020204" pitchFamily="34" charset="0"/>
              <a:buChar char="•"/>
            </a:pPr>
            <a:r>
              <a:rPr lang="en-US" sz="3600" dirty="0">
                <a:effectLst/>
                <a:latin typeface="Times New Roman" panose="02020603050405020304" pitchFamily="18" charset="0"/>
                <a:ea typeface="PMingLiU" panose="02020500000000000000" pitchFamily="18" charset="-120"/>
              </a:rPr>
              <a:t>But surely it makes sense. </a:t>
            </a:r>
          </a:p>
        </p:txBody>
      </p:sp>
    </p:spTree>
    <p:extLst>
      <p:ext uri="{BB962C8B-B14F-4D97-AF65-F5344CB8AC3E}">
        <p14:creationId xmlns:p14="http://schemas.microsoft.com/office/powerpoint/2010/main" val="2969664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F5A4E-0400-7D31-7AA0-5B69576EA1E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CAD5DA9-996C-68F6-8D4B-587EB37D52B2}"/>
              </a:ext>
            </a:extLst>
          </p:cNvPr>
          <p:cNvSpPr txBox="1"/>
          <p:nvPr/>
        </p:nvSpPr>
        <p:spPr>
          <a:xfrm>
            <a:off x="5181599" y="655100"/>
            <a:ext cx="6602412" cy="5575012"/>
          </a:xfrm>
          <a:prstGeom prst="rect">
            <a:avLst/>
          </a:prstGeom>
          <a:noFill/>
        </p:spPr>
        <p:txBody>
          <a:bodyPr wrap="square" rtlCol="0">
            <a:noAutofit/>
          </a:bodyPr>
          <a:lstStyle/>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Preachers and politicians talk about how morality has declined.</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We may also claim that our moral code has improved over time, especially concerning racial and gender equality.</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Can such comparative claims make sense for the moral relativist? </a:t>
            </a:r>
            <a:endParaRPr lang="en-US" sz="36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4C896D1-5179-D8DB-2297-0B7699AE79BC}"/>
              </a:ext>
            </a:extLst>
          </p:cNvPr>
          <p:cNvSpPr>
            <a:spLocks noGrp="1"/>
          </p:cNvSpPr>
          <p:nvPr>
            <p:ph type="sldNum" sz="quarter" idx="12"/>
          </p:nvPr>
        </p:nvSpPr>
        <p:spPr/>
        <p:txBody>
          <a:bodyPr rtlCol="0"/>
          <a:lstStyle/>
          <a:p>
            <a:pPr rtl="0"/>
            <a:fld id="{13D2E340-0663-474B-992C-9192B5C45E57}" type="slidenum">
              <a:rPr lang="en-GB" smtClean="0"/>
              <a:t>22</a:t>
            </a:fld>
            <a:endParaRPr lang="en-GB"/>
          </a:p>
        </p:txBody>
      </p:sp>
      <p:sp>
        <p:nvSpPr>
          <p:cNvPr id="2" name="Title 1">
            <a:extLst>
              <a:ext uri="{FF2B5EF4-FFF2-40B4-BE49-F238E27FC236}">
                <a16:creationId xmlns:a16="http://schemas.microsoft.com/office/drawing/2014/main" id="{7746931E-F547-F080-D624-A96E982FEDC9}"/>
              </a:ext>
            </a:extLst>
          </p:cNvPr>
          <p:cNvSpPr txBox="1">
            <a:spLocks/>
          </p:cNvSpPr>
          <p:nvPr/>
        </p:nvSpPr>
        <p:spPr>
          <a:xfrm>
            <a:off x="185530" y="1220984"/>
            <a:ext cx="4287787"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Problem of Intracultural Evaluation</a:t>
            </a:r>
            <a:endParaRPr lang="en-GB" sz="4400" dirty="0"/>
          </a:p>
        </p:txBody>
      </p:sp>
    </p:spTree>
    <p:extLst>
      <p:ext uri="{BB962C8B-B14F-4D97-AF65-F5344CB8AC3E}">
        <p14:creationId xmlns:p14="http://schemas.microsoft.com/office/powerpoint/2010/main" val="2117672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EDC41-D388-DC74-F096-E2573385D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31819-DF41-13AB-A162-F0BA9D54390A}"/>
              </a:ext>
            </a:extLst>
          </p:cNvPr>
          <p:cNvSpPr>
            <a:spLocks noGrp="1"/>
          </p:cNvSpPr>
          <p:nvPr>
            <p:ph type="title"/>
          </p:nvPr>
        </p:nvSpPr>
        <p:spPr>
          <a:xfrm>
            <a:off x="762000" y="559677"/>
            <a:ext cx="3833906" cy="1943679"/>
          </a:xfrm>
        </p:spPr>
        <p:txBody>
          <a:bodyPr rtlCol="0">
            <a:noAutofit/>
          </a:bodyPr>
          <a:lstStyle/>
          <a:p>
            <a:r>
              <a:rPr lang="en-GB" sz="4400" b="1" dirty="0"/>
              <a:t>Moral Reformer Problem</a:t>
            </a:r>
            <a:endParaRPr lang="en-GB" sz="4400" dirty="0"/>
          </a:p>
        </p:txBody>
      </p:sp>
      <p:sp>
        <p:nvSpPr>
          <p:cNvPr id="10" name="Slide Number Placeholder 9">
            <a:extLst>
              <a:ext uri="{FF2B5EF4-FFF2-40B4-BE49-F238E27FC236}">
                <a16:creationId xmlns:a16="http://schemas.microsoft.com/office/drawing/2014/main" id="{202A0643-9DE2-9EF9-D8F0-CC528FBAAC21}"/>
              </a:ext>
            </a:extLst>
          </p:cNvPr>
          <p:cNvSpPr>
            <a:spLocks noGrp="1"/>
          </p:cNvSpPr>
          <p:nvPr>
            <p:ph type="sldNum" sz="quarter" idx="12"/>
          </p:nvPr>
        </p:nvSpPr>
        <p:spPr/>
        <p:txBody>
          <a:bodyPr rtlCol="0"/>
          <a:lstStyle/>
          <a:p>
            <a:pPr rtl="0"/>
            <a:fld id="{13D2E340-0663-474B-992C-9192B5C45E57}" type="slidenum">
              <a:rPr lang="en-GB" smtClean="0"/>
              <a:t>23</a:t>
            </a:fld>
            <a:endParaRPr lang="en-GB"/>
          </a:p>
        </p:txBody>
      </p:sp>
      <p:sp>
        <p:nvSpPr>
          <p:cNvPr id="41" name="TextBox 40">
            <a:extLst>
              <a:ext uri="{FF2B5EF4-FFF2-40B4-BE49-F238E27FC236}">
                <a16:creationId xmlns:a16="http://schemas.microsoft.com/office/drawing/2014/main" id="{FCF915D5-26C1-ACEB-A212-248142F21006}"/>
              </a:ext>
            </a:extLst>
          </p:cNvPr>
          <p:cNvSpPr txBox="1"/>
          <p:nvPr/>
        </p:nvSpPr>
        <p:spPr>
          <a:xfrm>
            <a:off x="5181599" y="559677"/>
            <a:ext cx="6602412" cy="5413039"/>
          </a:xfrm>
          <a:prstGeom prst="rect">
            <a:avLst/>
          </a:prstGeom>
          <a:noFill/>
        </p:spPr>
        <p:txBody>
          <a:bodyPr wrap="square" rtlCol="0">
            <a:noAutofit/>
          </a:bodyPr>
          <a:lstStyle/>
          <a:p>
            <a:pPr marL="571500" indent="-571500">
              <a:buFont typeface="Arial" panose="020B0604020202020204" pitchFamily="34" charset="0"/>
              <a:buChar char="•"/>
            </a:pPr>
            <a:r>
              <a:rPr lang="en-GB" sz="3600" dirty="0">
                <a:effectLst/>
                <a:latin typeface="Times New Roman" panose="02020603050405020304" pitchFamily="18" charset="0"/>
                <a:ea typeface="PMingLiU" panose="02020500000000000000" pitchFamily="18" charset="-120"/>
              </a:rPr>
              <a:t>If MR is true, whenever a member of a culture attempts to reform its moral code and publicly opposes its practice, he is in the wrong. </a:t>
            </a:r>
            <a:endParaRPr lang="en-US" sz="36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12277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3801-566A-595A-36EB-AA61A65EFE0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DA93FC1-11E1-6E5B-422E-6C7DF22BEAF9}"/>
              </a:ext>
            </a:extLst>
          </p:cNvPr>
          <p:cNvSpPr txBox="1"/>
          <p:nvPr/>
        </p:nvSpPr>
        <p:spPr>
          <a:xfrm>
            <a:off x="5181599" y="655100"/>
            <a:ext cx="6602412" cy="5575012"/>
          </a:xfrm>
          <a:prstGeom prst="rect">
            <a:avLst/>
          </a:prstGeom>
          <a:noFill/>
        </p:spPr>
        <p:txBody>
          <a:bodyPr wrap="square" rtlCol="0">
            <a:noAutofit/>
          </a:bodyPr>
          <a:lstStyle/>
          <a:p>
            <a:r>
              <a:rPr lang="en-US" sz="3600" i="1" dirty="0">
                <a:latin typeface="Times New Roman" panose="02020603050405020304" pitchFamily="18" charset="0"/>
                <a:ea typeface="PMingLiU" panose="02020500000000000000" pitchFamily="18" charset="-120"/>
                <a:cs typeface="Times New Roman" panose="02020603050405020304" pitchFamily="18" charset="0"/>
              </a:rPr>
              <a:t>Internal support</a:t>
            </a:r>
          </a:p>
          <a:p>
            <a:pPr marL="571500" indent="-571500">
              <a:buFont typeface="Arial" panose="020B0604020202020204" pitchFamily="34" charset="0"/>
              <a:buChar char="•"/>
            </a:pPr>
            <a:r>
              <a:rPr lang="en-US" sz="3600" dirty="0">
                <a:latin typeface="Times New Roman" panose="02020603050405020304" pitchFamily="18" charset="0"/>
                <a:ea typeface="PMingLiU" panose="02020500000000000000" pitchFamily="18" charset="-120"/>
                <a:cs typeface="Times New Roman" panose="02020603050405020304" pitchFamily="18" charset="0"/>
              </a:rPr>
              <a:t>It is conceivable that </a:t>
            </a:r>
            <a:r>
              <a:rPr lang="en-GB" sz="3600" dirty="0">
                <a:latin typeface="Times New Roman" panose="02020603050405020304" pitchFamily="18" charset="0"/>
                <a:ea typeface="PMingLiU" panose="02020500000000000000" pitchFamily="18" charset="-120"/>
                <a:cs typeface="Times New Roman" panose="02020603050405020304" pitchFamily="18" charset="0"/>
              </a:rPr>
              <a:t>a culture’s basic moral norms conflict with one’s considered moral beliefs. Take Nazi Germany’s antisemitism for example.</a:t>
            </a:r>
            <a:endParaRPr lang="en-US" sz="3600" dirty="0">
              <a:latin typeface="Times New Roman" panose="02020603050405020304" pitchFamily="18" charset="0"/>
              <a:ea typeface="PMingLiU" panose="02020500000000000000" pitchFamily="18" charset="-120"/>
              <a:cs typeface="Times New Roman" panose="02020603050405020304" pitchFamily="18" charset="0"/>
            </a:endParaRPr>
          </a:p>
          <a:p>
            <a:r>
              <a:rPr lang="en-GB" sz="3600" i="1" dirty="0">
                <a:latin typeface="Times New Roman" panose="02020603050405020304" pitchFamily="18" charset="0"/>
                <a:ea typeface="PMingLiU" panose="02020500000000000000" pitchFamily="18" charset="-120"/>
                <a:cs typeface="Times New Roman" panose="02020603050405020304" pitchFamily="18" charset="0"/>
              </a:rPr>
              <a:t>Explanatory power</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Failure</a:t>
            </a:r>
            <a:r>
              <a:rPr lang="en-GB" sz="3600" i="1" dirty="0">
                <a:latin typeface="Times New Roman" panose="02020603050405020304" pitchFamily="18" charset="0"/>
                <a:ea typeface="PMingLiU" panose="02020500000000000000" pitchFamily="18" charset="-120"/>
                <a:cs typeface="Times New Roman" panose="02020603050405020304" pitchFamily="18" charset="0"/>
              </a:rPr>
              <a:t> </a:t>
            </a:r>
            <a:r>
              <a:rPr lang="en-GB" sz="3600" dirty="0">
                <a:latin typeface="Times New Roman" panose="02020603050405020304" pitchFamily="18" charset="0"/>
                <a:ea typeface="PMingLiU" panose="02020500000000000000" pitchFamily="18" charset="-120"/>
                <a:cs typeface="Times New Roman" panose="02020603050405020304" pitchFamily="18" charset="0"/>
              </a:rPr>
              <a:t>of internal support at the same a failure of explanation </a:t>
            </a:r>
          </a:p>
        </p:txBody>
      </p:sp>
      <p:sp>
        <p:nvSpPr>
          <p:cNvPr id="5" name="Slide Number Placeholder 4">
            <a:extLst>
              <a:ext uri="{FF2B5EF4-FFF2-40B4-BE49-F238E27FC236}">
                <a16:creationId xmlns:a16="http://schemas.microsoft.com/office/drawing/2014/main" id="{6594FC49-3B9D-27A4-EEDC-947907285A7F}"/>
              </a:ext>
            </a:extLst>
          </p:cNvPr>
          <p:cNvSpPr>
            <a:spLocks noGrp="1"/>
          </p:cNvSpPr>
          <p:nvPr>
            <p:ph type="sldNum" sz="quarter" idx="12"/>
          </p:nvPr>
        </p:nvSpPr>
        <p:spPr/>
        <p:txBody>
          <a:bodyPr rtlCol="0"/>
          <a:lstStyle/>
          <a:p>
            <a:pPr rtl="0"/>
            <a:fld id="{13D2E340-0663-474B-992C-9192B5C45E57}" type="slidenum">
              <a:rPr lang="en-GB" smtClean="0"/>
              <a:t>24</a:t>
            </a:fld>
            <a:endParaRPr lang="en-GB"/>
          </a:p>
        </p:txBody>
      </p:sp>
      <p:sp>
        <p:nvSpPr>
          <p:cNvPr id="2" name="Title 1">
            <a:extLst>
              <a:ext uri="{FF2B5EF4-FFF2-40B4-BE49-F238E27FC236}">
                <a16:creationId xmlns:a16="http://schemas.microsoft.com/office/drawing/2014/main" id="{7F5C3CDC-B87D-CB13-7E83-584A1CA95C53}"/>
              </a:ext>
            </a:extLst>
          </p:cNvPr>
          <p:cNvSpPr txBox="1">
            <a:spLocks/>
          </p:cNvSpPr>
          <p:nvPr/>
        </p:nvSpPr>
        <p:spPr>
          <a:xfrm>
            <a:off x="185530" y="764498"/>
            <a:ext cx="4287787" cy="1948722"/>
          </a:xfrm>
          <a:prstGeom prst="rect">
            <a:avLst/>
          </a:prstGeom>
        </p:spPr>
        <p:txBody>
          <a:bodyPr vert="horz" lIns="91440" tIns="45720" rIns="91440" bIns="45720" rtlCol="0" anchor="t">
            <a:normAutofit fontScale="92500" lnSpcReduction="2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400" b="1" dirty="0"/>
              <a:t>Internal Support &amp; Explanatory Power</a:t>
            </a:r>
            <a:endParaRPr lang="en-GB" sz="4400" dirty="0"/>
          </a:p>
        </p:txBody>
      </p:sp>
      <p:pic>
        <p:nvPicPr>
          <p:cNvPr id="4" name="Picture 3">
            <a:extLst>
              <a:ext uri="{FF2B5EF4-FFF2-40B4-BE49-F238E27FC236}">
                <a16:creationId xmlns:a16="http://schemas.microsoft.com/office/drawing/2014/main" id="{B7AAF58D-19BB-2308-8160-B9747C1C459F}"/>
              </a:ext>
            </a:extLst>
          </p:cNvPr>
          <p:cNvPicPr>
            <a:picLocks noChangeAspect="1"/>
          </p:cNvPicPr>
          <p:nvPr/>
        </p:nvPicPr>
        <p:blipFill>
          <a:blip r:embed="rId3"/>
          <a:stretch>
            <a:fillRect/>
          </a:stretch>
        </p:blipFill>
        <p:spPr>
          <a:xfrm>
            <a:off x="185530" y="2946619"/>
            <a:ext cx="4287787" cy="2858525"/>
          </a:xfrm>
          <a:prstGeom prst="rect">
            <a:avLst/>
          </a:prstGeom>
        </p:spPr>
      </p:pic>
    </p:spTree>
    <p:extLst>
      <p:ext uri="{BB962C8B-B14F-4D97-AF65-F5344CB8AC3E}">
        <p14:creationId xmlns:p14="http://schemas.microsoft.com/office/powerpoint/2010/main" val="1219723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24308-77EF-EA73-C18C-DEEB871B4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9854E-9A55-AF62-34A3-ACB92013D86A}"/>
              </a:ext>
            </a:extLst>
          </p:cNvPr>
          <p:cNvSpPr>
            <a:spLocks noGrp="1"/>
          </p:cNvSpPr>
          <p:nvPr>
            <p:ph type="title"/>
          </p:nvPr>
        </p:nvSpPr>
        <p:spPr>
          <a:xfrm>
            <a:off x="762000" y="559677"/>
            <a:ext cx="3833906" cy="1943679"/>
          </a:xfrm>
        </p:spPr>
        <p:txBody>
          <a:bodyPr rtlCol="0">
            <a:noAutofit/>
          </a:bodyPr>
          <a:lstStyle/>
          <a:p>
            <a:r>
              <a:rPr lang="en-GB" sz="4400" b="1" dirty="0"/>
              <a:t>Restricted Moral Relativism</a:t>
            </a:r>
            <a:endParaRPr lang="en-GB" sz="4400" dirty="0"/>
          </a:p>
        </p:txBody>
      </p:sp>
      <p:sp>
        <p:nvSpPr>
          <p:cNvPr id="10" name="Slide Number Placeholder 9">
            <a:extLst>
              <a:ext uri="{FF2B5EF4-FFF2-40B4-BE49-F238E27FC236}">
                <a16:creationId xmlns:a16="http://schemas.microsoft.com/office/drawing/2014/main" id="{C7848D03-BF24-DEC9-D17A-7046773AD957}"/>
              </a:ext>
            </a:extLst>
          </p:cNvPr>
          <p:cNvSpPr>
            <a:spLocks noGrp="1"/>
          </p:cNvSpPr>
          <p:nvPr>
            <p:ph type="sldNum" sz="quarter" idx="12"/>
          </p:nvPr>
        </p:nvSpPr>
        <p:spPr/>
        <p:txBody>
          <a:bodyPr rtlCol="0"/>
          <a:lstStyle/>
          <a:p>
            <a:pPr rtl="0"/>
            <a:fld id="{13D2E340-0663-474B-992C-9192B5C45E57}" type="slidenum">
              <a:rPr lang="en-GB" smtClean="0"/>
              <a:t>25</a:t>
            </a:fld>
            <a:endParaRPr lang="en-GB"/>
          </a:p>
        </p:txBody>
      </p:sp>
      <p:sp>
        <p:nvSpPr>
          <p:cNvPr id="41" name="TextBox 40">
            <a:extLst>
              <a:ext uri="{FF2B5EF4-FFF2-40B4-BE49-F238E27FC236}">
                <a16:creationId xmlns:a16="http://schemas.microsoft.com/office/drawing/2014/main" id="{F72DE08B-B1B6-47A9-E276-7232EBDFA904}"/>
              </a:ext>
            </a:extLst>
          </p:cNvPr>
          <p:cNvSpPr txBox="1"/>
          <p:nvPr/>
        </p:nvSpPr>
        <p:spPr>
          <a:xfrm>
            <a:off x="5181599" y="559677"/>
            <a:ext cx="6602412" cy="5413039"/>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What is right and what is wrong for the members of a culture depend on  the basic moral norms of their culture, </a:t>
            </a:r>
            <a:r>
              <a:rPr lang="en-GB" sz="3600" i="1" dirty="0">
                <a:solidFill>
                  <a:srgbClr val="FF0000"/>
                </a:solidFill>
                <a:latin typeface="Times New Roman" panose="02020603050405020304" pitchFamily="18" charset="0"/>
                <a:ea typeface="PMingLiU" panose="02020500000000000000" pitchFamily="18" charset="-120"/>
              </a:rPr>
              <a:t>but only in cases where those norms are consistent with those universal constraints on an adequate morality that properly reflect the functions of morality as well as facts about human nature</a:t>
            </a:r>
            <a:r>
              <a:rPr lang="en-GB" sz="3600" i="1" dirty="0">
                <a:latin typeface="Times New Roman" panose="02020603050405020304" pitchFamily="18" charset="0"/>
                <a:ea typeface="PMingLiU" panose="02020500000000000000" pitchFamily="18" charset="-120"/>
              </a:rPr>
              <a:t>.</a:t>
            </a:r>
            <a:endParaRPr lang="en-US" sz="36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432863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F204C-0FFA-C21C-5311-4958ADA2EC6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6611172-F4E4-B2B1-48D7-FFDA6301A286}"/>
              </a:ext>
            </a:extLst>
          </p:cNvPr>
          <p:cNvSpPr txBox="1"/>
          <p:nvPr/>
        </p:nvSpPr>
        <p:spPr>
          <a:xfrm>
            <a:off x="5181599" y="655100"/>
            <a:ext cx="6602412" cy="5575012"/>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Culture-independent constraints</a:t>
            </a: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Intrapersonal as well as interpersonal functions of morality, and </a:t>
            </a:r>
          </a:p>
          <a:p>
            <a:pPr marL="742950" indent="-742950">
              <a:buFont typeface="+mj-lt"/>
              <a:buAutoNum type="arabicPeriod"/>
            </a:pPr>
            <a:r>
              <a:rPr lang="en-GB" sz="3600" dirty="0">
                <a:latin typeface="Times New Roman" panose="02020603050405020304" pitchFamily="18" charset="0"/>
                <a:ea typeface="PMingLiU" panose="02020500000000000000" pitchFamily="18" charset="-120"/>
              </a:rPr>
              <a:t>Facts about human nature</a:t>
            </a:r>
          </a:p>
          <a:p>
            <a:pPr marL="1200150" lvl="1" indent="-74295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satisfaction of their physical needs</a:t>
            </a:r>
          </a:p>
          <a:p>
            <a:pPr marL="1200150" lvl="1" indent="-74295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The goods of intimacy, sociability, and social status</a:t>
            </a:r>
          </a:p>
          <a:p>
            <a:pPr marL="1200150" lvl="1" indent="-74295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Knowledge of the physical and the human world</a:t>
            </a:r>
            <a:endParaRPr lang="en-US" sz="36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847D108C-138B-CDB1-F986-42D602AC8475}"/>
              </a:ext>
            </a:extLst>
          </p:cNvPr>
          <p:cNvSpPr>
            <a:spLocks noGrp="1"/>
          </p:cNvSpPr>
          <p:nvPr>
            <p:ph type="sldNum" sz="quarter" idx="12"/>
          </p:nvPr>
        </p:nvSpPr>
        <p:spPr/>
        <p:txBody>
          <a:bodyPr rtlCol="0"/>
          <a:lstStyle/>
          <a:p>
            <a:pPr rtl="0"/>
            <a:fld id="{13D2E340-0663-474B-992C-9192B5C45E57}" type="slidenum">
              <a:rPr lang="en-GB" smtClean="0"/>
              <a:t>26</a:t>
            </a:fld>
            <a:endParaRPr lang="en-GB"/>
          </a:p>
        </p:txBody>
      </p:sp>
      <p:sp>
        <p:nvSpPr>
          <p:cNvPr id="2" name="Title 1">
            <a:extLst>
              <a:ext uri="{FF2B5EF4-FFF2-40B4-BE49-F238E27FC236}">
                <a16:creationId xmlns:a16="http://schemas.microsoft.com/office/drawing/2014/main" id="{B97F21F0-43BD-52F1-CFA8-D558614A115E}"/>
              </a:ext>
            </a:extLst>
          </p:cNvPr>
          <p:cNvSpPr txBox="1">
            <a:spLocks/>
          </p:cNvSpPr>
          <p:nvPr/>
        </p:nvSpPr>
        <p:spPr>
          <a:xfrm>
            <a:off x="185530" y="839450"/>
            <a:ext cx="4287787" cy="1828800"/>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400" b="1" dirty="0"/>
              <a:t>Restricted Moral Relativism</a:t>
            </a:r>
            <a:endParaRPr lang="en-GB" sz="4400" dirty="0"/>
          </a:p>
        </p:txBody>
      </p:sp>
      <p:pic>
        <p:nvPicPr>
          <p:cNvPr id="3" name="Picture 2">
            <a:extLst>
              <a:ext uri="{FF2B5EF4-FFF2-40B4-BE49-F238E27FC236}">
                <a16:creationId xmlns:a16="http://schemas.microsoft.com/office/drawing/2014/main" id="{4C72101E-B31B-4DE9-56D7-1933195E877B}"/>
              </a:ext>
            </a:extLst>
          </p:cNvPr>
          <p:cNvPicPr>
            <a:picLocks noChangeAspect="1"/>
          </p:cNvPicPr>
          <p:nvPr/>
        </p:nvPicPr>
        <p:blipFill>
          <a:blip r:embed="rId3"/>
          <a:stretch>
            <a:fillRect/>
          </a:stretch>
        </p:blipFill>
        <p:spPr>
          <a:xfrm>
            <a:off x="1228170" y="2743198"/>
            <a:ext cx="2901566" cy="3745044"/>
          </a:xfrm>
          <a:prstGeom prst="rect">
            <a:avLst/>
          </a:prstGeom>
        </p:spPr>
      </p:pic>
    </p:spTree>
    <p:extLst>
      <p:ext uri="{BB962C8B-B14F-4D97-AF65-F5344CB8AC3E}">
        <p14:creationId xmlns:p14="http://schemas.microsoft.com/office/powerpoint/2010/main" val="48663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65D1E-A770-77FC-9E0E-A4489EC5B1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1C388-4EC3-D623-C0FD-D1B2345CE066}"/>
              </a:ext>
            </a:extLst>
          </p:cNvPr>
          <p:cNvSpPr>
            <a:spLocks noGrp="1"/>
          </p:cNvSpPr>
          <p:nvPr>
            <p:ph type="title"/>
          </p:nvPr>
        </p:nvSpPr>
        <p:spPr>
          <a:xfrm>
            <a:off x="762000" y="559677"/>
            <a:ext cx="3833906" cy="1943679"/>
          </a:xfrm>
        </p:spPr>
        <p:txBody>
          <a:bodyPr rtlCol="0">
            <a:noAutofit/>
          </a:bodyPr>
          <a:lstStyle/>
          <a:p>
            <a:r>
              <a:rPr lang="en-GB" sz="4400" b="1" dirty="0"/>
              <a:t>Restricted Moral Relativism</a:t>
            </a:r>
            <a:endParaRPr lang="en-GB" sz="4400" dirty="0"/>
          </a:p>
        </p:txBody>
      </p:sp>
      <p:sp>
        <p:nvSpPr>
          <p:cNvPr id="10" name="Slide Number Placeholder 9">
            <a:extLst>
              <a:ext uri="{FF2B5EF4-FFF2-40B4-BE49-F238E27FC236}">
                <a16:creationId xmlns:a16="http://schemas.microsoft.com/office/drawing/2014/main" id="{09084684-0AC1-5B20-F7BA-E5E40ACE37A6}"/>
              </a:ext>
            </a:extLst>
          </p:cNvPr>
          <p:cNvSpPr>
            <a:spLocks noGrp="1"/>
          </p:cNvSpPr>
          <p:nvPr>
            <p:ph type="sldNum" sz="quarter" idx="12"/>
          </p:nvPr>
        </p:nvSpPr>
        <p:spPr/>
        <p:txBody>
          <a:bodyPr rtlCol="0"/>
          <a:lstStyle/>
          <a:p>
            <a:pPr rtl="0"/>
            <a:fld id="{13D2E340-0663-474B-992C-9192B5C45E57}" type="slidenum">
              <a:rPr lang="en-GB" smtClean="0"/>
              <a:t>27</a:t>
            </a:fld>
            <a:endParaRPr lang="en-GB"/>
          </a:p>
        </p:txBody>
      </p:sp>
      <p:sp>
        <p:nvSpPr>
          <p:cNvPr id="41" name="TextBox 40">
            <a:extLst>
              <a:ext uri="{FF2B5EF4-FFF2-40B4-BE49-F238E27FC236}">
                <a16:creationId xmlns:a16="http://schemas.microsoft.com/office/drawing/2014/main" id="{195AFDC0-0760-5A7B-7E16-9C36855873AE}"/>
              </a:ext>
            </a:extLst>
          </p:cNvPr>
          <p:cNvSpPr txBox="1"/>
          <p:nvPr/>
        </p:nvSpPr>
        <p:spPr>
          <a:xfrm>
            <a:off x="5181599" y="559677"/>
            <a:ext cx="6602412" cy="5413039"/>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cs typeface="Times New Roman" panose="02020603050405020304" pitchFamily="18" charset="0"/>
              </a:rPr>
              <a:t>Interpersonal function of morality</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Yields a norm of </a:t>
            </a:r>
            <a:r>
              <a:rPr lang="en-GB" sz="3600" i="1" dirty="0">
                <a:latin typeface="Times New Roman" panose="02020603050405020304" pitchFamily="18" charset="0"/>
                <a:ea typeface="PMingLiU" panose="02020500000000000000" pitchFamily="18" charset="-120"/>
                <a:cs typeface="Times New Roman" panose="02020603050405020304" pitchFamily="18" charset="0"/>
              </a:rPr>
              <a:t>reciprocity</a:t>
            </a:r>
            <a:r>
              <a:rPr lang="en-GB" sz="3600" dirty="0">
                <a:latin typeface="Times New Roman" panose="02020603050405020304" pitchFamily="18" charset="0"/>
                <a:ea typeface="PMingLiU" panose="02020500000000000000" pitchFamily="18" charset="-120"/>
                <a:cs typeface="Times New Roman" panose="02020603050405020304" pitchFamily="18" charset="0"/>
              </a:rPr>
              <a:t> of returning good for good</a:t>
            </a:r>
          </a:p>
          <a:p>
            <a:pPr marL="1028700" lvl="1"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Encourage other-regarding behaviour</a:t>
            </a:r>
          </a:p>
          <a:p>
            <a:pPr marL="1028700" lvl="1"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Allows room for personal freedom</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Norms must be seen as </a:t>
            </a:r>
            <a:r>
              <a:rPr lang="en-GB" sz="3600" i="1" dirty="0">
                <a:latin typeface="Times New Roman" panose="02020603050405020304" pitchFamily="18" charset="0"/>
                <a:ea typeface="PMingLiU" panose="02020500000000000000" pitchFamily="18" charset="-120"/>
                <a:cs typeface="Times New Roman" panose="02020603050405020304" pitchFamily="18" charset="0"/>
              </a:rPr>
              <a:t>justifiable</a:t>
            </a:r>
            <a:endParaRPr lang="en-US" sz="3600" i="1" dirty="0">
              <a:latin typeface="Times New Roman" panose="02020603050405020304" pitchFamily="18" charset="0"/>
              <a:ea typeface="PMingLiU"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1709073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CC589-B2B3-F172-FD5A-B7EA0AA25C9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275CDA6-A7F1-556B-4634-B8D5AB517A9F}"/>
              </a:ext>
            </a:extLst>
          </p:cNvPr>
          <p:cNvSpPr txBox="1"/>
          <p:nvPr/>
        </p:nvSpPr>
        <p:spPr>
          <a:xfrm>
            <a:off x="5181599" y="655100"/>
            <a:ext cx="6602412" cy="5575012"/>
          </a:xfrm>
          <a:prstGeom prst="rect">
            <a:avLst/>
          </a:prstGeom>
          <a:noFill/>
        </p:spPr>
        <p:txBody>
          <a:bodyPr wrap="square" rtlCol="0">
            <a:noAutofit/>
          </a:bodyPr>
          <a:lstStyle/>
          <a:p>
            <a:pPr marL="742950" indent="-742950">
              <a:buFont typeface="+mj-lt"/>
              <a:buAutoNum type="arabicPeriod"/>
            </a:pPr>
            <a:r>
              <a:rPr lang="en-GB" sz="4000" i="1" dirty="0">
                <a:latin typeface="Times New Roman" panose="02020603050405020304" pitchFamily="18" charset="0"/>
                <a:ea typeface="PMingLiU" panose="02020500000000000000" pitchFamily="18" charset="-120"/>
              </a:rPr>
              <a:t>Not anything goes.</a:t>
            </a:r>
          </a:p>
          <a:p>
            <a:pPr marL="742950" indent="-742950">
              <a:buFont typeface="+mj-lt"/>
              <a:buAutoNum type="arabicPeriod"/>
            </a:pPr>
            <a:r>
              <a:rPr lang="en-GB" sz="4000" i="1" dirty="0">
                <a:latin typeface="Times New Roman" panose="02020603050405020304" pitchFamily="18" charset="0"/>
                <a:ea typeface="PMingLiU" panose="02020500000000000000" pitchFamily="18" charset="-120"/>
              </a:rPr>
              <a:t>Pluralistic</a:t>
            </a:r>
          </a:p>
          <a:p>
            <a:pPr marL="1200150" lvl="1" indent="-742950">
              <a:buFont typeface="Arial" panose="020B0604020202020204" pitchFamily="34" charset="0"/>
              <a:buChar char="•"/>
            </a:pPr>
            <a:r>
              <a:rPr lang="en-GB" sz="4000" dirty="0">
                <a:latin typeface="Times New Roman" panose="02020603050405020304" pitchFamily="18" charset="0"/>
                <a:ea typeface="PMingLiU" panose="02020500000000000000" pitchFamily="18" charset="-120"/>
              </a:rPr>
              <a:t>Moral codes that imply different moral verdicts </a:t>
            </a:r>
            <a:r>
              <a:rPr lang="en-GB" sz="4000" i="1" dirty="0">
                <a:latin typeface="Times New Roman" panose="02020603050405020304" pitchFamily="18" charset="0"/>
                <a:ea typeface="PMingLiU" panose="02020500000000000000" pitchFamily="18" charset="-120"/>
              </a:rPr>
              <a:t>could be equally correct or true</a:t>
            </a:r>
            <a:r>
              <a:rPr lang="en-GB" sz="4000" dirty="0">
                <a:latin typeface="Times New Roman" panose="02020603050405020304" pitchFamily="18" charset="0"/>
                <a:ea typeface="PMingLiU" panose="02020500000000000000" pitchFamily="18" charset="-120"/>
              </a:rPr>
              <a:t>, provided that they satisfy the constraints.</a:t>
            </a:r>
            <a:endParaRPr lang="en-US" sz="40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6FB3117C-0CC8-C35D-008C-04A6DD43EED7}"/>
              </a:ext>
            </a:extLst>
          </p:cNvPr>
          <p:cNvSpPr>
            <a:spLocks noGrp="1"/>
          </p:cNvSpPr>
          <p:nvPr>
            <p:ph type="sldNum" sz="quarter" idx="12"/>
          </p:nvPr>
        </p:nvSpPr>
        <p:spPr/>
        <p:txBody>
          <a:bodyPr rtlCol="0"/>
          <a:lstStyle/>
          <a:p>
            <a:pPr rtl="0"/>
            <a:fld id="{13D2E340-0663-474B-992C-9192B5C45E57}" type="slidenum">
              <a:rPr lang="en-GB" smtClean="0"/>
              <a:t>28</a:t>
            </a:fld>
            <a:endParaRPr lang="en-GB"/>
          </a:p>
        </p:txBody>
      </p:sp>
      <p:sp>
        <p:nvSpPr>
          <p:cNvPr id="2" name="Title 1">
            <a:extLst>
              <a:ext uri="{FF2B5EF4-FFF2-40B4-BE49-F238E27FC236}">
                <a16:creationId xmlns:a16="http://schemas.microsoft.com/office/drawing/2014/main" id="{F2E84D6E-FA58-F0AA-053C-BFE953623D5F}"/>
              </a:ext>
            </a:extLst>
          </p:cNvPr>
          <p:cNvSpPr txBox="1">
            <a:spLocks/>
          </p:cNvSpPr>
          <p:nvPr/>
        </p:nvSpPr>
        <p:spPr>
          <a:xfrm>
            <a:off x="185530" y="839450"/>
            <a:ext cx="4287787" cy="1828800"/>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400" b="1" dirty="0"/>
              <a:t>Restricted Moral Relativism</a:t>
            </a:r>
            <a:endParaRPr lang="en-GB" sz="4400" dirty="0"/>
          </a:p>
        </p:txBody>
      </p:sp>
    </p:spTree>
    <p:extLst>
      <p:ext uri="{BB962C8B-B14F-4D97-AF65-F5344CB8AC3E}">
        <p14:creationId xmlns:p14="http://schemas.microsoft.com/office/powerpoint/2010/main" val="2236654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33DDA-A0D4-47A0-9B34-7412EF753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7EA24-D8C0-65B1-E095-26CE28ECE2A6}"/>
              </a:ext>
            </a:extLst>
          </p:cNvPr>
          <p:cNvSpPr>
            <a:spLocks noGrp="1"/>
          </p:cNvSpPr>
          <p:nvPr>
            <p:ph type="title"/>
          </p:nvPr>
        </p:nvSpPr>
        <p:spPr>
          <a:xfrm>
            <a:off x="762000" y="559677"/>
            <a:ext cx="3833906" cy="1943679"/>
          </a:xfrm>
        </p:spPr>
        <p:txBody>
          <a:bodyPr rtlCol="0">
            <a:noAutofit/>
          </a:bodyPr>
          <a:lstStyle/>
          <a:p>
            <a:r>
              <a:rPr lang="en-GB" sz="4400" b="1" dirty="0"/>
              <a:t>Relativism and Tolerance</a:t>
            </a:r>
            <a:endParaRPr lang="en-GB" sz="4400" dirty="0"/>
          </a:p>
        </p:txBody>
      </p:sp>
      <p:sp>
        <p:nvSpPr>
          <p:cNvPr id="10" name="Slide Number Placeholder 9">
            <a:extLst>
              <a:ext uri="{FF2B5EF4-FFF2-40B4-BE49-F238E27FC236}">
                <a16:creationId xmlns:a16="http://schemas.microsoft.com/office/drawing/2014/main" id="{608BA84E-0B52-DEFB-9044-A6F898C62507}"/>
              </a:ext>
            </a:extLst>
          </p:cNvPr>
          <p:cNvSpPr>
            <a:spLocks noGrp="1"/>
          </p:cNvSpPr>
          <p:nvPr>
            <p:ph type="sldNum" sz="quarter" idx="12"/>
          </p:nvPr>
        </p:nvSpPr>
        <p:spPr/>
        <p:txBody>
          <a:bodyPr rtlCol="0"/>
          <a:lstStyle/>
          <a:p>
            <a:pPr rtl="0"/>
            <a:fld id="{13D2E340-0663-474B-992C-9192B5C45E57}" type="slidenum">
              <a:rPr lang="en-GB" smtClean="0"/>
              <a:t>29</a:t>
            </a:fld>
            <a:endParaRPr lang="en-GB"/>
          </a:p>
        </p:txBody>
      </p:sp>
      <p:sp>
        <p:nvSpPr>
          <p:cNvPr id="41" name="TextBox 40">
            <a:extLst>
              <a:ext uri="{FF2B5EF4-FFF2-40B4-BE49-F238E27FC236}">
                <a16:creationId xmlns:a16="http://schemas.microsoft.com/office/drawing/2014/main" id="{0A62AA75-553C-183F-84AA-F96C51938869}"/>
              </a:ext>
            </a:extLst>
          </p:cNvPr>
          <p:cNvSpPr txBox="1"/>
          <p:nvPr/>
        </p:nvSpPr>
        <p:spPr>
          <a:xfrm>
            <a:off x="5181599" y="559677"/>
            <a:ext cx="6602412" cy="5413039"/>
          </a:xfrm>
          <a:prstGeom prst="rect">
            <a:avLst/>
          </a:prstGeom>
          <a:noFill/>
        </p:spPr>
        <p:txBody>
          <a:bodyPr wrap="square" rtlCol="0">
            <a:noAutofit/>
          </a:bodyPr>
          <a:lstStyle/>
          <a:p>
            <a:r>
              <a:rPr lang="en-GB" sz="3600" dirty="0">
                <a:latin typeface="Times New Roman" panose="02020603050405020304" pitchFamily="18" charset="0"/>
                <a:ea typeface="PMingLiU" panose="02020500000000000000" pitchFamily="18" charset="-120"/>
                <a:cs typeface="Times New Roman" panose="02020603050405020304" pitchFamily="18" charset="0"/>
              </a:rPr>
              <a:t>MR seems to commit one to a principle of tolerance</a:t>
            </a:r>
            <a:r>
              <a:rPr lang="en-GB" sz="3600" i="1" dirty="0">
                <a:latin typeface="Times New Roman" panose="02020603050405020304" pitchFamily="18" charset="0"/>
                <a:ea typeface="PMingLiU" panose="02020500000000000000" pitchFamily="18" charset="-120"/>
                <a:cs typeface="Times New Roman" panose="02020603050405020304" pitchFamily="18" charset="0"/>
              </a:rPr>
              <a:t>.</a:t>
            </a:r>
          </a:p>
          <a:p>
            <a:pPr marL="571500" indent="-5715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If one wants to promote tolerance, then one ought to accept MR. </a:t>
            </a:r>
          </a:p>
          <a:p>
            <a:r>
              <a:rPr lang="en-GB" sz="3600" dirty="0">
                <a:latin typeface="Times New Roman" panose="02020603050405020304" pitchFamily="18" charset="0"/>
                <a:ea typeface="PMingLiU" panose="02020500000000000000" pitchFamily="18" charset="-120"/>
                <a:cs typeface="Times New Roman" panose="02020603050405020304" pitchFamily="18" charset="0"/>
              </a:rPr>
              <a:t>Principle of Tolerance: </a:t>
            </a:r>
          </a:p>
          <a:p>
            <a:pPr marL="571500" indent="-571500">
              <a:buFont typeface="Arial" panose="020B0604020202020204" pitchFamily="34" charset="0"/>
              <a:buChar char="•"/>
            </a:pPr>
            <a:r>
              <a:rPr lang="en-GB" sz="3600" i="1" dirty="0">
                <a:latin typeface="Times New Roman" panose="02020603050405020304" pitchFamily="18" charset="0"/>
                <a:ea typeface="PMingLiU" panose="02020500000000000000" pitchFamily="18" charset="-120"/>
                <a:cs typeface="Times New Roman" panose="02020603050405020304" pitchFamily="18" charset="0"/>
              </a:rPr>
              <a:t>It is morally wrong for any culture to interfere with the moral practices of another culture.</a:t>
            </a:r>
            <a:endParaRPr lang="en-US" sz="3600" i="1" dirty="0">
              <a:latin typeface="Times New Roman" panose="02020603050405020304" pitchFamily="18" charset="0"/>
              <a:ea typeface="PMingLiU"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943052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1D7C9-E554-45DC-7EB9-4C373D03877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C7AA89C-F0A0-0BB7-58EB-7FE638A89F9B}"/>
              </a:ext>
            </a:extLst>
          </p:cNvPr>
          <p:cNvSpPr txBox="1"/>
          <p:nvPr/>
        </p:nvSpPr>
        <p:spPr>
          <a:xfrm>
            <a:off x="5181599" y="655100"/>
            <a:ext cx="6602412" cy="5575012"/>
          </a:xfrm>
          <a:prstGeom prst="rect">
            <a:avLst/>
          </a:prstGeom>
          <a:noFill/>
        </p:spPr>
        <p:txBody>
          <a:bodyPr wrap="square" rtlCol="0">
            <a:noAutofit/>
          </a:bodyPr>
          <a:lstStyle/>
          <a:p>
            <a:r>
              <a:rPr lang="en-GB" sz="4000" i="1" dirty="0">
                <a:latin typeface="Times New Roman" panose="02020603050405020304" pitchFamily="18" charset="0"/>
                <a:ea typeface="PMingLiU" panose="02020500000000000000" pitchFamily="18" charset="-120"/>
              </a:rPr>
              <a:t>Does MR really commit one to accept this principle of tolerance?</a:t>
            </a:r>
          </a:p>
          <a:p>
            <a:pPr marL="571500" indent="-571500">
              <a:buFont typeface="Arial" panose="020B0604020202020204" pitchFamily="34" charset="0"/>
              <a:buChar char="•"/>
            </a:pPr>
            <a:r>
              <a:rPr lang="en-GB" sz="4000" dirty="0">
                <a:latin typeface="Times New Roman" panose="02020603050405020304" pitchFamily="18" charset="0"/>
                <a:ea typeface="PMingLiU" panose="02020500000000000000" pitchFamily="18" charset="-120"/>
              </a:rPr>
              <a:t>The unrestricted version is </a:t>
            </a:r>
            <a:r>
              <a:rPr lang="en-GB" sz="4000" dirty="0">
                <a:solidFill>
                  <a:srgbClr val="FF0000"/>
                </a:solidFill>
                <a:latin typeface="Times New Roman" panose="02020603050405020304" pitchFamily="18" charset="0"/>
                <a:ea typeface="PMingLiU" panose="02020500000000000000" pitchFamily="18" charset="-120"/>
              </a:rPr>
              <a:t>incompatible</a:t>
            </a:r>
            <a:r>
              <a:rPr lang="en-GB" sz="4000" dirty="0">
                <a:latin typeface="Times New Roman" panose="02020603050405020304" pitchFamily="18" charset="0"/>
                <a:ea typeface="PMingLiU" panose="02020500000000000000" pitchFamily="18" charset="-120"/>
              </a:rPr>
              <a:t> with it. </a:t>
            </a:r>
            <a:r>
              <a:rPr lang="en-GB" sz="4000" i="1" dirty="0">
                <a:latin typeface="Times New Roman" panose="02020603050405020304" pitchFamily="18" charset="0"/>
                <a:ea typeface="PMingLiU" panose="02020500000000000000" pitchFamily="18" charset="-120"/>
              </a:rPr>
              <a:t>Why?</a:t>
            </a:r>
            <a:r>
              <a:rPr lang="en-GB" sz="4000" dirty="0">
                <a:latin typeface="Times New Roman" panose="02020603050405020304" pitchFamily="18" charset="0"/>
                <a:ea typeface="PMingLiU" panose="02020500000000000000" pitchFamily="18" charset="-120"/>
              </a:rPr>
              <a:t> </a:t>
            </a:r>
          </a:p>
          <a:p>
            <a:pPr marL="571500" indent="-571500">
              <a:buFont typeface="Arial" panose="020B0604020202020204" pitchFamily="34" charset="0"/>
              <a:buChar char="•"/>
            </a:pPr>
            <a:r>
              <a:rPr lang="en-GB" sz="4000" dirty="0">
                <a:latin typeface="Times New Roman" panose="02020603050405020304" pitchFamily="18" charset="0"/>
                <a:ea typeface="PMingLiU" panose="02020500000000000000" pitchFamily="18" charset="-120"/>
              </a:rPr>
              <a:t>Only the restricted version is compatible with it. </a:t>
            </a:r>
          </a:p>
          <a:p>
            <a:pPr marL="571500" indent="-571500">
              <a:buFont typeface="Arial" panose="020B0604020202020204" pitchFamily="34" charset="0"/>
              <a:buChar char="•"/>
            </a:pPr>
            <a:r>
              <a:rPr lang="en-US" sz="4000" dirty="0">
                <a:latin typeface="Times New Roman" panose="02020603050405020304" pitchFamily="18" charset="0"/>
                <a:ea typeface="PMingLiU" panose="02020500000000000000" pitchFamily="18" charset="-120"/>
              </a:rPr>
              <a:t>However, it does not mean that other views lead to intolerance.</a:t>
            </a:r>
          </a:p>
        </p:txBody>
      </p:sp>
      <p:sp>
        <p:nvSpPr>
          <p:cNvPr id="5" name="Slide Number Placeholder 4">
            <a:extLst>
              <a:ext uri="{FF2B5EF4-FFF2-40B4-BE49-F238E27FC236}">
                <a16:creationId xmlns:a16="http://schemas.microsoft.com/office/drawing/2014/main" id="{5204D3A4-B3B8-1B0A-2E5C-DC1BD824B49E}"/>
              </a:ext>
            </a:extLst>
          </p:cNvPr>
          <p:cNvSpPr>
            <a:spLocks noGrp="1"/>
          </p:cNvSpPr>
          <p:nvPr>
            <p:ph type="sldNum" sz="quarter" idx="12"/>
          </p:nvPr>
        </p:nvSpPr>
        <p:spPr/>
        <p:txBody>
          <a:bodyPr rtlCol="0"/>
          <a:lstStyle/>
          <a:p>
            <a:pPr rtl="0"/>
            <a:fld id="{13D2E340-0663-474B-992C-9192B5C45E57}" type="slidenum">
              <a:rPr lang="en-GB" smtClean="0"/>
              <a:t>30</a:t>
            </a:fld>
            <a:endParaRPr lang="en-GB"/>
          </a:p>
        </p:txBody>
      </p:sp>
      <p:sp>
        <p:nvSpPr>
          <p:cNvPr id="2" name="Title 1">
            <a:extLst>
              <a:ext uri="{FF2B5EF4-FFF2-40B4-BE49-F238E27FC236}">
                <a16:creationId xmlns:a16="http://schemas.microsoft.com/office/drawing/2014/main" id="{5A773251-7742-7A56-8BF6-63E838FDCE9E}"/>
              </a:ext>
            </a:extLst>
          </p:cNvPr>
          <p:cNvSpPr txBox="1">
            <a:spLocks/>
          </p:cNvSpPr>
          <p:nvPr/>
        </p:nvSpPr>
        <p:spPr>
          <a:xfrm>
            <a:off x="185530" y="839450"/>
            <a:ext cx="4287787" cy="1828800"/>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400" b="1" dirty="0"/>
              <a:t>Restricted Moral Relativism</a:t>
            </a:r>
            <a:endParaRPr lang="en-GB" sz="4400" dirty="0"/>
          </a:p>
        </p:txBody>
      </p:sp>
    </p:spTree>
    <p:extLst>
      <p:ext uri="{BB962C8B-B14F-4D97-AF65-F5344CB8AC3E}">
        <p14:creationId xmlns:p14="http://schemas.microsoft.com/office/powerpoint/2010/main" val="1664831388"/>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1209485_TF45175639_Win32" id="{DA3BC7EA-B985-431E-917E-E4426AC6D1A1}" vid="{18535A56-0AAF-4A35-94B1-169306243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Biography presentation</Template>
  <TotalTime>5634</TotalTime>
  <Words>1696</Words>
  <Application>Microsoft Office PowerPoint</Application>
  <PresentationFormat>Widescreen</PresentationFormat>
  <Paragraphs>185</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Century Schoolbook</vt:lpstr>
      <vt:lpstr>Corbel</vt:lpstr>
      <vt:lpstr>Times New Roman</vt:lpstr>
      <vt:lpstr>Headlines</vt:lpstr>
      <vt:lpstr>HUMA2921 Ethical Theories and Contemporary Issues</vt:lpstr>
      <vt:lpstr>Moral Relativism</vt:lpstr>
      <vt:lpstr>Context Sensitivity Thesis</vt:lpstr>
      <vt:lpstr>Context Sensitivity Thesis</vt:lpstr>
      <vt:lpstr>Context Sensitivity Thesis</vt:lpstr>
      <vt:lpstr>Context Sensitivity Thesis</vt:lpstr>
      <vt:lpstr>Moral Diversity Thesis</vt:lpstr>
      <vt:lpstr>Moral Diversity Thesis</vt:lpstr>
      <vt:lpstr>Anthropologist’s Argument – ver. 1</vt:lpstr>
      <vt:lpstr>Challenges</vt:lpstr>
      <vt:lpstr>Challenges</vt:lpstr>
      <vt:lpstr>Nonfundamental Moral Disagreements</vt:lpstr>
      <vt:lpstr>Nonfundamental Moral Disagreements</vt:lpstr>
      <vt:lpstr>Fundamental Moral Disagreements</vt:lpstr>
      <vt:lpstr>MD Revisited</vt:lpstr>
      <vt:lpstr>PowerPoint Presentation</vt:lpstr>
      <vt:lpstr>Anthropologist’s Argument – ver. 2 </vt:lpstr>
      <vt:lpstr>PowerPoint Presentation</vt:lpstr>
      <vt:lpstr>Problems of Formulation</vt:lpstr>
      <vt:lpstr>PowerPoint Presentation</vt:lpstr>
      <vt:lpstr>Problem of Intercultural Evaluation</vt:lpstr>
      <vt:lpstr>PowerPoint Presentation</vt:lpstr>
      <vt:lpstr>Moral Reformer Problem</vt:lpstr>
      <vt:lpstr>PowerPoint Presentation</vt:lpstr>
      <vt:lpstr>Restricted Moral Relativism</vt:lpstr>
      <vt:lpstr>PowerPoint Presentation</vt:lpstr>
      <vt:lpstr>Restricted Moral Relativism</vt:lpstr>
      <vt:lpstr>PowerPoint Presentation</vt:lpstr>
      <vt:lpstr>Relativism and Tolerance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Leibnizian Legacy in Fichte’s Grundlage der gesamten Wissenschaftslehre</dc:title>
  <dc:creator>Plato Tse</dc:creator>
  <cp:lastModifiedBy>Plato Tse</cp:lastModifiedBy>
  <cp:revision>106</cp:revision>
  <dcterms:created xsi:type="dcterms:W3CDTF">2024-11-29T15:39:14Z</dcterms:created>
  <dcterms:modified xsi:type="dcterms:W3CDTF">2026-02-23T17:31:33Z</dcterms:modified>
</cp:coreProperties>
</file>