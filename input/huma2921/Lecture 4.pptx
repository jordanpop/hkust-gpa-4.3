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32"/>
  </p:notesMasterIdLst>
  <p:handoutMasterIdLst>
    <p:handoutMasterId r:id="rId33"/>
  </p:handoutMasterIdLst>
  <p:sldIdLst>
    <p:sldId id="256" r:id="rId2"/>
    <p:sldId id="279" r:id="rId3"/>
    <p:sldId id="280" r:id="rId4"/>
    <p:sldId id="257" r:id="rId5"/>
    <p:sldId id="263" r:id="rId6"/>
    <p:sldId id="281" r:id="rId7"/>
    <p:sldId id="283" r:id="rId8"/>
    <p:sldId id="284" r:id="rId9"/>
    <p:sldId id="282" r:id="rId10"/>
    <p:sldId id="269" r:id="rId11"/>
    <p:sldId id="267" r:id="rId12"/>
    <p:sldId id="276" r:id="rId13"/>
    <p:sldId id="285" r:id="rId14"/>
    <p:sldId id="278" r:id="rId15"/>
    <p:sldId id="271" r:id="rId16"/>
    <p:sldId id="270" r:id="rId17"/>
    <p:sldId id="287"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84F31A-E916-402D-9232-0E83CE7A1135}" v="49" dt="2025-09-04T06:37:53.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7395" autoAdjust="0"/>
  </p:normalViewPr>
  <p:slideViewPr>
    <p:cSldViewPr snapToGrid="0">
      <p:cViewPr varScale="1">
        <p:scale>
          <a:sx n="76" d="100"/>
          <a:sy n="76" d="100"/>
        </p:scale>
        <p:origin x="644" y="60"/>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03/03/2026</a:t>
            </a:fld>
            <a:endParaRPr lang="en-GB"/>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03/03/2026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3A63-ED74-CC7F-B332-4F37188A8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5BC19-66F5-B809-4BB5-EAE898237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9E1D3-5F3B-2B2E-8F9E-04A3A68DDA4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B0653B2-1BA0-62D7-F969-C90AD3D00275}"/>
              </a:ext>
            </a:extLst>
          </p:cNvPr>
          <p:cNvSpPr>
            <a:spLocks noGrp="1"/>
          </p:cNvSpPr>
          <p:nvPr>
            <p:ph type="sldNum" sz="quarter" idx="5"/>
          </p:nvPr>
        </p:nvSpPr>
        <p:spPr/>
        <p:txBody>
          <a:bodyPr rtlCol="0"/>
          <a:lstStyle/>
          <a:p>
            <a:pPr rtl="0"/>
            <a:fld id="{68B68C18-1BF1-F447-95ED-60EAAE35426E}" type="slidenum">
              <a:rPr lang="en-GB" smtClean="0"/>
              <a:t>9</a:t>
            </a:fld>
            <a:endParaRPr lang="en-GB"/>
          </a:p>
        </p:txBody>
      </p:sp>
    </p:spTree>
    <p:extLst>
      <p:ext uri="{BB962C8B-B14F-4D97-AF65-F5344CB8AC3E}">
        <p14:creationId xmlns:p14="http://schemas.microsoft.com/office/powerpoint/2010/main" val="4261007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15</a:t>
            </a:fld>
            <a:endParaRPr lang="en-GB"/>
          </a:p>
        </p:txBody>
      </p:sp>
    </p:spTree>
    <p:extLst>
      <p:ext uri="{BB962C8B-B14F-4D97-AF65-F5344CB8AC3E}">
        <p14:creationId xmlns:p14="http://schemas.microsoft.com/office/powerpoint/2010/main" val="242260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16</a:t>
            </a:fld>
            <a:endParaRPr lang="en-GB"/>
          </a:p>
        </p:txBody>
      </p:sp>
    </p:spTree>
    <p:extLst>
      <p:ext uri="{BB962C8B-B14F-4D97-AF65-F5344CB8AC3E}">
        <p14:creationId xmlns:p14="http://schemas.microsoft.com/office/powerpoint/2010/main" val="283436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82476-5AB4-0D42-0723-7CD61BFC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F12E3-1B42-F8B1-B0B9-08E52E7CC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ABF9-863B-3E10-A796-8E6BA23FC36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05800E1-9757-789B-1975-831670101F06}"/>
              </a:ext>
            </a:extLst>
          </p:cNvPr>
          <p:cNvSpPr>
            <a:spLocks noGrp="1"/>
          </p:cNvSpPr>
          <p:nvPr>
            <p:ph type="sldNum" sz="quarter" idx="5"/>
          </p:nvPr>
        </p:nvSpPr>
        <p:spPr/>
        <p:txBody>
          <a:bodyPr rtlCol="0"/>
          <a:lstStyle/>
          <a:p>
            <a:pPr rtl="0"/>
            <a:fld id="{68B68C18-1BF1-F447-95ED-60EAAE35426E}" type="slidenum">
              <a:rPr lang="en-GB" smtClean="0"/>
              <a:t>17</a:t>
            </a:fld>
            <a:endParaRPr lang="en-GB"/>
          </a:p>
        </p:txBody>
      </p:sp>
    </p:spTree>
    <p:extLst>
      <p:ext uri="{BB962C8B-B14F-4D97-AF65-F5344CB8AC3E}">
        <p14:creationId xmlns:p14="http://schemas.microsoft.com/office/powerpoint/2010/main" val="323427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EF8F-3B32-9324-51FC-3A917E3D8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FD296-0AB2-829E-2DB2-2F7EB8E84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70744-1B04-56E1-A722-E64553FBD58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E8F8644-A99A-3E73-2B53-E0C958E3183B}"/>
              </a:ext>
            </a:extLst>
          </p:cNvPr>
          <p:cNvSpPr>
            <a:spLocks noGrp="1"/>
          </p:cNvSpPr>
          <p:nvPr>
            <p:ph type="sldNum" sz="quarter" idx="5"/>
          </p:nvPr>
        </p:nvSpPr>
        <p:spPr/>
        <p:txBody>
          <a:bodyPr rtlCol="0"/>
          <a:lstStyle/>
          <a:p>
            <a:pPr rtl="0"/>
            <a:fld id="{68B68C18-1BF1-F447-95ED-60EAAE35426E}" type="slidenum">
              <a:rPr lang="en-GB" smtClean="0"/>
              <a:t>18</a:t>
            </a:fld>
            <a:endParaRPr lang="en-GB"/>
          </a:p>
        </p:txBody>
      </p:sp>
    </p:spTree>
    <p:extLst>
      <p:ext uri="{BB962C8B-B14F-4D97-AF65-F5344CB8AC3E}">
        <p14:creationId xmlns:p14="http://schemas.microsoft.com/office/powerpoint/2010/main" val="982088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C549-A7F9-04FE-4CCB-DEA305013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2B89-A7E2-8F76-0CA8-70CEA771E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2183E-DB4A-6971-9A49-F375E0D7B25C}"/>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59876BA-F1E8-1C30-D4F5-90BFE5085401}"/>
              </a:ext>
            </a:extLst>
          </p:cNvPr>
          <p:cNvSpPr>
            <a:spLocks noGrp="1"/>
          </p:cNvSpPr>
          <p:nvPr>
            <p:ph type="sldNum" sz="quarter" idx="5"/>
          </p:nvPr>
        </p:nvSpPr>
        <p:spPr/>
        <p:txBody>
          <a:bodyPr rtlCol="0"/>
          <a:lstStyle/>
          <a:p>
            <a:pPr rtl="0"/>
            <a:fld id="{68B68C18-1BF1-F447-95ED-60EAAE35426E}" type="slidenum">
              <a:rPr lang="en-GB" smtClean="0"/>
              <a:t>19</a:t>
            </a:fld>
            <a:endParaRPr lang="en-GB"/>
          </a:p>
        </p:txBody>
      </p:sp>
    </p:spTree>
    <p:extLst>
      <p:ext uri="{BB962C8B-B14F-4D97-AF65-F5344CB8AC3E}">
        <p14:creationId xmlns:p14="http://schemas.microsoft.com/office/powerpoint/2010/main" val="2275579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4531-807B-9DF5-7F3A-7B30071CA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529DC-819A-AA84-D20B-26D264696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423ED-A130-54D1-2494-8FA4019431AA}"/>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7E36CBBA-6653-B1CE-59B3-ABDC2E57DBA6}"/>
              </a:ext>
            </a:extLst>
          </p:cNvPr>
          <p:cNvSpPr>
            <a:spLocks noGrp="1"/>
          </p:cNvSpPr>
          <p:nvPr>
            <p:ph type="sldNum" sz="quarter" idx="5"/>
          </p:nvPr>
        </p:nvSpPr>
        <p:spPr/>
        <p:txBody>
          <a:bodyPr rtlCol="0"/>
          <a:lstStyle/>
          <a:p>
            <a:pPr rtl="0"/>
            <a:fld id="{68B68C18-1BF1-F447-95ED-60EAAE35426E}" type="slidenum">
              <a:rPr lang="en-GB" smtClean="0"/>
              <a:t>20</a:t>
            </a:fld>
            <a:endParaRPr lang="en-GB"/>
          </a:p>
        </p:txBody>
      </p:sp>
    </p:spTree>
    <p:extLst>
      <p:ext uri="{BB962C8B-B14F-4D97-AF65-F5344CB8AC3E}">
        <p14:creationId xmlns:p14="http://schemas.microsoft.com/office/powerpoint/2010/main" val="304051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400A-0722-33B9-D84C-504B5D0E0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173A2-DF2B-45DF-2518-D092019B7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BD78E-8C81-FCB2-4EB2-041D7149A3BE}"/>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73F95D7-9600-8880-854E-68B308396282}"/>
              </a:ext>
            </a:extLst>
          </p:cNvPr>
          <p:cNvSpPr>
            <a:spLocks noGrp="1"/>
          </p:cNvSpPr>
          <p:nvPr>
            <p:ph type="sldNum" sz="quarter" idx="5"/>
          </p:nvPr>
        </p:nvSpPr>
        <p:spPr/>
        <p:txBody>
          <a:bodyPr rtlCol="0"/>
          <a:lstStyle/>
          <a:p>
            <a:pPr rtl="0"/>
            <a:fld id="{68B68C18-1BF1-F447-95ED-60EAAE35426E}" type="slidenum">
              <a:rPr lang="en-GB" smtClean="0"/>
              <a:t>21</a:t>
            </a:fld>
            <a:endParaRPr lang="en-GB"/>
          </a:p>
        </p:txBody>
      </p:sp>
    </p:spTree>
    <p:extLst>
      <p:ext uri="{BB962C8B-B14F-4D97-AF65-F5344CB8AC3E}">
        <p14:creationId xmlns:p14="http://schemas.microsoft.com/office/powerpoint/2010/main" val="3436415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D7A5D-9572-0D21-91D3-023531105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F2F97-C8FB-1BF8-0D0B-E3C086DBE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3026C-14BD-EDDB-DAF2-C2F412066FA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75C28A4-838A-F838-28DB-2E48E56EF019}"/>
              </a:ext>
            </a:extLst>
          </p:cNvPr>
          <p:cNvSpPr>
            <a:spLocks noGrp="1"/>
          </p:cNvSpPr>
          <p:nvPr>
            <p:ph type="sldNum" sz="quarter" idx="5"/>
          </p:nvPr>
        </p:nvSpPr>
        <p:spPr/>
        <p:txBody>
          <a:bodyPr rtlCol="0"/>
          <a:lstStyle/>
          <a:p>
            <a:pPr rtl="0"/>
            <a:fld id="{68B68C18-1BF1-F447-95ED-60EAAE35426E}" type="slidenum">
              <a:rPr lang="en-GB" smtClean="0"/>
              <a:t>22</a:t>
            </a:fld>
            <a:endParaRPr lang="en-GB"/>
          </a:p>
        </p:txBody>
      </p:sp>
    </p:spTree>
    <p:extLst>
      <p:ext uri="{BB962C8B-B14F-4D97-AF65-F5344CB8AC3E}">
        <p14:creationId xmlns:p14="http://schemas.microsoft.com/office/powerpoint/2010/main" val="1678588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0532A-6076-CF9B-5EE2-600E34DB5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077DA-A781-8785-FE25-F4A550531A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E64E3-CA82-27E8-9166-B3FE62B08E5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7BE35FF8-15CA-BDCB-8002-C0428A8641A0}"/>
              </a:ext>
            </a:extLst>
          </p:cNvPr>
          <p:cNvSpPr>
            <a:spLocks noGrp="1"/>
          </p:cNvSpPr>
          <p:nvPr>
            <p:ph type="sldNum" sz="quarter" idx="5"/>
          </p:nvPr>
        </p:nvSpPr>
        <p:spPr/>
        <p:txBody>
          <a:bodyPr rtlCol="0"/>
          <a:lstStyle/>
          <a:p>
            <a:pPr rtl="0"/>
            <a:fld id="{68B68C18-1BF1-F447-95ED-60EAAE35426E}" type="slidenum">
              <a:rPr lang="en-GB" smtClean="0"/>
              <a:t>23</a:t>
            </a:fld>
            <a:endParaRPr lang="en-GB"/>
          </a:p>
        </p:txBody>
      </p:sp>
    </p:spTree>
    <p:extLst>
      <p:ext uri="{BB962C8B-B14F-4D97-AF65-F5344CB8AC3E}">
        <p14:creationId xmlns:p14="http://schemas.microsoft.com/office/powerpoint/2010/main" val="42912984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F3BA5-BD20-3639-164E-A107C07B5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16B03-353F-C417-C35B-F1841CC84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1525A-1D1A-8F99-46AB-744CB2D247FA}"/>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21FA4457-A02B-5C80-6708-6A6EC53DBE21}"/>
              </a:ext>
            </a:extLst>
          </p:cNvPr>
          <p:cNvSpPr>
            <a:spLocks noGrp="1"/>
          </p:cNvSpPr>
          <p:nvPr>
            <p:ph type="sldNum" sz="quarter" idx="5"/>
          </p:nvPr>
        </p:nvSpPr>
        <p:spPr/>
        <p:txBody>
          <a:bodyPr rtlCol="0"/>
          <a:lstStyle/>
          <a:p>
            <a:pPr rtl="0"/>
            <a:fld id="{68B68C18-1BF1-F447-95ED-60EAAE35426E}" type="slidenum">
              <a:rPr lang="en-GB" smtClean="0"/>
              <a:t>24</a:t>
            </a:fld>
            <a:endParaRPr lang="en-GB"/>
          </a:p>
        </p:txBody>
      </p:sp>
    </p:spTree>
    <p:extLst>
      <p:ext uri="{BB962C8B-B14F-4D97-AF65-F5344CB8AC3E}">
        <p14:creationId xmlns:p14="http://schemas.microsoft.com/office/powerpoint/2010/main" val="27170635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E4768-E506-34FE-25D4-B4C292913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345FC-68F6-F0AF-F9C4-3B860D6C27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C056A-676C-C1A7-F392-BA7E456E036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19A66C22-3CD9-740C-0D08-A1FD653E9015}"/>
              </a:ext>
            </a:extLst>
          </p:cNvPr>
          <p:cNvSpPr>
            <a:spLocks noGrp="1"/>
          </p:cNvSpPr>
          <p:nvPr>
            <p:ph type="sldNum" sz="quarter" idx="5"/>
          </p:nvPr>
        </p:nvSpPr>
        <p:spPr/>
        <p:txBody>
          <a:bodyPr rtlCol="0"/>
          <a:lstStyle/>
          <a:p>
            <a:pPr rtl="0"/>
            <a:fld id="{68B68C18-1BF1-F447-95ED-60EAAE35426E}" type="slidenum">
              <a:rPr lang="en-GB" smtClean="0"/>
              <a:t>25</a:t>
            </a:fld>
            <a:endParaRPr lang="en-GB"/>
          </a:p>
        </p:txBody>
      </p:sp>
    </p:spTree>
    <p:extLst>
      <p:ext uri="{BB962C8B-B14F-4D97-AF65-F5344CB8AC3E}">
        <p14:creationId xmlns:p14="http://schemas.microsoft.com/office/powerpoint/2010/main" val="11431906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A9546-C835-9E87-196C-6E85B980A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0A536-9C11-635B-0104-10712741E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5EE15-BC90-769E-A44F-90241CBBF53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6259A5D4-84BD-294F-FD3C-D49632BCEE0D}"/>
              </a:ext>
            </a:extLst>
          </p:cNvPr>
          <p:cNvSpPr>
            <a:spLocks noGrp="1"/>
          </p:cNvSpPr>
          <p:nvPr>
            <p:ph type="sldNum" sz="quarter" idx="5"/>
          </p:nvPr>
        </p:nvSpPr>
        <p:spPr/>
        <p:txBody>
          <a:bodyPr rtlCol="0"/>
          <a:lstStyle/>
          <a:p>
            <a:pPr rtl="0"/>
            <a:fld id="{68B68C18-1BF1-F447-95ED-60EAAE35426E}" type="slidenum">
              <a:rPr lang="en-GB" smtClean="0"/>
              <a:t>26</a:t>
            </a:fld>
            <a:endParaRPr lang="en-GB"/>
          </a:p>
        </p:txBody>
      </p:sp>
    </p:spTree>
    <p:extLst>
      <p:ext uri="{BB962C8B-B14F-4D97-AF65-F5344CB8AC3E}">
        <p14:creationId xmlns:p14="http://schemas.microsoft.com/office/powerpoint/2010/main" val="49701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91FF3-E9CD-20E0-DEEA-10E6734DF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747D0-4885-A01C-AF6D-6261A7FB0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45A55-AD33-83C1-5CD6-7A901322E2A3}"/>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3167E6EC-05DB-33BA-6201-4F2029B3F26A}"/>
              </a:ext>
            </a:extLst>
          </p:cNvPr>
          <p:cNvSpPr>
            <a:spLocks noGrp="1"/>
          </p:cNvSpPr>
          <p:nvPr>
            <p:ph type="sldNum" sz="quarter" idx="5"/>
          </p:nvPr>
        </p:nvSpPr>
        <p:spPr/>
        <p:txBody>
          <a:bodyPr rtlCol="0"/>
          <a:lstStyle/>
          <a:p>
            <a:pPr rtl="0"/>
            <a:fld id="{68B68C18-1BF1-F447-95ED-60EAAE35426E}" type="slidenum">
              <a:rPr lang="en-GB" smtClean="0"/>
              <a:t>27</a:t>
            </a:fld>
            <a:endParaRPr lang="en-GB"/>
          </a:p>
        </p:txBody>
      </p:sp>
    </p:spTree>
    <p:extLst>
      <p:ext uri="{BB962C8B-B14F-4D97-AF65-F5344CB8AC3E}">
        <p14:creationId xmlns:p14="http://schemas.microsoft.com/office/powerpoint/2010/main" val="1928688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23D6-4F16-7DF6-DEB2-DF1898F0A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2202B-B830-83EA-9BEF-572E38D91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31B78-1E5C-8A6E-22DA-7DA66E312F1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A632681-3920-473C-D378-6A8DBFFE2E57}"/>
              </a:ext>
            </a:extLst>
          </p:cNvPr>
          <p:cNvSpPr>
            <a:spLocks noGrp="1"/>
          </p:cNvSpPr>
          <p:nvPr>
            <p:ph type="sldNum" sz="quarter" idx="5"/>
          </p:nvPr>
        </p:nvSpPr>
        <p:spPr/>
        <p:txBody>
          <a:bodyPr rtlCol="0"/>
          <a:lstStyle/>
          <a:p>
            <a:pPr rtl="0"/>
            <a:fld id="{68B68C18-1BF1-F447-95ED-60EAAE35426E}" type="slidenum">
              <a:rPr lang="en-GB" smtClean="0"/>
              <a:t>28</a:t>
            </a:fld>
            <a:endParaRPr lang="en-GB"/>
          </a:p>
        </p:txBody>
      </p:sp>
    </p:spTree>
    <p:extLst>
      <p:ext uri="{BB962C8B-B14F-4D97-AF65-F5344CB8AC3E}">
        <p14:creationId xmlns:p14="http://schemas.microsoft.com/office/powerpoint/2010/main" val="30401080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02C93-0AA5-DD6E-A6C8-4FC469042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35A56-FC2B-B709-D014-261D17A84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04EC3-A296-86E4-B125-4ACE681A8CC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E08F5E0-22F3-F1E2-9A8B-3DA5DB3EE4E6}"/>
              </a:ext>
            </a:extLst>
          </p:cNvPr>
          <p:cNvSpPr>
            <a:spLocks noGrp="1"/>
          </p:cNvSpPr>
          <p:nvPr>
            <p:ph type="sldNum" sz="quarter" idx="5"/>
          </p:nvPr>
        </p:nvSpPr>
        <p:spPr/>
        <p:txBody>
          <a:bodyPr rtlCol="0"/>
          <a:lstStyle/>
          <a:p>
            <a:pPr rtl="0"/>
            <a:fld id="{68B68C18-1BF1-F447-95ED-60EAAE35426E}" type="slidenum">
              <a:rPr lang="en-GB" smtClean="0"/>
              <a:t>29</a:t>
            </a:fld>
            <a:endParaRPr lang="en-GB"/>
          </a:p>
        </p:txBody>
      </p:sp>
    </p:spTree>
    <p:extLst>
      <p:ext uri="{BB962C8B-B14F-4D97-AF65-F5344CB8AC3E}">
        <p14:creationId xmlns:p14="http://schemas.microsoft.com/office/powerpoint/2010/main" val="33757072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508E0-3511-C810-3048-6BB34FE31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C9B6D-6754-87E9-F702-AA5B76100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17E95-FFCD-8758-CE0B-459369476FD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4BF4B442-94F1-6E50-57B7-9F600376A370}"/>
              </a:ext>
            </a:extLst>
          </p:cNvPr>
          <p:cNvSpPr>
            <a:spLocks noGrp="1"/>
          </p:cNvSpPr>
          <p:nvPr>
            <p:ph type="sldNum" sz="quarter" idx="5"/>
          </p:nvPr>
        </p:nvSpPr>
        <p:spPr/>
        <p:txBody>
          <a:bodyPr rtlCol="0"/>
          <a:lstStyle/>
          <a:p>
            <a:pPr rtl="0"/>
            <a:fld id="{68B68C18-1BF1-F447-95ED-60EAAE35426E}" type="slidenum">
              <a:rPr lang="en-GB" smtClean="0"/>
              <a:t>30</a:t>
            </a:fld>
            <a:endParaRPr lang="en-GB"/>
          </a:p>
        </p:txBody>
      </p:sp>
    </p:spTree>
    <p:extLst>
      <p:ext uri="{BB962C8B-B14F-4D97-AF65-F5344CB8AC3E}">
        <p14:creationId xmlns:p14="http://schemas.microsoft.com/office/powerpoint/2010/main" val="65209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03/03/2026</a:t>
            </a:fld>
            <a:endParaRPr lang="en-GB" noProof="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03/03/2026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03/03/2026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03/03/2026</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03/03/2026</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03/03/2026</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03/03/2026</a:t>
            </a:fld>
            <a:endParaRPr lang="en-GB"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lstStyle/>
          <a:p>
            <a:pPr rtl="0"/>
            <a:r>
              <a:rPr lang="en-US" dirty="0"/>
              <a:t>Natural Law Theory</a:t>
            </a:r>
            <a:endParaRPr lang="en-GB"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559678"/>
            <a:ext cx="6602412" cy="5078614"/>
          </a:xfrm>
          <a:prstGeom prst="rect">
            <a:avLst/>
          </a:prstGeom>
          <a:noFill/>
        </p:spPr>
        <p:txBody>
          <a:bodyPr wrap="square" rtlCol="0">
            <a:noAutofit/>
          </a:bodyPr>
          <a:lstStyle/>
          <a:p>
            <a:pPr algn="just"/>
            <a:r>
              <a:rPr lang="en-US" sz="4000" i="1" dirty="0">
                <a:latin typeface="Times New Roman" panose="02020603050405020304" pitchFamily="18" charset="0"/>
                <a:ea typeface="PMingLiU" panose="02020500000000000000" pitchFamily="18" charset="-120"/>
              </a:rPr>
              <a:t>Two Senses of Law</a:t>
            </a:r>
          </a:p>
          <a:p>
            <a:pPr marL="742950" indent="-742950" algn="just">
              <a:buFont typeface="+mj-lt"/>
              <a:buAutoNum type="arabicPeriod"/>
            </a:pPr>
            <a:r>
              <a:rPr lang="en-GB" sz="4000" dirty="0">
                <a:latin typeface="Times New Roman" panose="02020603050405020304" pitchFamily="18" charset="0"/>
                <a:ea typeface="PMingLiU" panose="02020500000000000000" pitchFamily="18" charset="-120"/>
              </a:rPr>
              <a:t>Descriptive</a:t>
            </a:r>
          </a:p>
          <a:p>
            <a:pPr marL="1200150" lvl="1" indent="-742950" algn="just">
              <a:buFont typeface="Arial" panose="020B0604020202020204" pitchFamily="34" charset="0"/>
              <a:buChar char="•"/>
            </a:pPr>
            <a:r>
              <a:rPr lang="en-GB" sz="4000" dirty="0">
                <a:latin typeface="Times New Roman" panose="02020603050405020304" pitchFamily="18" charset="0"/>
                <a:ea typeface="PMingLiU" panose="02020500000000000000" pitchFamily="18" charset="-120"/>
              </a:rPr>
              <a:t>Regularities in nature</a:t>
            </a:r>
          </a:p>
          <a:p>
            <a:pPr marL="742950" indent="-742950" algn="just">
              <a:buFont typeface="+mj-lt"/>
              <a:buAutoNum type="arabicPeriod"/>
            </a:pPr>
            <a:r>
              <a:rPr lang="en-GB" sz="4000" dirty="0">
                <a:latin typeface="Times New Roman" panose="02020603050405020304" pitchFamily="18" charset="0"/>
                <a:ea typeface="PMingLiU" panose="02020500000000000000" pitchFamily="18" charset="-120"/>
              </a:rPr>
              <a:t>Normative (Prescriptive)</a:t>
            </a:r>
          </a:p>
          <a:p>
            <a:pPr marL="1200150" lvl="1" indent="-742950" algn="just">
              <a:buFont typeface="Arial" panose="020B0604020202020204" pitchFamily="34" charset="0"/>
              <a:buChar char="•"/>
            </a:pPr>
            <a:r>
              <a:rPr lang="en-GB" sz="4000" dirty="0">
                <a:latin typeface="Times New Roman" panose="02020603050405020304" pitchFamily="18" charset="0"/>
                <a:ea typeface="PMingLiU" panose="02020500000000000000" pitchFamily="18" charset="-120"/>
              </a:rPr>
              <a:t>Norms or rules for how people are supposed to behave</a:t>
            </a:r>
          </a:p>
          <a:p>
            <a:pPr algn="just"/>
            <a:r>
              <a:rPr lang="en-GB" sz="4000" i="1" dirty="0">
                <a:latin typeface="Times New Roman" panose="02020603050405020304" pitchFamily="18" charset="0"/>
                <a:ea typeface="PMingLiU" panose="02020500000000000000" pitchFamily="18" charset="-120"/>
              </a:rPr>
              <a:t>Natural</a:t>
            </a:r>
            <a:r>
              <a:rPr lang="en-GB" sz="4000" dirty="0">
                <a:latin typeface="Times New Roman" panose="02020603050405020304" pitchFamily="18" charset="0"/>
                <a:ea typeface="PMingLiU" panose="02020500000000000000" pitchFamily="18" charset="-120"/>
              </a:rPr>
              <a:t>: Moral laws are natural in the sense that  they are grounded in human nature.</a:t>
            </a: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4"/>
            <a:ext cx="4116935" cy="1815846"/>
          </a:xfrm>
        </p:spPr>
        <p:txBody>
          <a:bodyPr rtlCol="0">
            <a:noAutofit/>
          </a:bodyPr>
          <a:lstStyle/>
          <a:p>
            <a:r>
              <a:rPr lang="en-US" dirty="0"/>
              <a:t>Three Components</a:t>
            </a:r>
            <a:endParaRPr lang="en-GB"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marL="514350" indent="-514350" algn="just" rtl="0">
              <a:buFont typeface="+mj-lt"/>
              <a:buAutoNum type="arabicPeriod"/>
            </a:pPr>
            <a:r>
              <a:rPr lang="en-GB" sz="3600" dirty="0">
                <a:latin typeface="Times New Roman" panose="02020603050405020304" pitchFamily="18" charset="0"/>
                <a:ea typeface="PMingLiU" panose="02020500000000000000" pitchFamily="18" charset="-120"/>
              </a:rPr>
              <a:t>A </a:t>
            </a:r>
            <a:r>
              <a:rPr lang="en-GB" sz="3600" i="1" dirty="0">
                <a:solidFill>
                  <a:srgbClr val="FF0000"/>
                </a:solidFill>
                <a:latin typeface="Times New Roman" panose="02020603050405020304" pitchFamily="18" charset="0"/>
                <a:ea typeface="PMingLiU" panose="02020500000000000000" pitchFamily="18" charset="-120"/>
              </a:rPr>
              <a:t>perfectionist</a:t>
            </a:r>
            <a:r>
              <a:rPr lang="en-GB" sz="3600" dirty="0">
                <a:latin typeface="Times New Roman" panose="02020603050405020304" pitchFamily="18" charset="0"/>
                <a:ea typeface="PMingLiU" panose="02020500000000000000" pitchFamily="18" charset="-120"/>
              </a:rPr>
              <a:t> theory of value</a:t>
            </a:r>
          </a:p>
          <a:p>
            <a:pPr marL="514350" indent="-514350" algn="just" rtl="0">
              <a:buFont typeface="+mj-lt"/>
              <a:buAutoNum type="arabicPeriod"/>
            </a:pPr>
            <a:r>
              <a:rPr lang="en-GB" sz="3600" dirty="0">
                <a:latin typeface="Times New Roman" panose="02020603050405020304" pitchFamily="18" charset="0"/>
                <a:ea typeface="PMingLiU" panose="02020500000000000000" pitchFamily="18" charset="-120"/>
              </a:rPr>
              <a:t>The principle of </a:t>
            </a:r>
            <a:r>
              <a:rPr lang="en-GB" sz="3600" i="1" dirty="0">
                <a:solidFill>
                  <a:srgbClr val="FF0000"/>
                </a:solidFill>
                <a:latin typeface="Times New Roman" panose="02020603050405020304" pitchFamily="18" charset="0"/>
                <a:ea typeface="PMingLiU" panose="02020500000000000000" pitchFamily="18" charset="-120"/>
              </a:rPr>
              <a:t>double effect</a:t>
            </a:r>
          </a:p>
          <a:p>
            <a:pPr marL="514350" indent="-514350" algn="just" rtl="0">
              <a:buFont typeface="+mj-lt"/>
              <a:buAutoNum type="arabicPeriod"/>
            </a:pPr>
            <a:r>
              <a:rPr lang="en-GB" sz="3600" dirty="0">
                <a:latin typeface="Times New Roman" panose="02020603050405020304" pitchFamily="18" charset="0"/>
                <a:ea typeface="PMingLiU" panose="02020500000000000000" pitchFamily="18" charset="-120"/>
              </a:rPr>
              <a:t>Commitment to moral </a:t>
            </a:r>
            <a:r>
              <a:rPr lang="en-GB" sz="3600" i="1" dirty="0">
                <a:solidFill>
                  <a:srgbClr val="FF0000"/>
                </a:solidFill>
                <a:latin typeface="Times New Roman" panose="02020603050405020304" pitchFamily="18" charset="0"/>
                <a:ea typeface="PMingLiU" panose="02020500000000000000" pitchFamily="18" charset="-120"/>
              </a:rPr>
              <a:t>absolutism</a:t>
            </a: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lstStyle/>
          <a:p>
            <a:r>
              <a:rPr lang="en-US" dirty="0"/>
              <a:t>Aquinas’s Perfectionism</a:t>
            </a:r>
            <a:endParaRPr lang="en-GB" dirty="0"/>
          </a:p>
        </p:txBody>
      </p:sp>
      <p:sp>
        <p:nvSpPr>
          <p:cNvPr id="8" name="TextBox 7">
            <a:extLst>
              <a:ext uri="{FF2B5EF4-FFF2-40B4-BE49-F238E27FC236}">
                <a16:creationId xmlns:a16="http://schemas.microsoft.com/office/drawing/2014/main" id="{5FC6C278-4035-446A-A94B-030E792FDDF5}"/>
              </a:ext>
            </a:extLst>
          </p:cNvPr>
          <p:cNvSpPr txBox="1"/>
          <p:nvPr/>
        </p:nvSpPr>
        <p:spPr>
          <a:xfrm>
            <a:off x="5181599" y="685800"/>
            <a:ext cx="6248401" cy="4952492"/>
          </a:xfrm>
          <a:prstGeom prst="rect">
            <a:avLst/>
          </a:prstGeom>
          <a:noFill/>
        </p:spPr>
        <p:txBody>
          <a:bodyPr wrap="square" rtlCol="0">
            <a:noAutofit/>
          </a:bodyPr>
          <a:lstStyle/>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Aquinas connects a thing’s </a:t>
            </a:r>
            <a:r>
              <a:rPr lang="en-GB" sz="3600" dirty="0">
                <a:solidFill>
                  <a:srgbClr val="FF0000"/>
                </a:solidFill>
                <a:latin typeface="Times New Roman" panose="02020603050405020304" pitchFamily="18" charset="0"/>
                <a:ea typeface="PMingLiU" panose="02020500000000000000" pitchFamily="18" charset="-120"/>
              </a:rPr>
              <a:t>essence</a:t>
            </a:r>
            <a:r>
              <a:rPr lang="en-GB" sz="3600" dirty="0">
                <a:latin typeface="Times New Roman" panose="02020603050405020304" pitchFamily="18" charset="0"/>
                <a:ea typeface="PMingLiU" panose="02020500000000000000" pitchFamily="18" charset="-120"/>
              </a:rPr>
              <a:t> with its </a:t>
            </a:r>
            <a:r>
              <a:rPr lang="en-GB" sz="3600" dirty="0">
                <a:solidFill>
                  <a:srgbClr val="FF0000"/>
                </a:solidFill>
                <a:latin typeface="Times New Roman" panose="02020603050405020304" pitchFamily="18" charset="0"/>
                <a:ea typeface="PMingLiU" panose="02020500000000000000" pitchFamily="18" charset="-120"/>
              </a:rPr>
              <a:t>purpose</a:t>
            </a:r>
            <a:r>
              <a:rPr lang="en-GB" sz="3600" dirty="0">
                <a:latin typeface="Times New Roman" panose="02020603050405020304" pitchFamily="18" charset="0"/>
                <a:ea typeface="PMingLiU" panose="02020500000000000000" pitchFamily="18" charset="-120"/>
              </a:rPr>
              <a:t>.</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value of a thing consists in the </a:t>
            </a:r>
            <a:r>
              <a:rPr lang="en-GB" sz="3600" dirty="0">
                <a:solidFill>
                  <a:srgbClr val="FF0000"/>
                </a:solidFill>
                <a:latin typeface="Times New Roman" panose="02020603050405020304" pitchFamily="18" charset="0"/>
                <a:ea typeface="PMingLiU" panose="02020500000000000000" pitchFamily="18" charset="-120"/>
              </a:rPr>
              <a:t>perfection</a:t>
            </a:r>
            <a:r>
              <a:rPr lang="en-GB" sz="3600" dirty="0">
                <a:latin typeface="Times New Roman" panose="02020603050405020304" pitchFamily="18" charset="0"/>
                <a:ea typeface="PMingLiU" panose="02020500000000000000" pitchFamily="18" charset="-120"/>
              </a:rPr>
              <a:t> of its state to perform its function (to achieve its purpose).</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 </a:t>
            </a:r>
            <a:r>
              <a:rPr lang="en-GB" sz="3600" i="1" dirty="0">
                <a:latin typeface="Times New Roman" panose="02020603050405020304" pitchFamily="18" charset="0"/>
                <a:ea typeface="PMingLiU" panose="02020500000000000000" pitchFamily="18" charset="-120"/>
              </a:rPr>
              <a:t>teleological</a:t>
            </a:r>
            <a:r>
              <a:rPr lang="en-GB" sz="3600" dirty="0">
                <a:latin typeface="Times New Roman" panose="02020603050405020304" pitchFamily="18" charset="0"/>
                <a:ea typeface="PMingLiU" panose="02020500000000000000" pitchFamily="18" charset="-120"/>
              </a:rPr>
              <a:t> worldview— all things in nature have purposes.</a:t>
            </a: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07989" y="559678"/>
            <a:ext cx="4187917" cy="2221622"/>
          </a:xfrm>
        </p:spPr>
        <p:txBody>
          <a:bodyPr rtlCol="0">
            <a:normAutofit/>
          </a:bodyPr>
          <a:lstStyle/>
          <a:p>
            <a:r>
              <a:rPr lang="en-US" dirty="0"/>
              <a:t>Aquinas’s Perfectionism</a:t>
            </a:r>
            <a:endParaRPr lang="en-GB" dirty="0"/>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5181599" y="305054"/>
            <a:ext cx="6602412" cy="4952492"/>
          </a:xfrm>
          <a:prstGeom prst="rect">
            <a:avLst/>
          </a:prstGeom>
          <a:noFill/>
        </p:spPr>
        <p:txBody>
          <a:bodyPr wrap="square" rtlCol="0">
            <a:noAutofit/>
          </a:bodyPr>
          <a:lstStyle/>
          <a:p>
            <a:pPr marL="457200" indent="-457200" algn="just" rtl="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goodness of a human being is a matter of its realizing the purposes characteristic of human beings. </a:t>
            </a:r>
          </a:p>
          <a:p>
            <a:pPr marL="457200" indent="-457200" algn="just" rtl="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Human beings are rational agents with free will. </a:t>
            </a:r>
          </a:p>
          <a:p>
            <a:pPr marL="457200" indent="-457200" algn="just" rtl="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It is up to us to understand our essential nature and our good using reason. </a:t>
            </a:r>
          </a:p>
          <a:p>
            <a:pPr algn="just" rtl="0"/>
            <a:endParaRPr lang="en-GB" sz="36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416633" y="559678"/>
            <a:ext cx="4179273" cy="2221622"/>
          </a:xfrm>
        </p:spPr>
        <p:txBody>
          <a:bodyPr rtlCol="0">
            <a:normAutofit/>
          </a:bodyPr>
          <a:lstStyle/>
          <a:p>
            <a:r>
              <a:rPr lang="en-GB" dirty="0"/>
              <a:t>Value Perfectionism</a:t>
            </a:r>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a:p>
        </p:txBody>
      </p:sp>
      <p:sp>
        <p:nvSpPr>
          <p:cNvPr id="23" name="TextBox 22">
            <a:extLst>
              <a:ext uri="{FF2B5EF4-FFF2-40B4-BE49-F238E27FC236}">
                <a16:creationId xmlns:a16="http://schemas.microsoft.com/office/drawing/2014/main" id="{B3924C4A-5D52-2E83-5910-D093650F9298}"/>
              </a:ext>
            </a:extLst>
          </p:cNvPr>
          <p:cNvSpPr txBox="1"/>
          <p:nvPr/>
        </p:nvSpPr>
        <p:spPr>
          <a:xfrm>
            <a:off x="5181599" y="559678"/>
            <a:ext cx="6593768" cy="5078614"/>
          </a:xfrm>
          <a:prstGeom prst="rect">
            <a:avLst/>
          </a:prstGeom>
          <a:noFill/>
        </p:spPr>
        <p:txBody>
          <a:bodyPr wrap="square" rtlCol="0">
            <a:noAutofit/>
          </a:bodyPr>
          <a:lstStyle/>
          <a:p>
            <a:pPr marL="571500" indent="-571500">
              <a:buFont typeface="Arial" panose="020B0604020202020204" pitchFamily="34" charset="0"/>
              <a:buChar char="•"/>
            </a:pPr>
            <a:r>
              <a:rPr lang="en-US" sz="3600" i="1" dirty="0">
                <a:latin typeface="Times New Roman" panose="02020603050405020304" pitchFamily="18" charset="0"/>
                <a:ea typeface="PMingLiU" panose="02020500000000000000" pitchFamily="18" charset="-120"/>
              </a:rPr>
              <a:t>VP: </a:t>
            </a:r>
            <a:r>
              <a:rPr lang="en-GB" sz="3600" i="1" dirty="0">
                <a:latin typeface="Times New Roman" panose="02020603050405020304" pitchFamily="18" charset="0"/>
                <a:ea typeface="PMingLiU" panose="02020500000000000000" pitchFamily="18" charset="-120"/>
              </a:rPr>
              <a:t>The goodness of a thing is a matter of that thing fully developing those capacities that are essential to it. Aquinas’s theory of value is also a version of perfectionism. </a:t>
            </a:r>
            <a:r>
              <a:rPr lang="en-US" sz="3600" i="1" dirty="0">
                <a:latin typeface="Times New Roman" panose="02020603050405020304" pitchFamily="18" charset="0"/>
                <a:ea typeface="PMingLiU" panose="02020500000000000000" pitchFamily="18" charset="-120"/>
              </a:rPr>
              <a:t> </a:t>
            </a:r>
          </a:p>
          <a:p>
            <a:pPr marL="571500" indent="-571500">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rPr>
              <a:t>MP: A perfectionistic account of value is central in understanding the nature of right and wrong actions.</a:t>
            </a:r>
            <a:endParaRPr lang="en-US" sz="3600" i="1"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407989" y="559678"/>
            <a:ext cx="4187917" cy="2221622"/>
          </a:xfrm>
        </p:spPr>
        <p:txBody>
          <a:bodyPr rtlCol="0">
            <a:normAutofit/>
          </a:bodyPr>
          <a:lstStyle/>
          <a:p>
            <a:r>
              <a:rPr lang="en-GB" dirty="0"/>
              <a:t>Perfectionist Theory of Intrinsic </a:t>
            </a:r>
            <a:r>
              <a:rPr lang="en-GB" dirty="0" err="1"/>
              <a:t>alue</a:t>
            </a:r>
            <a:endParaRPr lang="en-GB" dirty="0"/>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marL="514350" indent="-514350" algn="just" rtl="0">
              <a:buFont typeface="+mj-lt"/>
              <a:buAutoNum type="arabicPeriod"/>
            </a:pPr>
            <a:r>
              <a:rPr lang="en-GB" sz="2800" dirty="0">
                <a:latin typeface="Times New Roman" panose="02020603050405020304" pitchFamily="18" charset="0"/>
                <a:ea typeface="PMingLiU" panose="02020500000000000000" pitchFamily="18" charset="-120"/>
              </a:rPr>
              <a:t>Some state of affairs S is </a:t>
            </a:r>
            <a:r>
              <a:rPr lang="en-GB" sz="2800" i="1" dirty="0">
                <a:latin typeface="Times New Roman" panose="02020603050405020304" pitchFamily="18" charset="0"/>
                <a:ea typeface="PMingLiU" panose="02020500000000000000" pitchFamily="18" charset="-120"/>
              </a:rPr>
              <a:t>intrinsically good </a:t>
            </a:r>
            <a:r>
              <a:rPr lang="en-GB" sz="2800" dirty="0">
                <a:latin typeface="Times New Roman" panose="02020603050405020304" pitchFamily="18" charset="0"/>
                <a:ea typeface="PMingLiU" panose="02020500000000000000" pitchFamily="18" charset="-120"/>
              </a:rPr>
              <a:t>concerning human beings </a:t>
            </a:r>
            <a:r>
              <a:rPr lang="en-GB" sz="2800" dirty="0" err="1">
                <a:latin typeface="Times New Roman" panose="02020603050405020304" pitchFamily="18" charset="0"/>
                <a:ea typeface="PMingLiU" panose="02020500000000000000" pitchFamily="18" charset="-120"/>
              </a:rPr>
              <a:t>iff</a:t>
            </a:r>
            <a:r>
              <a:rPr lang="en-GB" sz="2800" dirty="0">
                <a:latin typeface="Times New Roman" panose="02020603050405020304" pitchFamily="18" charset="0"/>
                <a:ea typeface="PMingLiU" panose="02020500000000000000" pitchFamily="18" charset="-120"/>
              </a:rPr>
              <a:t> the realization of S is part of what perfects human nature.</a:t>
            </a:r>
          </a:p>
          <a:p>
            <a:pPr marL="514350" indent="-514350" algn="just" rtl="0">
              <a:buFont typeface="+mj-lt"/>
              <a:buAutoNum type="arabicPeriod"/>
            </a:pPr>
            <a:r>
              <a:rPr lang="en-GB" sz="2800" dirty="0">
                <a:latin typeface="Times New Roman" panose="02020603050405020304" pitchFamily="18" charset="0"/>
                <a:ea typeface="PMingLiU" panose="02020500000000000000" pitchFamily="18" charset="-120"/>
              </a:rPr>
              <a:t>Some state of affairs S is </a:t>
            </a:r>
            <a:r>
              <a:rPr lang="en-GB" sz="2800" i="1" dirty="0">
                <a:latin typeface="Times New Roman" panose="02020603050405020304" pitchFamily="18" charset="0"/>
                <a:ea typeface="PMingLiU" panose="02020500000000000000" pitchFamily="18" charset="-120"/>
              </a:rPr>
              <a:t>intrinsically bad </a:t>
            </a:r>
            <a:r>
              <a:rPr lang="en-GB" sz="2800" dirty="0">
                <a:latin typeface="Times New Roman" panose="02020603050405020304" pitchFamily="18" charset="0"/>
                <a:ea typeface="PMingLiU" panose="02020500000000000000" pitchFamily="18" charset="-120"/>
              </a:rPr>
              <a:t>concerning human beings </a:t>
            </a:r>
            <a:r>
              <a:rPr lang="en-GB" sz="2800" dirty="0" err="1">
                <a:latin typeface="Times New Roman" panose="02020603050405020304" pitchFamily="18" charset="0"/>
                <a:ea typeface="PMingLiU" panose="02020500000000000000" pitchFamily="18" charset="-120"/>
              </a:rPr>
              <a:t>iff</a:t>
            </a:r>
            <a:r>
              <a:rPr lang="en-GB" sz="2800" dirty="0">
                <a:latin typeface="Times New Roman" panose="02020603050405020304" pitchFamily="18" charset="0"/>
                <a:ea typeface="PMingLiU" panose="02020500000000000000" pitchFamily="18" charset="-120"/>
              </a:rPr>
              <a:t> S involves the hindrance or destruction of those states of affairs that perfect human nature.</a:t>
            </a:r>
          </a:p>
          <a:p>
            <a:pPr marL="514350" indent="-514350" algn="just" rtl="0">
              <a:buFont typeface="+mj-lt"/>
              <a:buAutoNum type="arabicPeriod"/>
            </a:pPr>
            <a:r>
              <a:rPr lang="en-GB" sz="2800" dirty="0">
                <a:latin typeface="Times New Roman" panose="02020603050405020304" pitchFamily="18" charset="0"/>
                <a:ea typeface="PMingLiU" panose="02020500000000000000" pitchFamily="18" charset="-120"/>
              </a:rPr>
              <a:t>Some state of affairs S is </a:t>
            </a:r>
            <a:r>
              <a:rPr lang="en-GB" sz="2800" i="1" dirty="0">
                <a:latin typeface="Times New Roman" panose="02020603050405020304" pitchFamily="18" charset="0"/>
                <a:ea typeface="PMingLiU" panose="02020500000000000000" pitchFamily="18" charset="-120"/>
              </a:rPr>
              <a:t>intrinsically value-neutral </a:t>
            </a:r>
            <a:r>
              <a:rPr lang="en-GB" sz="2800" dirty="0">
                <a:latin typeface="Times New Roman" panose="02020603050405020304" pitchFamily="18" charset="0"/>
                <a:ea typeface="PMingLiU" panose="02020500000000000000" pitchFamily="18" charset="-120"/>
              </a:rPr>
              <a:t>concerning human beings </a:t>
            </a:r>
            <a:r>
              <a:rPr lang="en-GB" sz="2800" dirty="0" err="1">
                <a:latin typeface="Times New Roman" panose="02020603050405020304" pitchFamily="18" charset="0"/>
                <a:ea typeface="PMingLiU" panose="02020500000000000000" pitchFamily="18" charset="-120"/>
              </a:rPr>
              <a:t>iff</a:t>
            </a:r>
            <a:r>
              <a:rPr lang="en-GB" sz="2800" dirty="0">
                <a:latin typeface="Times New Roman" panose="02020603050405020304" pitchFamily="18" charset="0"/>
                <a:ea typeface="PMingLiU" panose="02020500000000000000" pitchFamily="18" charset="-120"/>
              </a:rPr>
              <a:t> S is neither part of what perfects human nature nor involves the hindrance or destruction of those states of affairs that perfect human nature.</a:t>
            </a:r>
          </a:p>
          <a:p>
            <a:pPr marL="514350" indent="-514350" algn="just" rtl="0">
              <a:buFont typeface="+mj-lt"/>
              <a:buAutoNum type="arabicPeriod"/>
            </a:pPr>
            <a:endParaRPr lang="en-GB" sz="3200" dirty="0">
              <a:solidFill>
                <a:srgbClr val="FF0000"/>
              </a:solidFill>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530578" y="559678"/>
            <a:ext cx="4065328" cy="2221622"/>
          </a:xfrm>
        </p:spPr>
        <p:txBody>
          <a:bodyPr rtlCol="0">
            <a:normAutofit fontScale="90000"/>
          </a:bodyPr>
          <a:lstStyle/>
          <a:p>
            <a:r>
              <a:rPr lang="en-HK" dirty="0"/>
              <a:t>Four Basic Human Goods</a:t>
            </a:r>
            <a:br>
              <a:rPr lang="en-GB" dirty="0"/>
            </a:br>
            <a:endParaRPr lang="en-GB" dirty="0"/>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078614"/>
          </a:xfrm>
          <a:prstGeom prst="rect">
            <a:avLst/>
          </a:prstGeom>
          <a:noFill/>
        </p:spPr>
        <p:txBody>
          <a:bodyPr wrap="square" rtlCol="0">
            <a:noAutofit/>
          </a:bodyPr>
          <a:lstStyle/>
          <a:p>
            <a:pPr marL="742950" indent="-742950" algn="just">
              <a:buFont typeface="+mj-lt"/>
              <a:buAutoNum type="arabicPeriod"/>
            </a:pPr>
            <a:r>
              <a:rPr lang="en-US" sz="4000" dirty="0">
                <a:latin typeface="Times New Roman" panose="02020603050405020304" pitchFamily="18" charset="0"/>
                <a:ea typeface="PMingLiU" panose="02020500000000000000" pitchFamily="18" charset="-120"/>
              </a:rPr>
              <a:t>Life</a:t>
            </a:r>
          </a:p>
          <a:p>
            <a:pPr marL="742950" indent="-742950" algn="just">
              <a:buFont typeface="+mj-lt"/>
              <a:buAutoNum type="arabicPeriod"/>
            </a:pPr>
            <a:r>
              <a:rPr lang="en-US" sz="4000" dirty="0">
                <a:latin typeface="Times New Roman" panose="02020603050405020304" pitchFamily="18" charset="0"/>
                <a:ea typeface="PMingLiU" panose="02020500000000000000" pitchFamily="18" charset="-120"/>
              </a:rPr>
              <a:t>Procreation</a:t>
            </a:r>
          </a:p>
          <a:p>
            <a:pPr marL="742950" indent="-742950" algn="just">
              <a:buFont typeface="+mj-lt"/>
              <a:buAutoNum type="arabicPeriod"/>
            </a:pPr>
            <a:r>
              <a:rPr lang="en-US" sz="4000" dirty="0">
                <a:latin typeface="Times New Roman" panose="02020603050405020304" pitchFamily="18" charset="0"/>
                <a:ea typeface="PMingLiU" panose="02020500000000000000" pitchFamily="18" charset="-120"/>
              </a:rPr>
              <a:t>Knowledge</a:t>
            </a:r>
          </a:p>
          <a:p>
            <a:pPr marL="742950" indent="-742950" algn="just">
              <a:buFont typeface="+mj-lt"/>
              <a:buAutoNum type="arabicPeriod"/>
            </a:pPr>
            <a:r>
              <a:rPr lang="en-US" sz="4000" dirty="0">
                <a:latin typeface="Times New Roman" panose="02020603050405020304" pitchFamily="18" charset="0"/>
                <a:ea typeface="PMingLiU" panose="02020500000000000000" pitchFamily="18" charset="-120"/>
              </a:rPr>
              <a:t>Sociability</a:t>
            </a:r>
          </a:p>
          <a:p>
            <a:pPr marL="514350" indent="-514350">
              <a:buFont typeface="Arial" panose="020B0604020202020204" pitchFamily="34" charset="0"/>
              <a:buChar char="•"/>
            </a:pPr>
            <a:endParaRPr lang="en-GB" sz="2800" dirty="0">
              <a:latin typeface="Times New Roman" panose="02020603050405020304" pitchFamily="18" charset="0"/>
              <a:ea typeface="PMingLiU" panose="02020500000000000000" pitchFamily="18" charset="-120"/>
            </a:endParaRPr>
          </a:p>
          <a:p>
            <a:r>
              <a:rPr lang="en-GB" sz="3600" dirty="0">
                <a:latin typeface="Times New Roman" panose="02020603050405020304" pitchFamily="18" charset="0"/>
                <a:ea typeface="PMingLiU" panose="02020500000000000000" pitchFamily="18" charset="-120"/>
              </a:rPr>
              <a:t>Fundamental Principle of Right Conduct in NLT:</a:t>
            </a:r>
          </a:p>
          <a:p>
            <a:pPr marL="514350" indent="-514350">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rPr>
              <a:t>These are to be preserved and promoted; their hindrance and destruction are to be avoided. </a:t>
            </a: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5B4A-A9AF-F20C-341C-3A544060B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A5C96-AB1E-E384-CC3E-59F711918FF2}"/>
              </a:ext>
            </a:extLst>
          </p:cNvPr>
          <p:cNvSpPr>
            <a:spLocks noGrp="1"/>
          </p:cNvSpPr>
          <p:nvPr>
            <p:ph type="title"/>
          </p:nvPr>
        </p:nvSpPr>
        <p:spPr>
          <a:xfrm>
            <a:off x="478971" y="559678"/>
            <a:ext cx="4116935" cy="2221622"/>
          </a:xfrm>
        </p:spPr>
        <p:txBody>
          <a:bodyPr rtlCol="0">
            <a:normAutofit/>
          </a:bodyPr>
          <a:lstStyle/>
          <a:p>
            <a:pPr rtl="0"/>
            <a:r>
              <a:rPr lang="en-GB" dirty="0"/>
              <a:t>Implications</a:t>
            </a:r>
          </a:p>
        </p:txBody>
      </p:sp>
      <p:sp>
        <p:nvSpPr>
          <p:cNvPr id="3" name="Slide Number Placeholder 2">
            <a:extLst>
              <a:ext uri="{FF2B5EF4-FFF2-40B4-BE49-F238E27FC236}">
                <a16:creationId xmlns:a16="http://schemas.microsoft.com/office/drawing/2014/main" id="{2EC99ABB-F367-3BC5-2017-FB8F8742C503}"/>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F29A0C60-3916-4BD3-EE6E-3BC8CFF43339}"/>
              </a:ext>
            </a:extLst>
          </p:cNvPr>
          <p:cNvSpPr txBox="1"/>
          <p:nvPr/>
        </p:nvSpPr>
        <p:spPr>
          <a:xfrm>
            <a:off x="5181599" y="305054"/>
            <a:ext cx="6602412" cy="4952492"/>
          </a:xfrm>
          <a:prstGeom prst="rect">
            <a:avLst/>
          </a:prstGeom>
          <a:noFill/>
        </p:spPr>
        <p:txBody>
          <a:bodyPr wrap="square" rtlCol="0">
            <a:noAutofit/>
          </a:bodyPr>
          <a:lstStyle/>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Life: an obligation to protect and promote our own lives and the lives of others</a:t>
            </a:r>
          </a:p>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Procreation: an obligation to have and raise children</a:t>
            </a:r>
          </a:p>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Knowledge: an obligation to pursue knowledge</a:t>
            </a:r>
          </a:p>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Sociability: an obligation to form friendship, marriage, and civil society</a:t>
            </a:r>
            <a:endParaRPr lang="en-GB" sz="3600" dirty="0">
              <a:latin typeface="Times New Roman" panose="02020603050405020304" pitchFamily="18" charset="0"/>
              <a:ea typeface="PMingLiU" panose="02020500000000000000" pitchFamily="18" charset="-120"/>
            </a:endParaRPr>
          </a:p>
          <a:p>
            <a:pPr marL="457200" indent="-457200" algn="just" rtl="0">
              <a:buFont typeface="Arial" panose="020B0604020202020204" pitchFamily="34" charset="0"/>
              <a:buChar char="•"/>
            </a:pPr>
            <a:endParaRPr lang="en-GB" sz="3200" dirty="0">
              <a:solidFill>
                <a:srgbClr val="FF0000"/>
              </a:solidFill>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982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2221622"/>
          </a:xfrm>
        </p:spPr>
        <p:txBody>
          <a:bodyPr rtlCol="0">
            <a:normAutofit/>
          </a:bodyPr>
          <a:lstStyle/>
          <a:p>
            <a:r>
              <a:rPr lang="en-HK" dirty="0"/>
              <a:t>Problem of Moral Conflict</a:t>
            </a:r>
            <a:endParaRPr lang="en-GB" dirty="0"/>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a:p>
        </p:txBody>
      </p:sp>
      <p:sp>
        <p:nvSpPr>
          <p:cNvPr id="23" name="TextBox 22">
            <a:extLst>
              <a:ext uri="{FF2B5EF4-FFF2-40B4-BE49-F238E27FC236}">
                <a16:creationId xmlns:a16="http://schemas.microsoft.com/office/drawing/2014/main" id="{764A365B-4C2F-2351-93F8-FD34668116E1}"/>
              </a:ext>
            </a:extLst>
          </p:cNvPr>
          <p:cNvSpPr txBox="1"/>
          <p:nvPr/>
        </p:nvSpPr>
        <p:spPr>
          <a:xfrm>
            <a:off x="5181599" y="559678"/>
            <a:ext cx="6593768" cy="5078614"/>
          </a:xfrm>
          <a:prstGeom prst="rect">
            <a:avLst/>
          </a:prstGeom>
          <a:noFill/>
        </p:spPr>
        <p:txBody>
          <a:bodyPr wrap="square" rtlCol="0">
            <a:noAutofit/>
          </a:bodyPr>
          <a:lstStyle/>
          <a:p>
            <a:pPr algn="just"/>
            <a:r>
              <a:rPr lang="en-US" sz="3200" i="1" dirty="0">
                <a:latin typeface="Times New Roman" panose="02020603050405020304" pitchFamily="18" charset="0"/>
                <a:ea typeface="PMingLiU" panose="02020500000000000000" pitchFamily="18" charset="-120"/>
              </a:rPr>
              <a:t>How does NLT resolve contradictory moral evaluations?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In a kill-or-be-killed situation, may one kill in self-defence?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In a medical situation where a hysterectomy is required to save a pregnant patient’s life, may she undergo the operation?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Should I or should I not lie about an innocent person’s location when asked by a potential killer? </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404734" y="230820"/>
            <a:ext cx="4191172" cy="2752224"/>
          </a:xfrm>
        </p:spPr>
        <p:txBody>
          <a:bodyPr rtlCol="0">
            <a:normAutofit/>
          </a:bodyPr>
          <a:lstStyle/>
          <a:p>
            <a:r>
              <a:rPr lang="en-US" sz="4400" b="1" dirty="0"/>
              <a:t>What NLT Rejects </a:t>
            </a:r>
            <a:endParaRPr lang="en-GB" sz="44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230819"/>
            <a:ext cx="6480749" cy="5407473"/>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Q: Is one ever morally permitted to do or bring about evil to promote or bring about something good? </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One possible answer is </a:t>
            </a:r>
            <a:r>
              <a:rPr lang="en-GB" sz="3600" i="1" dirty="0">
                <a:latin typeface="Times New Roman" panose="02020603050405020304" pitchFamily="18" charset="0"/>
                <a:ea typeface="PMingLiU" panose="02020500000000000000" pitchFamily="18" charset="-120"/>
              </a:rPr>
              <a:t>consequentialism: </a:t>
            </a:r>
            <a:r>
              <a:rPr lang="en-GB" sz="3600" dirty="0">
                <a:latin typeface="Times New Roman" panose="02020603050405020304" pitchFamily="18" charset="0"/>
                <a:ea typeface="PMingLiU" panose="02020500000000000000" pitchFamily="18" charset="-120"/>
              </a:rPr>
              <a:t>Focus on </a:t>
            </a:r>
            <a:r>
              <a:rPr lang="en-GB" sz="3600" i="1" dirty="0">
                <a:latin typeface="Times New Roman" panose="02020603050405020304" pitchFamily="18" charset="0"/>
                <a:ea typeface="PMingLiU" panose="02020500000000000000" pitchFamily="18" charset="-120"/>
              </a:rPr>
              <a:t>how much </a:t>
            </a:r>
            <a:r>
              <a:rPr lang="en-GB" sz="3600" dirty="0">
                <a:latin typeface="Times New Roman" panose="02020603050405020304" pitchFamily="18" charset="0"/>
                <a:ea typeface="PMingLiU" panose="02020500000000000000" pitchFamily="18" charset="-120"/>
              </a:rPr>
              <a:t>good and </a:t>
            </a:r>
            <a:r>
              <a:rPr lang="en-GB" sz="3600" i="1" dirty="0">
                <a:latin typeface="Times New Roman" panose="02020603050405020304" pitchFamily="18" charset="0"/>
                <a:ea typeface="PMingLiU" panose="02020500000000000000" pitchFamily="18" charset="-120"/>
              </a:rPr>
              <a:t>how much </a:t>
            </a:r>
            <a:r>
              <a:rPr lang="en-GB" sz="3600" dirty="0">
                <a:latin typeface="Times New Roman" panose="02020603050405020304" pitchFamily="18" charset="0"/>
                <a:ea typeface="PMingLiU" panose="02020500000000000000" pitchFamily="18" charset="-120"/>
              </a:rPr>
              <a:t>evil or bad would result; choose the action that will produce the best overall results</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NFL: </a:t>
            </a:r>
            <a:r>
              <a:rPr lang="en-GB" sz="3600" i="1" dirty="0">
                <a:latin typeface="Times New Roman" panose="02020603050405020304" pitchFamily="18" charset="0"/>
                <a:ea typeface="PMingLiU" panose="02020500000000000000" pitchFamily="18" charset="-120"/>
              </a:rPr>
              <a:t>intentions </a:t>
            </a:r>
            <a:r>
              <a:rPr lang="en-GB" sz="3600" dirty="0">
                <a:latin typeface="Times New Roman" panose="02020603050405020304" pitchFamily="18" charset="0"/>
                <a:ea typeface="PMingLiU" panose="02020500000000000000" pitchFamily="18" charset="-120"/>
              </a:rPr>
              <a:t>also count!</a:t>
            </a:r>
            <a:endParaRPr lang="en-US" sz="3600" i="1"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584616" y="559678"/>
            <a:ext cx="4011290" cy="2003640"/>
          </a:xfrm>
        </p:spPr>
        <p:txBody>
          <a:bodyPr rtlCol="0">
            <a:normAutofit fontScale="90000"/>
          </a:bodyPr>
          <a:lstStyle/>
          <a:p>
            <a:r>
              <a:rPr lang="en-HK" dirty="0"/>
              <a:t>Principle of Double Effect </a:t>
            </a:r>
            <a:endParaRPr lang="en-GB" sz="4400" dirty="0"/>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PDE: Whenever an action would produce at least one good effect and one evil effect, then one is permitted to perform the act </a:t>
            </a:r>
            <a:r>
              <a:rPr lang="en-GB" sz="3600" i="1" dirty="0" err="1">
                <a:latin typeface="Times New Roman" panose="02020603050405020304" pitchFamily="18" charset="0"/>
                <a:ea typeface="PMingLiU" panose="02020500000000000000" pitchFamily="18" charset="-120"/>
              </a:rPr>
              <a:t>iff</a:t>
            </a:r>
            <a:r>
              <a:rPr lang="en-GB" sz="3600" i="1" dirty="0">
                <a:latin typeface="Times New Roman" panose="02020603050405020304" pitchFamily="18" charset="0"/>
                <a:ea typeface="PMingLiU" panose="02020500000000000000" pitchFamily="18" charset="-120"/>
              </a:rPr>
              <a:t> all of the following conditions are met:</a:t>
            </a:r>
          </a:p>
          <a:p>
            <a:pPr marL="514350" indent="-514350">
              <a:buFont typeface="+mj-lt"/>
              <a:buAutoNum type="arabicPeriod"/>
            </a:pPr>
            <a:r>
              <a:rPr lang="en-GB" sz="3600" i="1" dirty="0">
                <a:latin typeface="Times New Roman" panose="02020603050405020304" pitchFamily="18" charset="0"/>
                <a:ea typeface="PMingLiU" panose="02020500000000000000" pitchFamily="18" charset="-120"/>
              </a:rPr>
              <a:t>Intrinsic permissibility</a:t>
            </a:r>
          </a:p>
          <a:p>
            <a:pPr marL="514350" indent="-514350">
              <a:buFont typeface="+mj-lt"/>
              <a:buAutoNum type="arabicPeriod"/>
            </a:pPr>
            <a:r>
              <a:rPr lang="en-GB" sz="3600" i="1" dirty="0">
                <a:latin typeface="Times New Roman" panose="02020603050405020304" pitchFamily="18" charset="0"/>
                <a:ea typeface="PMingLiU" panose="02020500000000000000" pitchFamily="18" charset="-120"/>
              </a:rPr>
              <a:t>Non-intentionality</a:t>
            </a:r>
          </a:p>
          <a:p>
            <a:pPr marL="514350" indent="-514350">
              <a:buFont typeface="+mj-lt"/>
              <a:buAutoNum type="arabicPeriod"/>
            </a:pPr>
            <a:r>
              <a:rPr lang="en-GB" sz="3600" i="1" dirty="0">
                <a:latin typeface="Times New Roman" panose="02020603050405020304" pitchFamily="18" charset="0"/>
                <a:ea typeface="PMingLiU" panose="02020500000000000000" pitchFamily="18" charset="-120"/>
              </a:rPr>
              <a:t>Proportionality</a:t>
            </a: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762000" y="230819"/>
            <a:ext cx="3833906" cy="3198181"/>
          </a:xfrm>
        </p:spPr>
        <p:txBody>
          <a:bodyPr rtlCol="0">
            <a:normAutofit/>
          </a:bodyPr>
          <a:lstStyle/>
          <a:p>
            <a:r>
              <a:rPr lang="en-HK" sz="4400" dirty="0"/>
              <a:t>Principle of Double Effect </a:t>
            </a:r>
            <a:endParaRPr lang="en-GB" sz="4400" dirty="0"/>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602412" cy="5407473"/>
          </a:xfrm>
          <a:prstGeom prst="rect">
            <a:avLst/>
          </a:prstGeom>
          <a:noFill/>
        </p:spPr>
        <p:txBody>
          <a:bodyPr wrap="square" rtlCol="0">
            <a:noAutofit/>
          </a:bodyPr>
          <a:lstStyle/>
          <a:p>
            <a:pPr marL="514350" indent="-514350">
              <a:buFont typeface="+mj-lt"/>
              <a:buAutoNum type="arabicPeriod"/>
            </a:pPr>
            <a:r>
              <a:rPr lang="en-US" sz="3600" dirty="0">
                <a:latin typeface="Times New Roman" panose="02020603050405020304" pitchFamily="18" charset="0"/>
                <a:ea typeface="PMingLiU" panose="02020500000000000000" pitchFamily="18" charset="-120"/>
              </a:rPr>
              <a:t>The action, apart from its effects, must be intrinsically permissible.</a:t>
            </a:r>
          </a:p>
          <a:p>
            <a:pPr marL="514350" indent="-514350">
              <a:buFont typeface="+mj-lt"/>
              <a:buAutoNum type="arabicPeriod"/>
            </a:pPr>
            <a:r>
              <a:rPr lang="en-GB" sz="3600" dirty="0">
                <a:latin typeface="Times New Roman" panose="02020603050405020304" pitchFamily="18" charset="0"/>
                <a:ea typeface="PMingLiU" panose="02020500000000000000" pitchFamily="18" charset="-120"/>
              </a:rPr>
              <a:t>The bad effect must not be intended by the agent. Two ways an effect can be intended:</a:t>
            </a:r>
          </a:p>
          <a:p>
            <a:pPr marL="971550" lvl="1" indent="-514350">
              <a:buFont typeface="+mj-lt"/>
              <a:buAutoNum type="alphaLcPeriod"/>
            </a:pPr>
            <a:r>
              <a:rPr lang="en-GB" sz="3600" dirty="0">
                <a:latin typeface="Times New Roman" panose="02020603050405020304" pitchFamily="18" charset="0"/>
                <a:ea typeface="PMingLiU" panose="02020500000000000000" pitchFamily="18" charset="-120"/>
              </a:rPr>
              <a:t>As a chosen end of action</a:t>
            </a:r>
          </a:p>
          <a:p>
            <a:pPr marL="971550" lvl="1" indent="-514350">
              <a:buFont typeface="+mj-lt"/>
              <a:buAutoNum type="alphaLcPeriod"/>
            </a:pPr>
            <a:r>
              <a:rPr lang="en-GB" sz="3600" dirty="0">
                <a:latin typeface="Times New Roman" panose="02020603050405020304" pitchFamily="18" charset="0"/>
                <a:ea typeface="PMingLiU" panose="02020500000000000000" pitchFamily="18" charset="-120"/>
              </a:rPr>
              <a:t>As a means for bringing about some intended end</a:t>
            </a:r>
          </a:p>
          <a:p>
            <a:pPr marL="514350" indent="-514350">
              <a:buFont typeface="+mj-lt"/>
              <a:buAutoNum type="arabicPeriod"/>
            </a:pPr>
            <a:r>
              <a:rPr lang="en-GB" sz="3600" dirty="0">
                <a:latin typeface="Times New Roman" panose="02020603050405020304" pitchFamily="18" charset="0"/>
                <a:ea typeface="PMingLiU" panose="02020500000000000000" pitchFamily="18" charset="-120"/>
              </a:rPr>
              <a:t>There is a proportionally grave reason for bringing about the evil effect.</a:t>
            </a: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a:bodyPr>
          <a:lstStyle/>
          <a:p>
            <a:r>
              <a:rPr lang="en-US" sz="4400" b="1" dirty="0"/>
              <a:t>Applying PDE</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559678"/>
            <a:ext cx="6593768" cy="5078614"/>
          </a:xfrm>
          <a:prstGeom prst="rect">
            <a:avLst/>
          </a:prstGeom>
          <a:noFill/>
        </p:spPr>
        <p:txBody>
          <a:bodyPr wrap="square" rtlCol="0">
            <a:noAutofit/>
          </a:bodyPr>
          <a:lstStyle/>
          <a:p>
            <a:r>
              <a:rPr lang="en-US" sz="4000" dirty="0">
                <a:latin typeface="Times New Roman" panose="02020603050405020304" pitchFamily="18" charset="0"/>
                <a:ea typeface="PMingLiU" panose="02020500000000000000" pitchFamily="18" charset="-120"/>
              </a:rPr>
              <a:t>Take the case of hysterectomy:</a:t>
            </a:r>
          </a:p>
          <a:p>
            <a:pPr marL="742950" indent="-742950">
              <a:buFont typeface="+mj-lt"/>
              <a:buAutoNum type="arabicPeriod"/>
            </a:pPr>
            <a:r>
              <a:rPr lang="en-GB" sz="4000" dirty="0">
                <a:latin typeface="Times New Roman" panose="02020603050405020304" pitchFamily="18" charset="0"/>
                <a:ea typeface="PMingLiU" panose="02020500000000000000" pitchFamily="18" charset="-120"/>
              </a:rPr>
              <a:t>The operation is not itself morally wrong.</a:t>
            </a:r>
          </a:p>
          <a:p>
            <a:pPr marL="742950" indent="-742950">
              <a:buFont typeface="+mj-lt"/>
              <a:buAutoNum type="arabicPeriod"/>
            </a:pPr>
            <a:r>
              <a:rPr lang="en-GB" sz="4000" dirty="0">
                <a:latin typeface="Times New Roman" panose="02020603050405020304" pitchFamily="18" charset="0"/>
                <a:ea typeface="PMingLiU" panose="02020500000000000000" pitchFamily="18" charset="-120"/>
              </a:rPr>
              <a:t>The death of the unborn child not the purpose of the operation, nor an intended means for bringing about the good effect </a:t>
            </a:r>
          </a:p>
          <a:p>
            <a:pPr marL="742950" indent="-742950">
              <a:buFont typeface="+mj-lt"/>
              <a:buAutoNum type="arabicPeriod"/>
            </a:pPr>
            <a:r>
              <a:rPr lang="en-GB" sz="4000" dirty="0">
                <a:latin typeface="Times New Roman" panose="02020603050405020304" pitchFamily="18" charset="0"/>
                <a:ea typeface="PMingLiU" panose="02020500000000000000" pitchFamily="18" charset="-120"/>
              </a:rPr>
              <a:t>Proportionality satisfied</a:t>
            </a: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p:txBody>
          <a:bodyPr rtlCol="0">
            <a:normAutofit/>
          </a:bodyPr>
          <a:lstStyle/>
          <a:p>
            <a:r>
              <a:rPr lang="en-US" sz="4400" b="1" dirty="0"/>
              <a:t>Moral Absolutism</a:t>
            </a:r>
            <a:endParaRPr lang="en-GB" sz="44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15</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But moral absolutism yields a negative answer to our question. </a:t>
            </a:r>
          </a:p>
          <a:p>
            <a:pPr marL="457200" indent="-457200">
              <a:buFont typeface="Arial" panose="020B0604020202020204" pitchFamily="34" charset="0"/>
              <a:buChar char="•"/>
            </a:pPr>
            <a:r>
              <a:rPr lang="en-US" sz="3600" i="1" dirty="0">
                <a:latin typeface="Times New Roman" panose="02020603050405020304" pitchFamily="18" charset="0"/>
                <a:ea typeface="PMingLiU" panose="02020500000000000000" pitchFamily="18" charset="-120"/>
              </a:rPr>
              <a:t>MA: </a:t>
            </a:r>
            <a:r>
              <a:rPr lang="en-GB" sz="3600" i="1" dirty="0">
                <a:latin typeface="Times New Roman" panose="02020603050405020304" pitchFamily="18" charset="0"/>
                <a:ea typeface="PMingLiU" panose="02020500000000000000" pitchFamily="18" charset="-120"/>
              </a:rPr>
              <a:t>certain very general types of action are always morally wrong to perform, even when performing them would bring about good results.</a:t>
            </a:r>
          </a:p>
          <a:p>
            <a:pPr marL="914400" lvl="1"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intentional taking of human life is absolutely prohibited.</a:t>
            </a:r>
          </a:p>
        </p:txBody>
      </p:sp>
    </p:spTree>
    <p:extLst>
      <p:ext uri="{BB962C8B-B14F-4D97-AF65-F5344CB8AC3E}">
        <p14:creationId xmlns:p14="http://schemas.microsoft.com/office/powerpoint/2010/main" val="3039832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FC6C278-4035-446A-A94B-030E792FDDF5}"/>
              </a:ext>
            </a:extLst>
          </p:cNvPr>
          <p:cNvSpPr txBox="1"/>
          <p:nvPr/>
        </p:nvSpPr>
        <p:spPr>
          <a:xfrm>
            <a:off x="5181599" y="655100"/>
            <a:ext cx="6602412" cy="5575012"/>
          </a:xfrm>
          <a:prstGeom prst="rect">
            <a:avLst/>
          </a:prstGeom>
          <a:noFill/>
        </p:spPr>
        <p:txBody>
          <a:bodyPr wrap="square" rtlCol="0">
            <a:noAutofit/>
          </a:bodyPr>
          <a:lstStyle/>
          <a:p>
            <a:r>
              <a:rPr lang="en-GB" sz="3200" dirty="0">
                <a:latin typeface="Times New Roman" panose="02020603050405020304" pitchFamily="18" charset="0"/>
                <a:ea typeface="PMingLiU" panose="02020500000000000000" pitchFamily="18" charset="-120"/>
                <a:cs typeface="Times New Roman" panose="02020603050405020304" pitchFamily="18" charset="0"/>
              </a:rPr>
              <a:t>NLT distinguishes between direct and indirect violations of the basic values: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Direct violation: </a:t>
            </a:r>
          </a:p>
          <a:p>
            <a:pPr marL="971550" lvl="1"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action will seriously hinder or destroy a basic value, and </a:t>
            </a:r>
          </a:p>
          <a:p>
            <a:pPr marL="971550" lvl="1"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That action cannot be justified by PDE.</a:t>
            </a:r>
          </a:p>
          <a:p>
            <a:pPr marL="514350"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Indirect:</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Actions that satisfy the first clause but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not the second </a:t>
            </a:r>
            <a:r>
              <a:rPr lang="en-GB" sz="3200" dirty="0">
                <a:latin typeface="Times New Roman" panose="02020603050405020304" pitchFamily="18" charset="0"/>
                <a:ea typeface="PMingLiU" panose="02020500000000000000" pitchFamily="18" charset="-120"/>
                <a:cs typeface="Times New Roman" panose="02020603050405020304" pitchFamily="18" charset="0"/>
              </a:rPr>
              <a:t>(and hence can be justified by PDE)</a:t>
            </a:r>
            <a:r>
              <a:rPr lang="en-GB" sz="3200" i="1" dirty="0">
                <a:latin typeface="Times New Roman" panose="02020603050405020304" pitchFamily="18" charset="0"/>
                <a:ea typeface="PMingLiU" panose="02020500000000000000" pitchFamily="18" charset="-120"/>
                <a:cs typeface="Times New Roman" panose="02020603050405020304" pitchFamily="18" charset="0"/>
              </a:rPr>
              <a:t> </a:t>
            </a:r>
            <a:r>
              <a:rPr lang="en-GB" sz="3200" dirty="0">
                <a:latin typeface="Times New Roman" panose="02020603050405020304" pitchFamily="18" charset="0"/>
                <a:ea typeface="PMingLiU" panose="02020500000000000000" pitchFamily="18" charset="-120"/>
                <a:cs typeface="Times New Roman" panose="02020603050405020304" pitchFamily="18" charset="0"/>
              </a:rPr>
              <a:t>count as indirect violations </a:t>
            </a:r>
          </a:p>
          <a:p>
            <a:pPr marL="514350" indent="-514350">
              <a:buFont typeface="Arial" panose="020B0604020202020204" pitchFamily="34" charset="0"/>
              <a:buChar char="•"/>
            </a:pPr>
            <a:endParaRPr lang="en-GB" sz="3200" i="1"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16</a:t>
            </a:fld>
            <a:endParaRPr lang="en-GB"/>
          </a:p>
        </p:txBody>
      </p:sp>
      <p:sp>
        <p:nvSpPr>
          <p:cNvPr id="2" name="Title 1">
            <a:extLst>
              <a:ext uri="{FF2B5EF4-FFF2-40B4-BE49-F238E27FC236}">
                <a16:creationId xmlns:a16="http://schemas.microsoft.com/office/drawing/2014/main" id="{0DD71B7C-1714-5F7C-11A5-D2C788A7767C}"/>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Theory of Right Conduct</a:t>
            </a:r>
            <a:endParaRPr lang="en-GB" sz="4400" dirty="0"/>
          </a:p>
        </p:txBody>
      </p:sp>
    </p:spTree>
    <p:extLst>
      <p:ext uri="{BB962C8B-B14F-4D97-AF65-F5344CB8AC3E}">
        <p14:creationId xmlns:p14="http://schemas.microsoft.com/office/powerpoint/2010/main" val="1337185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BDBB-490C-21D7-AD60-057F169C5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23F05-3D40-CD2F-A710-126D69C68DFC}"/>
              </a:ext>
            </a:extLst>
          </p:cNvPr>
          <p:cNvSpPr>
            <a:spLocks noGrp="1"/>
          </p:cNvSpPr>
          <p:nvPr>
            <p:ph type="title"/>
          </p:nvPr>
        </p:nvSpPr>
        <p:spPr>
          <a:xfrm>
            <a:off x="614597" y="559678"/>
            <a:ext cx="3981309" cy="2221622"/>
          </a:xfrm>
        </p:spPr>
        <p:txBody>
          <a:bodyPr rtlCol="0">
            <a:normAutofit/>
          </a:bodyPr>
          <a:lstStyle/>
          <a:p>
            <a:r>
              <a:rPr lang="en-US" sz="4400" b="1" dirty="0"/>
              <a:t>Theory of Right Conduct</a:t>
            </a:r>
            <a:endParaRPr lang="en-GB" sz="4400" dirty="0"/>
          </a:p>
        </p:txBody>
      </p:sp>
      <p:sp>
        <p:nvSpPr>
          <p:cNvPr id="10" name="Slide Number Placeholder 9">
            <a:extLst>
              <a:ext uri="{FF2B5EF4-FFF2-40B4-BE49-F238E27FC236}">
                <a16:creationId xmlns:a16="http://schemas.microsoft.com/office/drawing/2014/main" id="{3B4984A1-F58D-9827-DA3E-B329B8A19908}"/>
              </a:ext>
            </a:extLst>
          </p:cNvPr>
          <p:cNvSpPr>
            <a:spLocks noGrp="1"/>
          </p:cNvSpPr>
          <p:nvPr>
            <p:ph type="sldNum" sz="quarter" idx="12"/>
          </p:nvPr>
        </p:nvSpPr>
        <p:spPr/>
        <p:txBody>
          <a:bodyPr rtlCol="0"/>
          <a:lstStyle/>
          <a:p>
            <a:pPr rtl="0"/>
            <a:fld id="{13D2E340-0663-474B-992C-9192B5C45E57}" type="slidenum">
              <a:rPr lang="en-GB" smtClean="0"/>
              <a:t>17</a:t>
            </a:fld>
            <a:endParaRPr lang="en-GB"/>
          </a:p>
        </p:txBody>
      </p:sp>
      <p:sp>
        <p:nvSpPr>
          <p:cNvPr id="41" name="TextBox 40">
            <a:extLst>
              <a:ext uri="{FF2B5EF4-FFF2-40B4-BE49-F238E27FC236}">
                <a16:creationId xmlns:a16="http://schemas.microsoft.com/office/drawing/2014/main" id="{C89A87D9-5A68-FF6A-CF23-1B35D417E51D}"/>
              </a:ext>
            </a:extLst>
          </p:cNvPr>
          <p:cNvSpPr txBox="1"/>
          <p:nvPr/>
        </p:nvSpPr>
        <p:spPr>
          <a:xfrm>
            <a:off x="5181599" y="559678"/>
            <a:ext cx="6602412" cy="5078614"/>
          </a:xfrm>
          <a:prstGeom prst="rect">
            <a:avLst/>
          </a:prstGeom>
          <a:noFill/>
        </p:spPr>
        <p:txBody>
          <a:bodyPr wrap="square" rtlCol="0">
            <a:noAutofit/>
          </a:bodyPr>
          <a:lstStyle/>
          <a:p>
            <a:pPr marL="514350" indent="-514350">
              <a:buFont typeface="+mj-lt"/>
              <a:buAutoNum type="arabicPeriod"/>
            </a:pPr>
            <a:r>
              <a:rPr lang="en-GB" sz="3200" dirty="0">
                <a:latin typeface="Times New Roman" panose="02020603050405020304" pitchFamily="18" charset="0"/>
                <a:ea typeface="PMingLiU" panose="02020500000000000000" pitchFamily="18" charset="-120"/>
              </a:rPr>
              <a:t>An action A is </a:t>
            </a:r>
            <a:r>
              <a:rPr lang="en-GB" sz="3200" i="1" dirty="0">
                <a:latin typeface="Times New Roman" panose="02020603050405020304" pitchFamily="18" charset="0"/>
                <a:ea typeface="PMingLiU" panose="02020500000000000000" pitchFamily="18" charset="-120"/>
              </a:rPr>
              <a:t>obligatory</a:t>
            </a:r>
            <a:r>
              <a:rPr lang="en-GB" sz="3200" dirty="0">
                <a:latin typeface="Times New Roman" panose="02020603050405020304" pitchFamily="18" charset="0"/>
                <a:ea typeface="PMingLiU" panose="02020500000000000000" pitchFamily="18" charset="-120"/>
              </a:rPr>
              <a:t> </a:t>
            </a:r>
            <a:r>
              <a:rPr lang="en-GB" sz="3200" dirty="0" err="1">
                <a:latin typeface="Times New Roman" panose="02020603050405020304" pitchFamily="18" charset="0"/>
                <a:ea typeface="PMingLiU" panose="02020500000000000000" pitchFamily="18" charset="-120"/>
              </a:rPr>
              <a:t>iff</a:t>
            </a:r>
            <a:r>
              <a:rPr lang="en-GB" sz="3200" dirty="0">
                <a:latin typeface="Times New Roman" panose="02020603050405020304" pitchFamily="18" charset="0"/>
                <a:ea typeface="PMingLiU" panose="02020500000000000000" pitchFamily="18" charset="-120"/>
              </a:rPr>
              <a:t> failing to perform A would result in a direct violation of one or more of the basic goods.</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An action A is </a:t>
            </a:r>
            <a:r>
              <a:rPr lang="en-GB" sz="3200" i="1" dirty="0">
                <a:latin typeface="Times New Roman" panose="02020603050405020304" pitchFamily="18" charset="0"/>
                <a:ea typeface="PMingLiU" panose="02020500000000000000" pitchFamily="18" charset="-120"/>
              </a:rPr>
              <a:t>wrong</a:t>
            </a:r>
            <a:r>
              <a:rPr lang="en-GB" sz="3200" dirty="0">
                <a:latin typeface="Times New Roman" panose="02020603050405020304" pitchFamily="18" charset="0"/>
                <a:ea typeface="PMingLiU" panose="02020500000000000000" pitchFamily="18" charset="-120"/>
              </a:rPr>
              <a:t> </a:t>
            </a:r>
            <a:r>
              <a:rPr lang="en-GB" sz="3200" dirty="0" err="1">
                <a:latin typeface="Times New Roman" panose="02020603050405020304" pitchFamily="18" charset="0"/>
                <a:ea typeface="PMingLiU" panose="02020500000000000000" pitchFamily="18" charset="-120"/>
              </a:rPr>
              <a:t>iff</a:t>
            </a:r>
            <a:r>
              <a:rPr lang="en-GB" sz="3200" dirty="0">
                <a:latin typeface="Times New Roman" panose="02020603050405020304" pitchFamily="18" charset="0"/>
                <a:ea typeface="PMingLiU" panose="02020500000000000000" pitchFamily="18" charset="-120"/>
              </a:rPr>
              <a:t> performing A would result in a direct violation of one or more of the basic goods.</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An action A is </a:t>
            </a:r>
            <a:r>
              <a:rPr lang="en-GB" sz="3200" i="1" dirty="0">
                <a:latin typeface="Times New Roman" panose="02020603050405020304" pitchFamily="18" charset="0"/>
                <a:ea typeface="PMingLiU" panose="02020500000000000000" pitchFamily="18" charset="-120"/>
              </a:rPr>
              <a:t>optional</a:t>
            </a:r>
            <a:r>
              <a:rPr lang="en-GB" sz="3200" dirty="0">
                <a:latin typeface="Times New Roman" panose="02020603050405020304" pitchFamily="18" charset="0"/>
                <a:ea typeface="PMingLiU" panose="02020500000000000000" pitchFamily="18" charset="-120"/>
              </a:rPr>
              <a:t> </a:t>
            </a:r>
            <a:r>
              <a:rPr lang="en-GB" sz="3200" dirty="0" err="1">
                <a:latin typeface="Times New Roman" panose="02020603050405020304" pitchFamily="18" charset="0"/>
                <a:ea typeface="PMingLiU" panose="02020500000000000000" pitchFamily="18" charset="-120"/>
              </a:rPr>
              <a:t>iff</a:t>
            </a:r>
            <a:r>
              <a:rPr lang="en-GB" sz="3200" dirty="0">
                <a:latin typeface="Times New Roman" panose="02020603050405020304" pitchFamily="18" charset="0"/>
                <a:ea typeface="PMingLiU" panose="02020500000000000000" pitchFamily="18" charset="-120"/>
              </a:rPr>
              <a:t> neither performing A nor failing to perform A would result in a direct violation of one or more of the basic goods.</a:t>
            </a:r>
          </a:p>
          <a:p>
            <a:pPr marL="514350" indent="-514350">
              <a:buFont typeface="+mj-lt"/>
              <a:buAutoNum type="arabicPeriod"/>
            </a:pPr>
            <a:endParaRPr lang="en-GB" sz="3200" i="1"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609285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A033-96ED-23F2-708D-64665EAA472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5BE152-C1CF-04DE-757B-653B3C215612}"/>
              </a:ext>
            </a:extLst>
          </p:cNvPr>
          <p:cNvSpPr txBox="1"/>
          <p:nvPr/>
        </p:nvSpPr>
        <p:spPr>
          <a:xfrm>
            <a:off x="5181599" y="655100"/>
            <a:ext cx="6602412" cy="5575012"/>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Craniotomy</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Suppose a pregnant woman with a heart condition will die unless her unborn child is aborted. In such cases, the method of abortion involves performing a craniotomy—crushing the skull of the child—so that it can be removed.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In this case, the death of the unborn is a means of saving her life, and so this bad effect is intended. – </a:t>
            </a:r>
            <a:r>
              <a:rPr lang="en-GB" sz="3200" i="1" dirty="0">
                <a:latin typeface="Times New Roman" panose="02020603050405020304" pitchFamily="18" charset="0"/>
                <a:ea typeface="PMingLiU" panose="02020500000000000000" pitchFamily="18" charset="-120"/>
              </a:rPr>
              <a:t>Direct violation</a:t>
            </a:r>
          </a:p>
        </p:txBody>
      </p:sp>
      <p:sp>
        <p:nvSpPr>
          <p:cNvPr id="5" name="Slide Number Placeholder 4">
            <a:extLst>
              <a:ext uri="{FF2B5EF4-FFF2-40B4-BE49-F238E27FC236}">
                <a16:creationId xmlns:a16="http://schemas.microsoft.com/office/drawing/2014/main" id="{E9B560F1-99D4-642C-F3AB-A206E299A379}"/>
              </a:ext>
            </a:extLst>
          </p:cNvPr>
          <p:cNvSpPr>
            <a:spLocks noGrp="1"/>
          </p:cNvSpPr>
          <p:nvPr>
            <p:ph type="sldNum" sz="quarter" idx="12"/>
          </p:nvPr>
        </p:nvSpPr>
        <p:spPr/>
        <p:txBody>
          <a:bodyPr rtlCol="0"/>
          <a:lstStyle/>
          <a:p>
            <a:pPr rtl="0"/>
            <a:fld id="{13D2E340-0663-474B-992C-9192B5C45E57}" type="slidenum">
              <a:rPr lang="en-GB" smtClean="0"/>
              <a:t>18</a:t>
            </a:fld>
            <a:endParaRPr lang="en-GB"/>
          </a:p>
        </p:txBody>
      </p:sp>
      <p:sp>
        <p:nvSpPr>
          <p:cNvPr id="2" name="Title 1">
            <a:extLst>
              <a:ext uri="{FF2B5EF4-FFF2-40B4-BE49-F238E27FC236}">
                <a16:creationId xmlns:a16="http://schemas.microsoft.com/office/drawing/2014/main" id="{B32F4C31-1E58-34D1-1712-8D743CC76747}"/>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Applications </a:t>
            </a:r>
            <a:endParaRPr lang="en-GB" sz="3600" dirty="0"/>
          </a:p>
        </p:txBody>
      </p:sp>
    </p:spTree>
    <p:extLst>
      <p:ext uri="{BB962C8B-B14F-4D97-AF65-F5344CB8AC3E}">
        <p14:creationId xmlns:p14="http://schemas.microsoft.com/office/powerpoint/2010/main" val="45849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0BE-ED03-A479-6E8D-A045746A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B745-99DE-21FE-CBBA-84A780E3F7E1}"/>
              </a:ext>
            </a:extLst>
          </p:cNvPr>
          <p:cNvSpPr>
            <a:spLocks noGrp="1"/>
          </p:cNvSpPr>
          <p:nvPr>
            <p:ph type="title"/>
          </p:nvPr>
        </p:nvSpPr>
        <p:spPr>
          <a:xfrm>
            <a:off x="407989" y="559678"/>
            <a:ext cx="4187917" cy="1726322"/>
          </a:xfrm>
        </p:spPr>
        <p:txBody>
          <a:bodyPr rtlCol="0">
            <a:normAutofit/>
          </a:bodyPr>
          <a:lstStyle/>
          <a:p>
            <a:r>
              <a:rPr lang="en-US" sz="4400" b="1" dirty="0"/>
              <a:t>Applications</a:t>
            </a:r>
            <a:endParaRPr lang="en-GB" sz="4400" dirty="0"/>
          </a:p>
        </p:txBody>
      </p:sp>
      <p:sp>
        <p:nvSpPr>
          <p:cNvPr id="10" name="Slide Number Placeholder 9">
            <a:extLst>
              <a:ext uri="{FF2B5EF4-FFF2-40B4-BE49-F238E27FC236}">
                <a16:creationId xmlns:a16="http://schemas.microsoft.com/office/drawing/2014/main" id="{85518A08-C94B-3764-5B99-F68013B81BA7}"/>
              </a:ext>
            </a:extLst>
          </p:cNvPr>
          <p:cNvSpPr>
            <a:spLocks noGrp="1"/>
          </p:cNvSpPr>
          <p:nvPr>
            <p:ph type="sldNum" sz="quarter" idx="12"/>
          </p:nvPr>
        </p:nvSpPr>
        <p:spPr/>
        <p:txBody>
          <a:bodyPr rtlCol="0"/>
          <a:lstStyle/>
          <a:p>
            <a:pPr rtl="0"/>
            <a:fld id="{13D2E340-0663-474B-992C-9192B5C45E57}" type="slidenum">
              <a:rPr lang="en-GB" smtClean="0"/>
              <a:t>19</a:t>
            </a:fld>
            <a:endParaRPr lang="en-GB"/>
          </a:p>
        </p:txBody>
      </p:sp>
      <p:sp>
        <p:nvSpPr>
          <p:cNvPr id="41" name="TextBox 40">
            <a:extLst>
              <a:ext uri="{FF2B5EF4-FFF2-40B4-BE49-F238E27FC236}">
                <a16:creationId xmlns:a16="http://schemas.microsoft.com/office/drawing/2014/main" id="{B88E10D4-EDDE-2CBD-7896-AA10D691CF83}"/>
              </a:ext>
            </a:extLst>
          </p:cNvPr>
          <p:cNvSpPr txBox="1"/>
          <p:nvPr/>
        </p:nvSpPr>
        <p:spPr>
          <a:xfrm>
            <a:off x="5181599" y="559678"/>
            <a:ext cx="6602412" cy="5078614"/>
          </a:xfrm>
          <a:prstGeom prst="rect">
            <a:avLst/>
          </a:prstGeom>
          <a:noFill/>
        </p:spPr>
        <p:txBody>
          <a:bodyPr wrap="square" rtlCol="0">
            <a:noAutofit/>
          </a:bodyPr>
          <a:lstStyle/>
          <a:p>
            <a:r>
              <a:rPr lang="en-GB" sz="3200" i="1" dirty="0">
                <a:effectLst/>
                <a:latin typeface="Times New Roman" panose="02020603050405020304" pitchFamily="18" charset="0"/>
                <a:ea typeface="PMingLiU" panose="02020500000000000000" pitchFamily="18" charset="-120"/>
              </a:rPr>
              <a:t>End-of-life decisions: </a:t>
            </a:r>
          </a:p>
          <a:p>
            <a:pPr marL="514350" indent="-51435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Active euthanasia is morally wrong.</a:t>
            </a:r>
          </a:p>
          <a:p>
            <a:pPr marL="514350"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But prescribing life-shortening drug that eases patient’s pain is permissible.</a:t>
            </a:r>
          </a:p>
          <a:p>
            <a:r>
              <a:rPr lang="en-US" sz="3200" i="1" dirty="0">
                <a:effectLst/>
                <a:latin typeface="Times New Roman" panose="02020603050405020304" pitchFamily="18" charset="0"/>
                <a:ea typeface="PMingLiU" panose="02020500000000000000" pitchFamily="18" charset="-120"/>
              </a:rPr>
              <a:t>Self-</a:t>
            </a:r>
            <a:r>
              <a:rPr lang="en-US" sz="3200" i="1" dirty="0" err="1">
                <a:effectLst/>
                <a:latin typeface="Times New Roman" panose="02020603050405020304" pitchFamily="18" charset="0"/>
                <a:ea typeface="PMingLiU" panose="02020500000000000000" pitchFamily="18" charset="-120"/>
              </a:rPr>
              <a:t>defence</a:t>
            </a:r>
            <a:endParaRPr lang="en-US" sz="3200" i="1" dirty="0">
              <a:effectLst/>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Using force against an aggressor is permissible (perhaps even required). </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Intending the aggre</a:t>
            </a:r>
            <a:r>
              <a:rPr lang="en-US" sz="3200" dirty="0">
                <a:latin typeface="Times New Roman" panose="02020603050405020304" pitchFamily="18" charset="0"/>
                <a:ea typeface="PMingLiU" panose="02020500000000000000" pitchFamily="18" charset="-120"/>
              </a:rPr>
              <a:t>ssor’s death is morally wrong. </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3971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6E337-08F4-028F-5374-727A6D30BE4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D40FFE4-BE89-A442-2EDF-9199664FEA0C}"/>
              </a:ext>
            </a:extLst>
          </p:cNvPr>
          <p:cNvSpPr txBox="1"/>
          <p:nvPr/>
        </p:nvSpPr>
        <p:spPr>
          <a:xfrm>
            <a:off x="5181599" y="374754"/>
            <a:ext cx="6602412" cy="5855358"/>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Initial appeal</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Fit our beliefs about morality</a:t>
            </a:r>
          </a:p>
          <a:p>
            <a:pPr marL="1028700" lvl="1"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That it be grounded in human nature</a:t>
            </a:r>
          </a:p>
          <a:p>
            <a:pPr marL="1028700" lvl="1"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That its principles be objective</a:t>
            </a:r>
          </a:p>
          <a:p>
            <a:r>
              <a:rPr lang="en-GB" sz="3600" i="1" dirty="0">
                <a:latin typeface="Times New Roman" panose="02020603050405020304" pitchFamily="18" charset="0"/>
                <a:ea typeface="PMingLiU" panose="02020500000000000000" pitchFamily="18" charset="-120"/>
              </a:rPr>
              <a:t>Consistency &amp; Determinacy</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Arguably satisfied</a:t>
            </a:r>
          </a:p>
          <a:p>
            <a:r>
              <a:rPr lang="en-GB" sz="3600" i="1" dirty="0">
                <a:latin typeface="Times New Roman" panose="02020603050405020304" pitchFamily="18" charset="0"/>
                <a:ea typeface="PMingLiU" panose="02020500000000000000" pitchFamily="18" charset="-120"/>
              </a:rPr>
              <a:t>Usability</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use of PDE requires an understanding of the elements.</a:t>
            </a:r>
          </a:p>
        </p:txBody>
      </p:sp>
      <p:sp>
        <p:nvSpPr>
          <p:cNvPr id="5" name="Slide Number Placeholder 4">
            <a:extLst>
              <a:ext uri="{FF2B5EF4-FFF2-40B4-BE49-F238E27FC236}">
                <a16:creationId xmlns:a16="http://schemas.microsoft.com/office/drawing/2014/main" id="{D0A2DF11-906F-B030-E4AA-63BFF891B66A}"/>
              </a:ext>
            </a:extLst>
          </p:cNvPr>
          <p:cNvSpPr>
            <a:spLocks noGrp="1"/>
          </p:cNvSpPr>
          <p:nvPr>
            <p:ph type="sldNum" sz="quarter" idx="12"/>
          </p:nvPr>
        </p:nvSpPr>
        <p:spPr/>
        <p:txBody>
          <a:bodyPr rtlCol="0"/>
          <a:lstStyle/>
          <a:p>
            <a:pPr rtl="0"/>
            <a:fld id="{13D2E340-0663-474B-992C-9192B5C45E57}" type="slidenum">
              <a:rPr lang="en-GB" smtClean="0"/>
              <a:t>20</a:t>
            </a:fld>
            <a:endParaRPr lang="en-GB"/>
          </a:p>
        </p:txBody>
      </p:sp>
      <p:sp>
        <p:nvSpPr>
          <p:cNvPr id="2" name="Title 1">
            <a:extLst>
              <a:ext uri="{FF2B5EF4-FFF2-40B4-BE49-F238E27FC236}">
                <a16:creationId xmlns:a16="http://schemas.microsoft.com/office/drawing/2014/main" id="{D311C9B2-534C-FADD-1460-22B7ADD7A456}"/>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Evaluation</a:t>
            </a:r>
            <a:endParaRPr lang="en-GB" sz="4400" dirty="0"/>
          </a:p>
        </p:txBody>
      </p:sp>
    </p:spTree>
    <p:extLst>
      <p:ext uri="{BB962C8B-B14F-4D97-AF65-F5344CB8AC3E}">
        <p14:creationId xmlns:p14="http://schemas.microsoft.com/office/powerpoint/2010/main" val="2690157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E0AD1-A147-4925-D1D5-4FD9841B8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59609-D210-C17F-37A5-A389EADE57AB}"/>
              </a:ext>
            </a:extLst>
          </p:cNvPr>
          <p:cNvSpPr>
            <a:spLocks noGrp="1"/>
          </p:cNvSpPr>
          <p:nvPr>
            <p:ph type="title"/>
          </p:nvPr>
        </p:nvSpPr>
        <p:spPr>
          <a:xfrm>
            <a:off x="407989" y="559678"/>
            <a:ext cx="4187917" cy="2393384"/>
          </a:xfrm>
        </p:spPr>
        <p:txBody>
          <a:bodyPr rtlCol="0">
            <a:normAutofit fontScale="90000"/>
          </a:bodyPr>
          <a:lstStyle/>
          <a:p>
            <a:r>
              <a:rPr lang="en-US" sz="4400" b="1" dirty="0"/>
              <a:t>Evaluation - Moral Absolutism</a:t>
            </a:r>
            <a:br>
              <a:rPr lang="en-US" sz="4400" b="1" dirty="0"/>
            </a:br>
            <a:endParaRPr lang="en-GB" sz="4400" dirty="0"/>
          </a:p>
        </p:txBody>
      </p:sp>
      <p:sp>
        <p:nvSpPr>
          <p:cNvPr id="10" name="Slide Number Placeholder 9">
            <a:extLst>
              <a:ext uri="{FF2B5EF4-FFF2-40B4-BE49-F238E27FC236}">
                <a16:creationId xmlns:a16="http://schemas.microsoft.com/office/drawing/2014/main" id="{52C61121-89F0-72CD-5A1E-D68211CE9D34}"/>
              </a:ext>
            </a:extLst>
          </p:cNvPr>
          <p:cNvSpPr>
            <a:spLocks noGrp="1"/>
          </p:cNvSpPr>
          <p:nvPr>
            <p:ph type="sldNum" sz="quarter" idx="12"/>
          </p:nvPr>
        </p:nvSpPr>
        <p:spPr/>
        <p:txBody>
          <a:bodyPr rtlCol="0"/>
          <a:lstStyle/>
          <a:p>
            <a:pPr rtl="0"/>
            <a:fld id="{13D2E340-0663-474B-992C-9192B5C45E57}" type="slidenum">
              <a:rPr lang="en-GB" smtClean="0"/>
              <a:t>21</a:t>
            </a:fld>
            <a:endParaRPr lang="en-GB"/>
          </a:p>
        </p:txBody>
      </p:sp>
      <p:sp>
        <p:nvSpPr>
          <p:cNvPr id="41" name="TextBox 40">
            <a:extLst>
              <a:ext uri="{FF2B5EF4-FFF2-40B4-BE49-F238E27FC236}">
                <a16:creationId xmlns:a16="http://schemas.microsoft.com/office/drawing/2014/main" id="{5183B186-1BAF-616B-623B-96C4F458D106}"/>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Is there any exceptionless moral rule?</a:t>
            </a:r>
          </a:p>
          <a:p>
            <a:pPr marL="457200" indent="-457200">
              <a:buFont typeface="Arial" panose="020B0604020202020204" pitchFamily="34" charset="0"/>
              <a:buChar char="•"/>
            </a:pPr>
            <a:r>
              <a:rPr lang="en-US" sz="3600" dirty="0">
                <a:effectLst/>
                <a:latin typeface="Times New Roman" panose="02020603050405020304" pitchFamily="18" charset="0"/>
                <a:ea typeface="PMingLiU" panose="02020500000000000000" pitchFamily="18" charset="-120"/>
              </a:rPr>
              <a:t>Any clear case </a:t>
            </a:r>
            <a:r>
              <a:rPr lang="en-GB" sz="3600" dirty="0">
                <a:effectLst/>
                <a:latin typeface="Times New Roman" panose="02020603050405020304" pitchFamily="18" charset="0"/>
                <a:ea typeface="PMingLiU" panose="02020500000000000000" pitchFamily="18" charset="-120"/>
              </a:rPr>
              <a:t>in which intentionally killing an innocent human being is morally permissible?</a:t>
            </a:r>
          </a:p>
          <a:p>
            <a:pPr marL="457200" indent="-457200">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Active voluntary euthanasia and assisted suicide strike many reflective people as morally justified. </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case of Tony Bland</a:t>
            </a:r>
            <a:endParaRPr lang="en-US" sz="36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120907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117C-D6DE-1F33-3765-C466A22A95F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AFA5068-80AC-97F0-78D1-97555F56EDA1}"/>
              </a:ext>
            </a:extLst>
          </p:cNvPr>
          <p:cNvSpPr txBox="1"/>
          <p:nvPr/>
        </p:nvSpPr>
        <p:spPr>
          <a:xfrm>
            <a:off x="5181599" y="374754"/>
            <a:ext cx="6602412" cy="5855358"/>
          </a:xfrm>
          <a:prstGeom prst="rect">
            <a:avLst/>
          </a:prstGeom>
          <a:noFill/>
        </p:spPr>
        <p:txBody>
          <a:bodyPr wrap="square" rtlCol="0">
            <a:noAutofit/>
          </a:bodyPr>
          <a:lstStyle/>
          <a:p>
            <a:r>
              <a:rPr lang="en-GB" sz="4000" i="1" dirty="0">
                <a:latin typeface="Times New Roman" panose="02020603050405020304" pitchFamily="18" charset="0"/>
                <a:ea typeface="PMingLiU" panose="02020500000000000000" pitchFamily="18" charset="-120"/>
              </a:rPr>
              <a:t>What is the argument in favour of moral nativism? </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Difference in our intuitive judgment in the “bystander case” and in the “footbridge case” may be taken to suggest that PDE is innate to us</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Two variants of the trolley problem</a:t>
            </a:r>
          </a:p>
        </p:txBody>
      </p:sp>
      <p:sp>
        <p:nvSpPr>
          <p:cNvPr id="5" name="Slide Number Placeholder 4">
            <a:extLst>
              <a:ext uri="{FF2B5EF4-FFF2-40B4-BE49-F238E27FC236}">
                <a16:creationId xmlns:a16="http://schemas.microsoft.com/office/drawing/2014/main" id="{B152B00E-003B-9479-3609-AAEBB1C4FAC5}"/>
              </a:ext>
            </a:extLst>
          </p:cNvPr>
          <p:cNvSpPr>
            <a:spLocks noGrp="1"/>
          </p:cNvSpPr>
          <p:nvPr>
            <p:ph type="sldNum" sz="quarter" idx="12"/>
          </p:nvPr>
        </p:nvSpPr>
        <p:spPr/>
        <p:txBody>
          <a:bodyPr rtlCol="0"/>
          <a:lstStyle/>
          <a:p>
            <a:pPr rtl="0"/>
            <a:fld id="{13D2E340-0663-474B-992C-9192B5C45E57}" type="slidenum">
              <a:rPr lang="en-GB" smtClean="0"/>
              <a:t>22</a:t>
            </a:fld>
            <a:endParaRPr lang="en-GB"/>
          </a:p>
        </p:txBody>
      </p:sp>
      <p:sp>
        <p:nvSpPr>
          <p:cNvPr id="2" name="Title 1">
            <a:extLst>
              <a:ext uri="{FF2B5EF4-FFF2-40B4-BE49-F238E27FC236}">
                <a16:creationId xmlns:a16="http://schemas.microsoft.com/office/drawing/2014/main" id="{99C55F0A-E4FF-03A3-D30B-97E3AC90F842}"/>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Evaluation – Is PDE innate? </a:t>
            </a:r>
            <a:endParaRPr lang="en-GB" sz="4400" dirty="0"/>
          </a:p>
        </p:txBody>
      </p:sp>
    </p:spTree>
    <p:extLst>
      <p:ext uri="{BB962C8B-B14F-4D97-AF65-F5344CB8AC3E}">
        <p14:creationId xmlns:p14="http://schemas.microsoft.com/office/powerpoint/2010/main" val="337960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740F-2428-6947-5F5C-6A23A8647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924AE-53B7-77EE-3864-AAB908A557E7}"/>
              </a:ext>
            </a:extLst>
          </p:cNvPr>
          <p:cNvSpPr>
            <a:spLocks noGrp="1"/>
          </p:cNvSpPr>
          <p:nvPr>
            <p:ph type="title"/>
          </p:nvPr>
        </p:nvSpPr>
        <p:spPr>
          <a:xfrm>
            <a:off x="407989" y="559678"/>
            <a:ext cx="4187917" cy="2393384"/>
          </a:xfrm>
        </p:spPr>
        <p:txBody>
          <a:bodyPr rtlCol="0">
            <a:normAutofit/>
          </a:bodyPr>
          <a:lstStyle/>
          <a:p>
            <a:r>
              <a:rPr lang="en-US" sz="4400" b="1" dirty="0"/>
              <a:t>Evaluation – Is PDE innate? </a:t>
            </a:r>
            <a:endParaRPr lang="en-GB" sz="4400" dirty="0"/>
          </a:p>
        </p:txBody>
      </p:sp>
      <p:sp>
        <p:nvSpPr>
          <p:cNvPr id="10" name="Slide Number Placeholder 9">
            <a:extLst>
              <a:ext uri="{FF2B5EF4-FFF2-40B4-BE49-F238E27FC236}">
                <a16:creationId xmlns:a16="http://schemas.microsoft.com/office/drawing/2014/main" id="{1DC28E60-08BC-842A-5253-BFB28FBDA3C2}"/>
              </a:ext>
            </a:extLst>
          </p:cNvPr>
          <p:cNvSpPr>
            <a:spLocks noGrp="1"/>
          </p:cNvSpPr>
          <p:nvPr>
            <p:ph type="sldNum" sz="quarter" idx="12"/>
          </p:nvPr>
        </p:nvSpPr>
        <p:spPr/>
        <p:txBody>
          <a:bodyPr rtlCol="0"/>
          <a:lstStyle/>
          <a:p>
            <a:pPr rtl="0"/>
            <a:fld id="{13D2E340-0663-474B-992C-9192B5C45E57}" type="slidenum">
              <a:rPr lang="en-GB" smtClean="0"/>
              <a:t>23</a:t>
            </a:fld>
            <a:endParaRPr lang="en-GB"/>
          </a:p>
        </p:txBody>
      </p:sp>
      <p:sp>
        <p:nvSpPr>
          <p:cNvPr id="41" name="TextBox 40">
            <a:extLst>
              <a:ext uri="{FF2B5EF4-FFF2-40B4-BE49-F238E27FC236}">
                <a16:creationId xmlns:a16="http://schemas.microsoft.com/office/drawing/2014/main" id="{1A328F29-49A0-26FE-1747-B6770EEE9ED3}"/>
              </a:ext>
            </a:extLst>
          </p:cNvPr>
          <p:cNvSpPr txBox="1"/>
          <p:nvPr/>
        </p:nvSpPr>
        <p:spPr>
          <a:xfrm>
            <a:off x="5181599" y="559678"/>
            <a:ext cx="6602412" cy="5078614"/>
          </a:xfrm>
          <a:prstGeom prst="rect">
            <a:avLst/>
          </a:prstGeom>
          <a:noFill/>
        </p:spPr>
        <p:txBody>
          <a:bodyPr wrap="square" rtlCol="0">
            <a:noAutofit/>
          </a:bodyPr>
          <a:lstStyle/>
          <a:p>
            <a:r>
              <a:rPr lang="en-US" sz="3600" dirty="0">
                <a:effectLst/>
                <a:latin typeface="Times New Roman" panose="02020603050405020304" pitchFamily="18" charset="0"/>
                <a:ea typeface="PMingLiU" panose="02020500000000000000" pitchFamily="18" charset="-120"/>
              </a:rPr>
              <a:t>Bystander case: </a:t>
            </a:r>
          </a:p>
          <a:p>
            <a:pPr marL="457200" indent="-4572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A trolley is out of control and heading down a track towards five workers. A bystander sees what happens and can pull a lever that will send the trolley onto a sidetrack, saving the lives of the five workers. But there is a lone worker on the sidetrack. Should the bystander pull the lever? </a:t>
            </a:r>
            <a:endParaRPr lang="en-US" sz="36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530800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1D8A-0BDA-9A5D-6E11-7006A0136CD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975D00-4AB3-ACC0-03B6-C737FD63AA1B}"/>
              </a:ext>
            </a:extLst>
          </p:cNvPr>
          <p:cNvSpPr txBox="1"/>
          <p:nvPr/>
        </p:nvSpPr>
        <p:spPr>
          <a:xfrm>
            <a:off x="5181599" y="374754"/>
            <a:ext cx="6602412" cy="5855358"/>
          </a:xfrm>
          <a:prstGeom prst="rect">
            <a:avLst/>
          </a:prstGeom>
          <a:noFill/>
        </p:spPr>
        <p:txBody>
          <a:bodyPr wrap="square" rtlCol="0">
            <a:noAutofit/>
          </a:bodyPr>
          <a:lstStyle/>
          <a:p>
            <a:r>
              <a:rPr lang="en-US" sz="3600" dirty="0">
                <a:latin typeface="Times New Roman" panose="02020603050405020304" pitchFamily="18" charset="0"/>
                <a:ea typeface="PMingLiU" panose="02020500000000000000" pitchFamily="18" charset="-120"/>
              </a:rPr>
              <a:t>Footbridge case: </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There is a footbridge over the track located between the incoming trolley and the five workers. Two men are standing on the bridge, one very large and the other fairly slight. The large man is large enough to stop the trolley. Should the other man push the large man onto the track? </a:t>
            </a:r>
            <a:endParaRPr lang="en-GB" sz="36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97E241FA-F909-6E21-DAED-4AC110A75ED8}"/>
              </a:ext>
            </a:extLst>
          </p:cNvPr>
          <p:cNvSpPr>
            <a:spLocks noGrp="1"/>
          </p:cNvSpPr>
          <p:nvPr>
            <p:ph type="sldNum" sz="quarter" idx="12"/>
          </p:nvPr>
        </p:nvSpPr>
        <p:spPr/>
        <p:txBody>
          <a:bodyPr rtlCol="0"/>
          <a:lstStyle/>
          <a:p>
            <a:pPr rtl="0"/>
            <a:fld id="{13D2E340-0663-474B-992C-9192B5C45E57}" type="slidenum">
              <a:rPr lang="en-GB" smtClean="0"/>
              <a:t>24</a:t>
            </a:fld>
            <a:endParaRPr lang="en-GB"/>
          </a:p>
        </p:txBody>
      </p:sp>
      <p:sp>
        <p:nvSpPr>
          <p:cNvPr id="2" name="Title 1">
            <a:extLst>
              <a:ext uri="{FF2B5EF4-FFF2-40B4-BE49-F238E27FC236}">
                <a16:creationId xmlns:a16="http://schemas.microsoft.com/office/drawing/2014/main" id="{8549661D-B579-4E38-173B-B5AD0551A6AD}"/>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Evaluation – Is PDE innate? </a:t>
            </a:r>
            <a:endParaRPr lang="en-GB" sz="4400" dirty="0"/>
          </a:p>
        </p:txBody>
      </p:sp>
    </p:spTree>
    <p:extLst>
      <p:ext uri="{BB962C8B-B14F-4D97-AF65-F5344CB8AC3E}">
        <p14:creationId xmlns:p14="http://schemas.microsoft.com/office/powerpoint/2010/main" val="2081716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D2739-FFE0-56D6-B484-3CC6B8E97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C4F60-531A-7ED9-9B51-EBBF40B509A9}"/>
              </a:ext>
            </a:extLst>
          </p:cNvPr>
          <p:cNvSpPr>
            <a:spLocks noGrp="1"/>
          </p:cNvSpPr>
          <p:nvPr>
            <p:ph type="title"/>
          </p:nvPr>
        </p:nvSpPr>
        <p:spPr>
          <a:xfrm>
            <a:off x="407989" y="559678"/>
            <a:ext cx="4187917" cy="2393384"/>
          </a:xfrm>
        </p:spPr>
        <p:txBody>
          <a:bodyPr rtlCol="0">
            <a:normAutofit/>
          </a:bodyPr>
          <a:lstStyle/>
          <a:p>
            <a:r>
              <a:rPr lang="en-US" sz="4400" b="1" dirty="0"/>
              <a:t>Evaluation – Is PDE innate? </a:t>
            </a:r>
            <a:endParaRPr lang="en-GB" sz="4400" dirty="0"/>
          </a:p>
        </p:txBody>
      </p:sp>
      <p:sp>
        <p:nvSpPr>
          <p:cNvPr id="10" name="Slide Number Placeholder 9">
            <a:extLst>
              <a:ext uri="{FF2B5EF4-FFF2-40B4-BE49-F238E27FC236}">
                <a16:creationId xmlns:a16="http://schemas.microsoft.com/office/drawing/2014/main" id="{02C72EA3-394F-2B6C-5622-265AA795AA35}"/>
              </a:ext>
            </a:extLst>
          </p:cNvPr>
          <p:cNvSpPr>
            <a:spLocks noGrp="1"/>
          </p:cNvSpPr>
          <p:nvPr>
            <p:ph type="sldNum" sz="quarter" idx="12"/>
          </p:nvPr>
        </p:nvSpPr>
        <p:spPr/>
        <p:txBody>
          <a:bodyPr rtlCol="0"/>
          <a:lstStyle/>
          <a:p>
            <a:pPr rtl="0"/>
            <a:fld id="{13D2E340-0663-474B-992C-9192B5C45E57}" type="slidenum">
              <a:rPr lang="en-GB" smtClean="0"/>
              <a:t>25</a:t>
            </a:fld>
            <a:endParaRPr lang="en-GB"/>
          </a:p>
        </p:txBody>
      </p:sp>
      <p:sp>
        <p:nvSpPr>
          <p:cNvPr id="41" name="TextBox 40">
            <a:extLst>
              <a:ext uri="{FF2B5EF4-FFF2-40B4-BE49-F238E27FC236}">
                <a16:creationId xmlns:a16="http://schemas.microsoft.com/office/drawing/2014/main" id="{AE988E09-D5B6-9B87-561C-FC2E9E8AD653}"/>
              </a:ext>
            </a:extLst>
          </p:cNvPr>
          <p:cNvSpPr txBox="1"/>
          <p:nvPr/>
        </p:nvSpPr>
        <p:spPr>
          <a:xfrm>
            <a:off x="5181599" y="559678"/>
            <a:ext cx="6602412" cy="5078614"/>
          </a:xfrm>
          <a:prstGeom prst="rect">
            <a:avLst/>
          </a:prstGeom>
          <a:noFill/>
        </p:spPr>
        <p:txBody>
          <a:bodyPr wrap="square" rtlCol="0">
            <a:noAutofit/>
          </a:bodyPr>
          <a:lstStyle/>
          <a:p>
            <a:r>
              <a:rPr lang="en-US" sz="3600" dirty="0">
                <a:latin typeface="Times New Roman" panose="02020603050405020304" pitchFamily="18" charset="0"/>
                <a:ea typeface="PMingLiU" panose="02020500000000000000" pitchFamily="18" charset="-120"/>
              </a:rPr>
              <a:t>Empirical results: </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Bystander case – morally permissible</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Footbridge case – morally wrong </a:t>
            </a:r>
          </a:p>
          <a:p>
            <a:r>
              <a:rPr lang="en-GB" sz="3200" i="1" dirty="0">
                <a:latin typeface="Times New Roman" panose="02020603050405020304" pitchFamily="18" charset="0"/>
                <a:ea typeface="PMingLiU" panose="02020500000000000000" pitchFamily="18" charset="-120"/>
              </a:rPr>
              <a:t>Harman 1999, 225: “It is unclear how such a principle might have been acquired from the examples available to the ordinary person. This suggests that the relevant principle is built into [a person’s] morality ahead of time.”</a:t>
            </a:r>
            <a:endParaRPr lang="en-US" sz="3200" i="1"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521151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75613-9124-7C73-7C8B-C183D05CDEB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C9EC365-CF1B-175B-98C2-5D0839732AD8}"/>
              </a:ext>
            </a:extLst>
          </p:cNvPr>
          <p:cNvSpPr txBox="1"/>
          <p:nvPr/>
        </p:nvSpPr>
        <p:spPr>
          <a:xfrm>
            <a:off x="5181599" y="374754"/>
            <a:ext cx="6602412" cy="5855358"/>
          </a:xfrm>
          <a:prstGeom prst="rect">
            <a:avLst/>
          </a:prstGeom>
          <a:noFill/>
        </p:spPr>
        <p:txBody>
          <a:bodyPr wrap="square" rtlCol="0">
            <a:noAutofit/>
          </a:bodyPr>
          <a:lstStyle/>
          <a:p>
            <a:r>
              <a:rPr lang="en-GB" sz="3600" dirty="0">
                <a:latin typeface="Times New Roman" panose="02020603050405020304" pitchFamily="18" charset="0"/>
                <a:ea typeface="PMingLiU" panose="02020500000000000000" pitchFamily="18" charset="-120"/>
              </a:rPr>
              <a:t>Prospect of NLT without MA and PDE? </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How does one justify value perfectionism?</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How does one deal with cases of moral conflict without moral absolutism and the PDE?</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Can a plausible moral theory be based on considerations of human perfection? </a:t>
            </a:r>
          </a:p>
          <a:p>
            <a:endParaRPr lang="en-GB" sz="36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0191290E-F314-ADF0-93EE-3E715666E3CE}"/>
              </a:ext>
            </a:extLst>
          </p:cNvPr>
          <p:cNvSpPr>
            <a:spLocks noGrp="1"/>
          </p:cNvSpPr>
          <p:nvPr>
            <p:ph type="sldNum" sz="quarter" idx="12"/>
          </p:nvPr>
        </p:nvSpPr>
        <p:spPr/>
        <p:txBody>
          <a:bodyPr rtlCol="0"/>
          <a:lstStyle/>
          <a:p>
            <a:pPr rtl="0"/>
            <a:fld id="{13D2E340-0663-474B-992C-9192B5C45E57}" type="slidenum">
              <a:rPr lang="en-GB" smtClean="0"/>
              <a:t>26</a:t>
            </a:fld>
            <a:endParaRPr lang="en-GB"/>
          </a:p>
        </p:txBody>
      </p:sp>
      <p:sp>
        <p:nvSpPr>
          <p:cNvPr id="2" name="Title 1">
            <a:extLst>
              <a:ext uri="{FF2B5EF4-FFF2-40B4-BE49-F238E27FC236}">
                <a16:creationId xmlns:a16="http://schemas.microsoft.com/office/drawing/2014/main" id="{AF77AAE9-88B4-4CE2-7317-F004C14A9F52}"/>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Evaluation – The Core</a:t>
            </a:r>
            <a:endParaRPr lang="en-GB" sz="4400" dirty="0"/>
          </a:p>
        </p:txBody>
      </p:sp>
    </p:spTree>
    <p:extLst>
      <p:ext uri="{BB962C8B-B14F-4D97-AF65-F5344CB8AC3E}">
        <p14:creationId xmlns:p14="http://schemas.microsoft.com/office/powerpoint/2010/main" val="847042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684E-2C7F-8FF7-5BF8-3D0043142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CC85B-6411-807C-27BC-194710C5F2F1}"/>
              </a:ext>
            </a:extLst>
          </p:cNvPr>
          <p:cNvSpPr>
            <a:spLocks noGrp="1"/>
          </p:cNvSpPr>
          <p:nvPr>
            <p:ph type="title"/>
          </p:nvPr>
        </p:nvSpPr>
        <p:spPr>
          <a:xfrm>
            <a:off x="407989" y="559678"/>
            <a:ext cx="4187917" cy="2393384"/>
          </a:xfrm>
        </p:spPr>
        <p:txBody>
          <a:bodyPr rtlCol="0">
            <a:normAutofit/>
          </a:bodyPr>
          <a:lstStyle/>
          <a:p>
            <a:r>
              <a:rPr lang="en-US" sz="4400" b="1" dirty="0"/>
              <a:t>Evaluation – The Core</a:t>
            </a:r>
            <a:endParaRPr lang="en-GB" sz="4400" dirty="0"/>
          </a:p>
        </p:txBody>
      </p:sp>
      <p:sp>
        <p:nvSpPr>
          <p:cNvPr id="10" name="Slide Number Placeholder 9">
            <a:extLst>
              <a:ext uri="{FF2B5EF4-FFF2-40B4-BE49-F238E27FC236}">
                <a16:creationId xmlns:a16="http://schemas.microsoft.com/office/drawing/2014/main" id="{ABEF90FE-7AEA-A882-3F9E-FFC94A7DC930}"/>
              </a:ext>
            </a:extLst>
          </p:cNvPr>
          <p:cNvSpPr>
            <a:spLocks noGrp="1"/>
          </p:cNvSpPr>
          <p:nvPr>
            <p:ph type="sldNum" sz="quarter" idx="12"/>
          </p:nvPr>
        </p:nvSpPr>
        <p:spPr/>
        <p:txBody>
          <a:bodyPr rtlCol="0"/>
          <a:lstStyle/>
          <a:p>
            <a:pPr rtl="0"/>
            <a:fld id="{13D2E340-0663-474B-992C-9192B5C45E57}" type="slidenum">
              <a:rPr lang="en-GB" smtClean="0"/>
              <a:t>27</a:t>
            </a:fld>
            <a:endParaRPr lang="en-GB"/>
          </a:p>
        </p:txBody>
      </p:sp>
      <p:sp>
        <p:nvSpPr>
          <p:cNvPr id="41" name="TextBox 40">
            <a:extLst>
              <a:ext uri="{FF2B5EF4-FFF2-40B4-BE49-F238E27FC236}">
                <a16:creationId xmlns:a16="http://schemas.microsoft.com/office/drawing/2014/main" id="{8354B414-D0F3-D4E3-6404-419F3A64986E}"/>
              </a:ext>
            </a:extLst>
          </p:cNvPr>
          <p:cNvSpPr txBox="1"/>
          <p:nvPr/>
        </p:nvSpPr>
        <p:spPr>
          <a:xfrm>
            <a:off x="5181599" y="559678"/>
            <a:ext cx="6602412" cy="5078614"/>
          </a:xfrm>
          <a:prstGeom prst="rect">
            <a:avLst/>
          </a:prstGeom>
          <a:noFill/>
        </p:spPr>
        <p:txBody>
          <a:bodyPr wrap="square" rtlCol="0">
            <a:noAutofit/>
          </a:bodyPr>
          <a:lstStyle/>
          <a:p>
            <a:r>
              <a:rPr lang="en-US" sz="3600" i="1" dirty="0">
                <a:effectLst/>
                <a:latin typeface="Times New Roman" panose="02020603050405020304" pitchFamily="18" charset="0"/>
                <a:ea typeface="PMingLiU" panose="02020500000000000000" pitchFamily="18" charset="-120"/>
              </a:rPr>
              <a:t>The Grounding Project</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Aquinas as an example:</a:t>
            </a:r>
            <a:endParaRPr lang="en-GB" sz="3200" dirty="0">
              <a:effectLst/>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“[A]</a:t>
            </a:r>
            <a:r>
              <a:rPr lang="en-GB" sz="3200" dirty="0" err="1">
                <a:effectLst/>
                <a:latin typeface="Times New Roman" panose="02020603050405020304" pitchFamily="18" charset="0"/>
                <a:ea typeface="PMingLiU" panose="02020500000000000000" pitchFamily="18" charset="-120"/>
              </a:rPr>
              <a:t>ll</a:t>
            </a:r>
            <a:r>
              <a:rPr lang="en-GB" sz="3200" dirty="0">
                <a:effectLst/>
                <a:latin typeface="Times New Roman" panose="02020603050405020304" pitchFamily="18" charset="0"/>
                <a:ea typeface="PMingLiU" panose="02020500000000000000" pitchFamily="18" charset="-120"/>
              </a:rPr>
              <a:t> the things to which man has a natural inclination are naturally apprehended as good and therefore objects to be pursued, and their opposites to be avoided. Therefore the order of the precepts of the natural law follows the order of our natural inclinations” (ST, 49).</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What are we to make of such attempted inferences? </a:t>
            </a:r>
          </a:p>
          <a:p>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054572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5371F-713A-13DF-3A48-225E4921CE7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B53DB6F-23E7-7A32-5077-EDDC495B31C6}"/>
              </a:ext>
            </a:extLst>
          </p:cNvPr>
          <p:cNvSpPr txBox="1"/>
          <p:nvPr/>
        </p:nvSpPr>
        <p:spPr>
          <a:xfrm>
            <a:off x="5181599" y="374754"/>
            <a:ext cx="6602412" cy="5855358"/>
          </a:xfrm>
          <a:prstGeom prst="rect">
            <a:avLst/>
          </a:prstGeom>
          <a:noFill/>
        </p:spPr>
        <p:txBody>
          <a:bodyPr wrap="square" rtlCol="0">
            <a:noAutofit/>
          </a:bodyPr>
          <a:lstStyle/>
          <a:p>
            <a:pPr marL="742950" indent="-742950">
              <a:buFont typeface="+mj-lt"/>
              <a:buAutoNum type="arabicPeriod"/>
            </a:pPr>
            <a:r>
              <a:rPr lang="en-GB" sz="3600" dirty="0">
                <a:latin typeface="Times New Roman" panose="02020603050405020304" pitchFamily="18" charset="0"/>
                <a:ea typeface="PMingLiU" panose="02020500000000000000" pitchFamily="18" charset="-120"/>
              </a:rPr>
              <a:t>Logical gap between statements of non-moral facts and statements of value</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Circularity </a:t>
            </a:r>
          </a:p>
          <a:p>
            <a:pPr marL="1200150" lvl="1"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Not all inclinations are deemed as good</a:t>
            </a:r>
          </a:p>
          <a:p>
            <a:pPr marL="1200150" lvl="1"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Identification of good inclinations presupposes that one has first made assumptions about the human good</a:t>
            </a:r>
          </a:p>
        </p:txBody>
      </p:sp>
      <p:sp>
        <p:nvSpPr>
          <p:cNvPr id="5" name="Slide Number Placeholder 4">
            <a:extLst>
              <a:ext uri="{FF2B5EF4-FFF2-40B4-BE49-F238E27FC236}">
                <a16:creationId xmlns:a16="http://schemas.microsoft.com/office/drawing/2014/main" id="{BAC974C6-7C22-6D11-1294-F7BBBDCC4531}"/>
              </a:ext>
            </a:extLst>
          </p:cNvPr>
          <p:cNvSpPr>
            <a:spLocks noGrp="1"/>
          </p:cNvSpPr>
          <p:nvPr>
            <p:ph type="sldNum" sz="quarter" idx="12"/>
          </p:nvPr>
        </p:nvSpPr>
        <p:spPr/>
        <p:txBody>
          <a:bodyPr rtlCol="0"/>
          <a:lstStyle/>
          <a:p>
            <a:pPr rtl="0"/>
            <a:fld id="{13D2E340-0663-474B-992C-9192B5C45E57}" type="slidenum">
              <a:rPr lang="en-GB" smtClean="0"/>
              <a:t>28</a:t>
            </a:fld>
            <a:endParaRPr lang="en-GB"/>
          </a:p>
        </p:txBody>
      </p:sp>
      <p:sp>
        <p:nvSpPr>
          <p:cNvPr id="2" name="Title 1">
            <a:extLst>
              <a:ext uri="{FF2B5EF4-FFF2-40B4-BE49-F238E27FC236}">
                <a16:creationId xmlns:a16="http://schemas.microsoft.com/office/drawing/2014/main" id="{4F4FDA86-CB23-3A89-A611-ED1214A7DB10}"/>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Evaluation – The Core</a:t>
            </a:r>
            <a:endParaRPr lang="en-GB" sz="4400" dirty="0"/>
          </a:p>
        </p:txBody>
      </p:sp>
    </p:spTree>
    <p:extLst>
      <p:ext uri="{BB962C8B-B14F-4D97-AF65-F5344CB8AC3E}">
        <p14:creationId xmlns:p14="http://schemas.microsoft.com/office/powerpoint/2010/main" val="1008507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926C-C733-374A-56D6-665711C1F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505B1-0DD3-6934-D80B-8C50F25361DF}"/>
              </a:ext>
            </a:extLst>
          </p:cNvPr>
          <p:cNvSpPr>
            <a:spLocks noGrp="1"/>
          </p:cNvSpPr>
          <p:nvPr>
            <p:ph type="title"/>
          </p:nvPr>
        </p:nvSpPr>
        <p:spPr>
          <a:xfrm>
            <a:off x="407989" y="559678"/>
            <a:ext cx="4187917" cy="2393384"/>
          </a:xfrm>
        </p:spPr>
        <p:txBody>
          <a:bodyPr rtlCol="0">
            <a:normAutofit/>
          </a:bodyPr>
          <a:lstStyle/>
          <a:p>
            <a:r>
              <a:rPr lang="en-US" sz="4400" b="1" dirty="0"/>
              <a:t>Evaluation – The Core</a:t>
            </a:r>
            <a:endParaRPr lang="en-GB" sz="4400" dirty="0"/>
          </a:p>
        </p:txBody>
      </p:sp>
      <p:sp>
        <p:nvSpPr>
          <p:cNvPr id="10" name="Slide Number Placeholder 9">
            <a:extLst>
              <a:ext uri="{FF2B5EF4-FFF2-40B4-BE49-F238E27FC236}">
                <a16:creationId xmlns:a16="http://schemas.microsoft.com/office/drawing/2014/main" id="{0D80A422-9F26-8392-E401-BA0791006B56}"/>
              </a:ext>
            </a:extLst>
          </p:cNvPr>
          <p:cNvSpPr>
            <a:spLocks noGrp="1"/>
          </p:cNvSpPr>
          <p:nvPr>
            <p:ph type="sldNum" sz="quarter" idx="12"/>
          </p:nvPr>
        </p:nvSpPr>
        <p:spPr/>
        <p:txBody>
          <a:bodyPr rtlCol="0"/>
          <a:lstStyle/>
          <a:p>
            <a:pPr rtl="0"/>
            <a:fld id="{13D2E340-0663-474B-992C-9192B5C45E57}" type="slidenum">
              <a:rPr lang="en-GB" smtClean="0"/>
              <a:t>29</a:t>
            </a:fld>
            <a:endParaRPr lang="en-GB"/>
          </a:p>
        </p:txBody>
      </p:sp>
      <p:sp>
        <p:nvSpPr>
          <p:cNvPr id="41" name="TextBox 40">
            <a:extLst>
              <a:ext uri="{FF2B5EF4-FFF2-40B4-BE49-F238E27FC236}">
                <a16:creationId xmlns:a16="http://schemas.microsoft.com/office/drawing/2014/main" id="{B61A1385-E203-A784-F0F3-50341A7FEDC9}"/>
              </a:ext>
            </a:extLst>
          </p:cNvPr>
          <p:cNvSpPr txBox="1"/>
          <p:nvPr/>
        </p:nvSpPr>
        <p:spPr>
          <a:xfrm>
            <a:off x="5181599" y="559678"/>
            <a:ext cx="6602412" cy="5078614"/>
          </a:xfrm>
          <a:prstGeom prst="rect">
            <a:avLst/>
          </a:prstGeom>
          <a:noFill/>
        </p:spPr>
        <p:txBody>
          <a:bodyPr wrap="square" rtlCol="0">
            <a:noAutofit/>
          </a:bodyPr>
          <a:lstStyle/>
          <a:p>
            <a:r>
              <a:rPr lang="en-US" sz="3600" i="1" dirty="0">
                <a:effectLst/>
                <a:latin typeface="Times New Roman" panose="02020603050405020304" pitchFamily="18" charset="0"/>
                <a:ea typeface="PMingLiU" panose="02020500000000000000" pitchFamily="18" charset="-120"/>
              </a:rPr>
              <a:t>Moral Conflict</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One way of resolving conflicts would be to find some sort of non-arbitrary rank ordering of the rules.</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Another way is to claim that we simply must appeal to the details of the case at hand and use good moral judgment to decide which rule should be followed.</a:t>
            </a:r>
          </a:p>
          <a:p>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275366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E9771-E7AE-86F1-E3A2-A77EDD00CFF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D2E89C0-D9A2-3F50-54BE-C97A583EBB3C}"/>
              </a:ext>
            </a:extLst>
          </p:cNvPr>
          <p:cNvSpPr txBox="1"/>
          <p:nvPr/>
        </p:nvSpPr>
        <p:spPr>
          <a:xfrm>
            <a:off x="5181599" y="374754"/>
            <a:ext cx="6602412" cy="5855358"/>
          </a:xfrm>
          <a:prstGeom prst="rect">
            <a:avLst/>
          </a:prstGeom>
          <a:noFill/>
        </p:spPr>
        <p:txBody>
          <a:bodyPr wrap="square" rtlCol="0">
            <a:noAutofit/>
          </a:bodyPr>
          <a:lstStyle/>
          <a:p>
            <a:r>
              <a:rPr lang="en-US" sz="3600" i="1" dirty="0">
                <a:latin typeface="Times New Roman" panose="02020603050405020304" pitchFamily="18" charset="0"/>
                <a:ea typeface="PMingLiU" panose="02020500000000000000" pitchFamily="18" charset="-120"/>
              </a:rPr>
              <a:t>Moral Perfectionism</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It is possible to agree that considerations of value come before considerations of rightness without holding at the same time that the value central to morality is perfectionistic.</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For example: welfare/well-being. </a:t>
            </a:r>
          </a:p>
        </p:txBody>
      </p:sp>
      <p:sp>
        <p:nvSpPr>
          <p:cNvPr id="5" name="Slide Number Placeholder 4">
            <a:extLst>
              <a:ext uri="{FF2B5EF4-FFF2-40B4-BE49-F238E27FC236}">
                <a16:creationId xmlns:a16="http://schemas.microsoft.com/office/drawing/2014/main" id="{56803DB4-2617-CAFF-3616-4CC5ABD72EAF}"/>
              </a:ext>
            </a:extLst>
          </p:cNvPr>
          <p:cNvSpPr>
            <a:spLocks noGrp="1"/>
          </p:cNvSpPr>
          <p:nvPr>
            <p:ph type="sldNum" sz="quarter" idx="12"/>
          </p:nvPr>
        </p:nvSpPr>
        <p:spPr/>
        <p:txBody>
          <a:bodyPr rtlCol="0"/>
          <a:lstStyle/>
          <a:p>
            <a:pPr rtl="0"/>
            <a:fld id="{13D2E340-0663-474B-992C-9192B5C45E57}" type="slidenum">
              <a:rPr lang="en-GB" smtClean="0"/>
              <a:t>30</a:t>
            </a:fld>
            <a:endParaRPr lang="en-GB"/>
          </a:p>
        </p:txBody>
      </p:sp>
      <p:sp>
        <p:nvSpPr>
          <p:cNvPr id="2" name="Title 1">
            <a:extLst>
              <a:ext uri="{FF2B5EF4-FFF2-40B4-BE49-F238E27FC236}">
                <a16:creationId xmlns:a16="http://schemas.microsoft.com/office/drawing/2014/main" id="{F15B68A6-1E71-2D18-F293-AB4AC5409E6A}"/>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Evaluation – The Core</a:t>
            </a:r>
            <a:endParaRPr lang="en-GB" sz="4400" dirty="0"/>
          </a:p>
        </p:txBody>
      </p:sp>
    </p:spTree>
    <p:extLst>
      <p:ext uri="{BB962C8B-B14F-4D97-AF65-F5344CB8AC3E}">
        <p14:creationId xmlns:p14="http://schemas.microsoft.com/office/powerpoint/2010/main" val="1013105254"/>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5138</TotalTime>
  <Words>1622</Words>
  <Application>Microsoft Office PowerPoint</Application>
  <PresentationFormat>Widescreen</PresentationFormat>
  <Paragraphs>204</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Century Schoolbook</vt:lpstr>
      <vt:lpstr>Corbel</vt:lpstr>
      <vt:lpstr>Times New Roman</vt:lpstr>
      <vt:lpstr>Headlines</vt:lpstr>
      <vt:lpstr>HUMA2921 Ethical Theories and Contemporary Issues</vt:lpstr>
      <vt:lpstr>Natural Law Theory</vt:lpstr>
      <vt:lpstr>Three Components</vt:lpstr>
      <vt:lpstr>Aquinas’s Perfectionism</vt:lpstr>
      <vt:lpstr>Aquinas’s Perfectionism</vt:lpstr>
      <vt:lpstr>Value Perfectionism</vt:lpstr>
      <vt:lpstr>Perfectionist Theory of Intrinsic alue</vt:lpstr>
      <vt:lpstr>Four Basic Human Goods </vt:lpstr>
      <vt:lpstr>Implications</vt:lpstr>
      <vt:lpstr>Problem of Moral Conflict</vt:lpstr>
      <vt:lpstr>What NLT Rejects </vt:lpstr>
      <vt:lpstr>Principle of Double Effect </vt:lpstr>
      <vt:lpstr>Principle of Double Effect </vt:lpstr>
      <vt:lpstr>Applying PDE</vt:lpstr>
      <vt:lpstr>Moral Absolutism</vt:lpstr>
      <vt:lpstr>PowerPoint Presentation</vt:lpstr>
      <vt:lpstr>Theory of Right Conduct</vt:lpstr>
      <vt:lpstr>PowerPoint Presentation</vt:lpstr>
      <vt:lpstr>Applications</vt:lpstr>
      <vt:lpstr>PowerPoint Presentation</vt:lpstr>
      <vt:lpstr>Evaluation - Moral Absolutism </vt:lpstr>
      <vt:lpstr>PowerPoint Presentation</vt:lpstr>
      <vt:lpstr>Evaluation – Is PDE innate? </vt:lpstr>
      <vt:lpstr>PowerPoint Presentation</vt:lpstr>
      <vt:lpstr>Evaluation – Is PDE innate? </vt:lpstr>
      <vt:lpstr>PowerPoint Presentation</vt:lpstr>
      <vt:lpstr>Evaluation – The Core</vt:lpstr>
      <vt:lpstr>PowerPoint Presentation</vt:lpstr>
      <vt:lpstr>Evaluation – The Core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85</cp:revision>
  <dcterms:created xsi:type="dcterms:W3CDTF">2024-11-29T15:39:14Z</dcterms:created>
  <dcterms:modified xsi:type="dcterms:W3CDTF">2026-03-03T03:30:32Z</dcterms:modified>
</cp:coreProperties>
</file>